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033A6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08345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033A6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08345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033A6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56636" y="2289175"/>
            <a:ext cx="7220584" cy="6374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082F4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133846" y="2297994"/>
            <a:ext cx="7189469" cy="564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072D4D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800" y="2971800"/>
            <a:ext cx="11811000" cy="5080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65200" y="4140200"/>
            <a:ext cx="3340100" cy="4457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033A6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2122" y="372599"/>
            <a:ext cx="16130955" cy="1433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033A6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1309" y="3142191"/>
            <a:ext cx="8377555" cy="5584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08345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07677" y="9462029"/>
            <a:ext cx="1237615" cy="2197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png"/><Relationship Id="rId9" Type="http://schemas.openxmlformats.org/officeDocument/2006/relationships/image" Target="../media/image10.jpg"/><Relationship Id="rId10" Type="http://schemas.openxmlformats.org/officeDocument/2006/relationships/image" Target="../media/image11.jpg"/><Relationship Id="rId11" Type="http://schemas.openxmlformats.org/officeDocument/2006/relationships/image" Target="../media/image12.jpg"/><Relationship Id="rId12" Type="http://schemas.openxmlformats.org/officeDocument/2006/relationships/image" Target="../media/image13.jpg"/><Relationship Id="rId13" Type="http://schemas.openxmlformats.org/officeDocument/2006/relationships/image" Target="../media/image14.jp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jpg"/><Relationship Id="rId17" Type="http://schemas.openxmlformats.org/officeDocument/2006/relationships/image" Target="../media/image18.jpg"/><Relationship Id="rId18" Type="http://schemas.openxmlformats.org/officeDocument/2006/relationships/image" Target="../media/image19.jpg"/><Relationship Id="rId19" Type="http://schemas.openxmlformats.org/officeDocument/2006/relationships/image" Target="../media/image20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5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Relationship Id="rId5" Type="http://schemas.openxmlformats.org/officeDocument/2006/relationships/image" Target="../media/image6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Relationship Id="rId3" Type="http://schemas.openxmlformats.org/officeDocument/2006/relationships/image" Target="../media/image64.jp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Relationship Id="rId3" Type="http://schemas.openxmlformats.org/officeDocument/2006/relationships/image" Target="../media/image69.jpg"/><Relationship Id="rId4" Type="http://schemas.openxmlformats.org/officeDocument/2006/relationships/image" Target="../media/image70.jpg"/><Relationship Id="rId5" Type="http://schemas.openxmlformats.org/officeDocument/2006/relationships/image" Target="../media/image71.png"/><Relationship Id="rId6" Type="http://schemas.openxmlformats.org/officeDocument/2006/relationships/image" Target="../media/image72.jp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jpg"/><Relationship Id="rId3" Type="http://schemas.openxmlformats.org/officeDocument/2006/relationships/image" Target="../media/image77.jpg"/><Relationship Id="rId4" Type="http://schemas.openxmlformats.org/officeDocument/2006/relationships/image" Target="../media/image78.jpg"/><Relationship Id="rId5" Type="http://schemas.openxmlformats.org/officeDocument/2006/relationships/image" Target="../media/image79.jpg"/><Relationship Id="rId6" Type="http://schemas.openxmlformats.org/officeDocument/2006/relationships/image" Target="../media/image80.jpg"/><Relationship Id="rId7" Type="http://schemas.openxmlformats.org/officeDocument/2006/relationships/image" Target="../media/image81.jpg"/><Relationship Id="rId8" Type="http://schemas.openxmlformats.org/officeDocument/2006/relationships/image" Target="../media/image8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5200" spc="114">
                <a:solidFill>
                  <a:srgbClr val="073459"/>
                </a:solidFill>
                <a:latin typeface="Cambria"/>
                <a:cs typeface="Cambria"/>
              </a:rPr>
              <a:t>From</a:t>
            </a:r>
            <a:r>
              <a:rPr dirty="0" sz="5200" spc="-50">
                <a:solidFill>
                  <a:srgbClr val="073459"/>
                </a:solidFill>
                <a:latin typeface="Cambria"/>
                <a:cs typeface="Cambria"/>
              </a:rPr>
              <a:t> </a:t>
            </a:r>
            <a:r>
              <a:rPr dirty="0" sz="5200">
                <a:solidFill>
                  <a:srgbClr val="053156"/>
                </a:solidFill>
                <a:latin typeface="Cambria"/>
                <a:cs typeface="Cambria"/>
              </a:rPr>
              <a:t>Raw</a:t>
            </a:r>
            <a:r>
              <a:rPr dirty="0" sz="5200" spc="80">
                <a:solidFill>
                  <a:srgbClr val="053156"/>
                </a:solidFill>
                <a:latin typeface="Cambria"/>
                <a:cs typeface="Cambria"/>
              </a:rPr>
              <a:t> </a:t>
            </a:r>
            <a:r>
              <a:rPr dirty="0" sz="5200" spc="95">
                <a:solidFill>
                  <a:srgbClr val="073359"/>
                </a:solidFill>
                <a:latin typeface="Cambria"/>
                <a:cs typeface="Cambria"/>
              </a:rPr>
              <a:t>Data</a:t>
            </a:r>
            <a:r>
              <a:rPr dirty="0" sz="5200" spc="-15">
                <a:solidFill>
                  <a:srgbClr val="073359"/>
                </a:solidFill>
                <a:latin typeface="Cambria"/>
                <a:cs typeface="Cambria"/>
              </a:rPr>
              <a:t> </a:t>
            </a:r>
            <a:r>
              <a:rPr dirty="0" sz="5200" spc="85">
                <a:solidFill>
                  <a:srgbClr val="0C3660"/>
                </a:solidFill>
                <a:latin typeface="Cambria"/>
                <a:cs typeface="Cambria"/>
              </a:rPr>
              <a:t>to</a:t>
            </a:r>
            <a:r>
              <a:rPr dirty="0" sz="5200" spc="-114">
                <a:solidFill>
                  <a:srgbClr val="0C3660"/>
                </a:solidFill>
                <a:latin typeface="Cambria"/>
                <a:cs typeface="Cambria"/>
              </a:rPr>
              <a:t> </a:t>
            </a:r>
            <a:r>
              <a:rPr dirty="0" sz="5200" spc="80">
                <a:solidFill>
                  <a:srgbClr val="033159"/>
                </a:solidFill>
                <a:latin typeface="Cambria"/>
                <a:cs typeface="Cambria"/>
              </a:rPr>
              <a:t>Strategic</a:t>
            </a:r>
            <a:r>
              <a:rPr dirty="0" sz="5200" spc="155">
                <a:solidFill>
                  <a:srgbClr val="033159"/>
                </a:solidFill>
                <a:latin typeface="Cambria"/>
                <a:cs typeface="Cambria"/>
              </a:rPr>
              <a:t> </a:t>
            </a:r>
            <a:r>
              <a:rPr dirty="0" sz="5200" spc="95">
                <a:solidFill>
                  <a:srgbClr val="08345B"/>
                </a:solidFill>
                <a:latin typeface="Cambria"/>
                <a:cs typeface="Cambria"/>
              </a:rPr>
              <a:t>Insight</a:t>
            </a:r>
            <a:endParaRPr sz="5200">
              <a:latin typeface="Cambria"/>
              <a:cs typeface="Cambria"/>
            </a:endParaRPr>
          </a:p>
          <a:p>
            <a:pPr marL="31750">
              <a:lnSpc>
                <a:spcPct val="100000"/>
              </a:lnSpc>
              <a:spcBef>
                <a:spcPts val="360"/>
              </a:spcBef>
            </a:pPr>
            <a:r>
              <a:rPr dirty="0" sz="3300" spc="-160">
                <a:solidFill>
                  <a:srgbClr val="161616"/>
                </a:solidFill>
                <a:latin typeface="Calibri"/>
                <a:cs typeface="Calibri"/>
              </a:rPr>
              <a:t>A</a:t>
            </a:r>
            <a:r>
              <a:rPr dirty="0" sz="3300" spc="-14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0F0F0F"/>
                </a:solidFill>
                <a:latin typeface="Calibri"/>
                <a:cs typeface="Calibri"/>
              </a:rPr>
              <a:t>Blueprint</a:t>
            </a:r>
            <a:r>
              <a:rPr dirty="0" sz="3300" spc="-2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300" spc="-50">
                <a:solidFill>
                  <a:srgbClr val="0F0F0F"/>
                </a:solidFill>
                <a:latin typeface="Calibri"/>
                <a:cs typeface="Calibri"/>
              </a:rPr>
              <a:t>for</a:t>
            </a:r>
            <a:r>
              <a:rPr dirty="0" sz="3300" spc="-11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A1A1A"/>
                </a:solidFill>
                <a:latin typeface="Calibri"/>
                <a:cs typeface="Calibri"/>
              </a:rPr>
              <a:t>an</a:t>
            </a:r>
            <a:r>
              <a:rPr dirty="0" sz="3300" spc="-12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3300" spc="-45">
                <a:solidFill>
                  <a:srgbClr val="000000"/>
                </a:solidFill>
                <a:latin typeface="Calibri"/>
                <a:cs typeface="Calibri"/>
              </a:rPr>
              <a:t>End-</a:t>
            </a:r>
            <a:r>
              <a:rPr dirty="0" sz="3300" spc="-40">
                <a:solidFill>
                  <a:srgbClr val="000000"/>
                </a:solidFill>
                <a:latin typeface="Calibri"/>
                <a:cs typeface="Calibri"/>
              </a:rPr>
              <a:t>to-</a:t>
            </a:r>
            <a:r>
              <a:rPr dirty="0" sz="3300">
                <a:solidFill>
                  <a:srgbClr val="000000"/>
                </a:solidFill>
                <a:latin typeface="Calibri"/>
                <a:cs typeface="Calibri"/>
              </a:rPr>
              <a:t>End</a:t>
            </a:r>
            <a:r>
              <a:rPr dirty="0" sz="3300" spc="13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300" spc="-50">
                <a:solidFill>
                  <a:srgbClr val="161616"/>
                </a:solidFill>
                <a:latin typeface="Calibri"/>
                <a:cs typeface="Calibri"/>
              </a:rPr>
              <a:t>Data</a:t>
            </a:r>
            <a:r>
              <a:rPr dirty="0" sz="3300" spc="-13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3300">
                <a:solidFill>
                  <a:srgbClr val="111111"/>
                </a:solidFill>
                <a:latin typeface="Calibri"/>
                <a:cs typeface="Calibri"/>
              </a:rPr>
              <a:t>Analysis</a:t>
            </a:r>
            <a:r>
              <a:rPr dirty="0" sz="3300" spc="5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300" spc="-10">
                <a:solidFill>
                  <a:srgbClr val="111111"/>
                </a:solidFill>
                <a:latin typeface="Calibri"/>
                <a:cs typeface="Calibri"/>
              </a:rPr>
              <a:t>Workflow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888540" y="9157405"/>
            <a:ext cx="208915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35">
                <a:latin typeface="Calibri"/>
                <a:cs typeface="Calibri"/>
              </a:rPr>
              <a:t>Swiggy:</a:t>
            </a:r>
            <a:r>
              <a:rPr dirty="0" sz="1950" spc="-75">
                <a:latin typeface="Calibri"/>
                <a:cs typeface="Calibri"/>
              </a:rPr>
              <a:t> </a:t>
            </a:r>
            <a:r>
              <a:rPr dirty="0" sz="1950" spc="-55">
                <a:latin typeface="Calibri"/>
                <a:cs typeface="Calibri"/>
              </a:rPr>
              <a:t>Data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Analysis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200" y="7073900"/>
            <a:ext cx="1092200" cy="1092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300" y="4559300"/>
            <a:ext cx="1257300" cy="1143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" y="2235200"/>
            <a:ext cx="1295400" cy="927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56000" y="5715000"/>
            <a:ext cx="1828800" cy="14859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68700" y="4800600"/>
            <a:ext cx="609600" cy="7239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68700" y="3149600"/>
            <a:ext cx="1790700" cy="13970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86400" y="4381500"/>
            <a:ext cx="2044700" cy="17018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72400" y="4978400"/>
            <a:ext cx="1346200" cy="3683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347200" y="4724400"/>
            <a:ext cx="1206500" cy="10795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43200" y="2857500"/>
            <a:ext cx="698500" cy="4826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51100" y="5041900"/>
            <a:ext cx="2832100" cy="2540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99600" y="4508500"/>
            <a:ext cx="901700" cy="4064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677400" y="5245100"/>
            <a:ext cx="203200" cy="2413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25700" y="2667000"/>
            <a:ext cx="279400" cy="19050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2527300" y="6972300"/>
            <a:ext cx="901700" cy="609600"/>
            <a:chOff x="2527300" y="6972300"/>
            <a:chExt cx="901700" cy="609600"/>
          </a:xfrm>
        </p:grpSpPr>
        <p:pic>
          <p:nvPicPr>
            <p:cNvPr id="17" name="object 1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27300" y="7239000"/>
              <a:ext cx="495300" cy="34290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48000" y="6972300"/>
              <a:ext cx="381000" cy="266700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9575800" y="5029200"/>
            <a:ext cx="749300" cy="457200"/>
            <a:chOff x="9575800" y="5029200"/>
            <a:chExt cx="749300" cy="457200"/>
          </a:xfrm>
        </p:grpSpPr>
        <p:pic>
          <p:nvPicPr>
            <p:cNvPr id="20" name="object 2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20300" y="5080000"/>
              <a:ext cx="304800" cy="4064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75800" y="5029200"/>
              <a:ext cx="482600" cy="215900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721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95"/>
              </a:spcBef>
            </a:pPr>
            <a:r>
              <a:rPr dirty="0" sz="4450" spc="-45">
                <a:solidFill>
                  <a:srgbClr val="0C3A59"/>
                </a:solidFill>
                <a:latin typeface="Calibri"/>
                <a:cs typeface="Calibri"/>
              </a:rPr>
              <a:t>The</a:t>
            </a:r>
            <a:r>
              <a:rPr dirty="0" sz="4450" spc="-204">
                <a:solidFill>
                  <a:srgbClr val="0C3A59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073B5B"/>
                </a:solidFill>
                <a:latin typeface="Calibri"/>
                <a:cs typeface="Calibri"/>
              </a:rPr>
              <a:t>Daily</a:t>
            </a:r>
            <a:r>
              <a:rPr dirty="0" sz="4450" spc="-250">
                <a:solidFill>
                  <a:srgbClr val="073B5B"/>
                </a:solidFill>
                <a:latin typeface="Calibri"/>
                <a:cs typeface="Calibri"/>
              </a:rPr>
              <a:t> </a:t>
            </a:r>
            <a:r>
              <a:rPr dirty="0" sz="4450" spc="-10">
                <a:solidFill>
                  <a:srgbClr val="053454"/>
                </a:solidFill>
                <a:latin typeface="Calibri"/>
                <a:cs typeface="Calibri"/>
              </a:rPr>
              <a:t>Challenge:</a:t>
            </a:r>
            <a:r>
              <a:rPr dirty="0" sz="4450" spc="-200">
                <a:solidFill>
                  <a:srgbClr val="053454"/>
                </a:solidFill>
                <a:latin typeface="Calibri"/>
                <a:cs typeface="Calibri"/>
              </a:rPr>
              <a:t> </a:t>
            </a:r>
            <a:r>
              <a:rPr dirty="0" sz="4450" spc="-20">
                <a:solidFill>
                  <a:srgbClr val="0A3859"/>
                </a:solidFill>
                <a:latin typeface="Calibri"/>
                <a:cs typeface="Calibri"/>
              </a:rPr>
              <a:t>Turning</a:t>
            </a:r>
            <a:r>
              <a:rPr dirty="0" sz="4450" spc="-90">
                <a:solidFill>
                  <a:srgbClr val="0A3859"/>
                </a:solidFill>
                <a:latin typeface="Calibri"/>
                <a:cs typeface="Calibri"/>
              </a:rPr>
              <a:t> </a:t>
            </a:r>
            <a:r>
              <a:rPr dirty="0" sz="4450" spc="-50">
                <a:solidFill>
                  <a:srgbClr val="053B5D"/>
                </a:solidFill>
                <a:latin typeface="Calibri"/>
                <a:cs typeface="Calibri"/>
              </a:rPr>
              <a:t>Disparate</a:t>
            </a:r>
            <a:r>
              <a:rPr dirty="0" sz="4450" spc="-105">
                <a:solidFill>
                  <a:srgbClr val="053B5D"/>
                </a:solidFill>
                <a:latin typeface="Calibri"/>
                <a:cs typeface="Calibri"/>
              </a:rPr>
              <a:t> </a:t>
            </a:r>
            <a:r>
              <a:rPr dirty="0" sz="4450" spc="-85">
                <a:solidFill>
                  <a:srgbClr val="053454"/>
                </a:solidFill>
                <a:latin typeface="Calibri"/>
                <a:cs typeface="Calibri"/>
              </a:rPr>
              <a:t>Data</a:t>
            </a:r>
            <a:r>
              <a:rPr dirty="0" sz="4450" spc="-165">
                <a:solidFill>
                  <a:srgbClr val="053454"/>
                </a:solidFill>
                <a:latin typeface="Calibri"/>
                <a:cs typeface="Calibri"/>
              </a:rPr>
              <a:t> </a:t>
            </a:r>
            <a:r>
              <a:rPr dirty="0" sz="4450" spc="-45">
                <a:solidFill>
                  <a:srgbClr val="083456"/>
                </a:solidFill>
                <a:latin typeface="Calibri"/>
                <a:cs typeface="Calibri"/>
              </a:rPr>
              <a:t>into</a:t>
            </a:r>
            <a:r>
              <a:rPr dirty="0" sz="4450" spc="-204">
                <a:solidFill>
                  <a:srgbClr val="083456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083A5B"/>
                </a:solidFill>
                <a:latin typeface="Calibri"/>
                <a:cs typeface="Calibri"/>
              </a:rPr>
              <a:t>Business</a:t>
            </a:r>
            <a:r>
              <a:rPr dirty="0" sz="4450" spc="-135">
                <a:solidFill>
                  <a:srgbClr val="083A5B"/>
                </a:solidFill>
                <a:latin typeface="Calibri"/>
                <a:cs typeface="Calibri"/>
              </a:rPr>
              <a:t> </a:t>
            </a:r>
            <a:r>
              <a:rPr dirty="0" sz="4450" spc="-10">
                <a:solidFill>
                  <a:srgbClr val="0A3859"/>
                </a:solidFill>
                <a:latin typeface="Calibri"/>
                <a:cs typeface="Calibri"/>
              </a:rPr>
              <a:t>Intelligence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23" name="object 23" descr=""/>
          <p:cNvSpPr txBox="1"/>
          <p:nvPr/>
        </p:nvSpPr>
        <p:spPr>
          <a:xfrm>
            <a:off x="1243539" y="3190875"/>
            <a:ext cx="76009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14">
                <a:latin typeface="Calibri"/>
                <a:cs typeface="Calibri"/>
              </a:rPr>
              <a:t>Sales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07950" y="5742163"/>
            <a:ext cx="142367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50">
                <a:latin typeface="Calibri"/>
                <a:cs typeface="Calibri"/>
              </a:rPr>
              <a:t>Marketing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32566" y="8212314"/>
            <a:ext cx="156845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20">
                <a:latin typeface="Calibri"/>
                <a:cs typeface="Calibri"/>
              </a:rPr>
              <a:t>Operations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113632" y="5850113"/>
            <a:ext cx="1642110" cy="833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3220"/>
              </a:lnSpc>
              <a:spcBef>
                <a:spcPts val="135"/>
              </a:spcBef>
            </a:pPr>
            <a:r>
              <a:rPr dirty="0" sz="2950" spc="-10">
                <a:latin typeface="Calibri"/>
                <a:cs typeface="Calibri"/>
              </a:rPr>
              <a:t>Business</a:t>
            </a:r>
            <a:endParaRPr sz="2950">
              <a:latin typeface="Calibri"/>
              <a:cs typeface="Calibri"/>
            </a:endParaRPr>
          </a:p>
          <a:p>
            <a:pPr algn="ctr">
              <a:lnSpc>
                <a:spcPts val="3100"/>
              </a:lnSpc>
            </a:pPr>
            <a:r>
              <a:rPr dirty="0" sz="2850" spc="-50">
                <a:latin typeface="Calibri"/>
                <a:cs typeface="Calibri"/>
              </a:rPr>
              <a:t>Intelligence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2008048" y="1885502"/>
            <a:ext cx="4713605" cy="193230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400"/>
              </a:spcBef>
            </a:pPr>
            <a:r>
              <a:rPr dirty="0" sz="3600" spc="-10">
                <a:solidFill>
                  <a:srgbClr val="232323"/>
                </a:solidFill>
                <a:latin typeface="Calibri"/>
                <a:cs typeface="Calibri"/>
              </a:rPr>
              <a:t>Source:</a:t>
            </a:r>
            <a:endParaRPr sz="3600">
              <a:latin typeface="Calibri"/>
              <a:cs typeface="Calibri"/>
            </a:endParaRPr>
          </a:p>
          <a:p>
            <a:pPr marL="12700" marR="5080" indent="635">
              <a:lnSpc>
                <a:spcPts val="3350"/>
              </a:lnSpc>
              <a:spcBef>
                <a:spcPts val="400"/>
              </a:spcBef>
            </a:pPr>
            <a:r>
              <a:rPr dirty="0" sz="2850" spc="-25">
                <a:latin typeface="Calibri"/>
                <a:cs typeface="Calibri"/>
              </a:rPr>
              <a:t>Daily</a:t>
            </a:r>
            <a:r>
              <a:rPr dirty="0" sz="2850" spc="-140">
                <a:latin typeface="Calibri"/>
                <a:cs typeface="Calibri"/>
              </a:rPr>
              <a:t> </a:t>
            </a:r>
            <a:r>
              <a:rPr dirty="0" sz="2850" spc="-20">
                <a:latin typeface="Calibri"/>
                <a:cs typeface="Calibri"/>
              </a:rPr>
              <a:t>and</a:t>
            </a:r>
            <a:r>
              <a:rPr dirty="0" sz="2850" spc="-125">
                <a:latin typeface="Calibri"/>
                <a:cs typeface="Calibri"/>
              </a:rPr>
              <a:t> </a:t>
            </a:r>
            <a:r>
              <a:rPr dirty="0" sz="2850" spc="-55">
                <a:latin typeface="Calibri"/>
                <a:cs typeface="Calibri"/>
              </a:rPr>
              <a:t>weekly</a:t>
            </a:r>
            <a:r>
              <a:rPr dirty="0" sz="2850" spc="-70">
                <a:latin typeface="Calibri"/>
                <a:cs typeface="Calibri"/>
              </a:rPr>
              <a:t> </a:t>
            </a:r>
            <a:r>
              <a:rPr dirty="0" sz="2850" spc="-45">
                <a:latin typeface="Calibri"/>
                <a:cs typeface="Calibri"/>
              </a:rPr>
              <a:t>Excel</a:t>
            </a:r>
            <a:r>
              <a:rPr dirty="0" sz="2850" spc="-175">
                <a:latin typeface="Calibri"/>
                <a:cs typeface="Calibri"/>
              </a:rPr>
              <a:t> </a:t>
            </a:r>
            <a:r>
              <a:rPr dirty="0" sz="2850" spc="-25">
                <a:latin typeface="Calibri"/>
                <a:cs typeface="Calibri"/>
              </a:rPr>
              <a:t>files</a:t>
            </a:r>
            <a:r>
              <a:rPr dirty="0" sz="2850" spc="-140">
                <a:latin typeface="Calibri"/>
                <a:cs typeface="Calibri"/>
              </a:rPr>
              <a:t> </a:t>
            </a:r>
            <a:r>
              <a:rPr dirty="0" sz="2850" spc="-60">
                <a:latin typeface="Calibri"/>
                <a:cs typeface="Calibri"/>
              </a:rPr>
              <a:t>arrive </a:t>
            </a:r>
            <a:r>
              <a:rPr dirty="0" sz="2900" spc="-40">
                <a:latin typeface="Calibri"/>
                <a:cs typeface="Calibri"/>
              </a:rPr>
              <a:t>via</a:t>
            </a:r>
            <a:r>
              <a:rPr dirty="0" sz="2900" spc="-65">
                <a:latin typeface="Calibri"/>
                <a:cs typeface="Calibri"/>
              </a:rPr>
              <a:t> email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 spc="-140">
                <a:latin typeface="Calibri"/>
                <a:cs typeface="Calibri"/>
              </a:rPr>
              <a:t>from</a:t>
            </a:r>
            <a:r>
              <a:rPr dirty="0" sz="2900" spc="-55">
                <a:latin typeface="Calibri"/>
                <a:cs typeface="Calibri"/>
              </a:rPr>
              <a:t> </a:t>
            </a:r>
            <a:r>
              <a:rPr dirty="0" sz="2900" spc="-85">
                <a:latin typeface="Calibri"/>
                <a:cs typeface="Calibri"/>
              </a:rPr>
              <a:t>Safes,</a:t>
            </a:r>
            <a:r>
              <a:rPr dirty="0" sz="2900" spc="-7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Marketing, </a:t>
            </a:r>
            <a:r>
              <a:rPr dirty="0" sz="3050" spc="-145">
                <a:latin typeface="Calibri"/>
                <a:cs typeface="Calibri"/>
              </a:rPr>
              <a:t>and</a:t>
            </a:r>
            <a:r>
              <a:rPr dirty="0" sz="3050" spc="-165">
                <a:latin typeface="Calibri"/>
                <a:cs typeface="Calibri"/>
              </a:rPr>
              <a:t> </a:t>
            </a:r>
            <a:r>
              <a:rPr dirty="0" sz="3050" spc="-170">
                <a:latin typeface="Calibri"/>
                <a:cs typeface="Calibri"/>
              </a:rPr>
              <a:t>Operations</a:t>
            </a:r>
            <a:r>
              <a:rPr dirty="0" sz="3050" spc="60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teams.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2001824" y="4039658"/>
            <a:ext cx="4279900" cy="18865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 spc="-10">
                <a:solidFill>
                  <a:srgbClr val="232323"/>
                </a:solidFill>
                <a:latin typeface="Calibri"/>
                <a:cs typeface="Calibri"/>
              </a:rPr>
              <a:t>Role:</a:t>
            </a:r>
            <a:endParaRPr sz="3550">
              <a:latin typeface="Calibri"/>
              <a:cs typeface="Calibri"/>
            </a:endParaRPr>
          </a:p>
          <a:p>
            <a:pPr marL="20955" marR="5080" indent="-2540">
              <a:lnSpc>
                <a:spcPts val="3300"/>
              </a:lnSpc>
              <a:spcBef>
                <a:spcPts val="550"/>
              </a:spcBef>
            </a:pPr>
            <a:r>
              <a:rPr dirty="0" sz="3050" spc="-254">
                <a:latin typeface="Calibri"/>
                <a:cs typeface="Calibri"/>
              </a:rPr>
              <a:t>You</a:t>
            </a:r>
            <a:r>
              <a:rPr dirty="0" sz="3050" spc="-15">
                <a:latin typeface="Calibri"/>
                <a:cs typeface="Calibri"/>
              </a:rPr>
              <a:t> </a:t>
            </a:r>
            <a:r>
              <a:rPr dirty="0" sz="3050" spc="-170">
                <a:latin typeface="Calibri"/>
                <a:cs typeface="Calibri"/>
              </a:rPr>
              <a:t>are</a:t>
            </a:r>
            <a:r>
              <a:rPr dirty="0" sz="3050" spc="-150">
                <a:latin typeface="Calibri"/>
                <a:cs typeface="Calibri"/>
              </a:rPr>
              <a:t> </a:t>
            </a:r>
            <a:r>
              <a:rPr dirty="0" sz="3050" spc="-165">
                <a:latin typeface="Calibri"/>
                <a:cs typeface="Calibri"/>
              </a:rPr>
              <a:t>the</a:t>
            </a:r>
            <a:r>
              <a:rPr dirty="0" sz="3050" spc="-175">
                <a:latin typeface="Calibri"/>
                <a:cs typeface="Calibri"/>
              </a:rPr>
              <a:t> </a:t>
            </a:r>
            <a:r>
              <a:rPr dirty="0" sz="3050" spc="-180">
                <a:latin typeface="Calibri"/>
                <a:cs typeface="Calibri"/>
              </a:rPr>
              <a:t>Data</a:t>
            </a:r>
            <a:r>
              <a:rPr dirty="0" sz="3050" spc="-105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Analyst </a:t>
            </a:r>
            <a:r>
              <a:rPr dirty="0" sz="3050" spc="-140">
                <a:latin typeface="Calibri"/>
                <a:cs typeface="Calibri"/>
              </a:rPr>
              <a:t>responsible</a:t>
            </a:r>
            <a:r>
              <a:rPr dirty="0" sz="3050" spc="110">
                <a:latin typeface="Calibri"/>
                <a:cs typeface="Calibri"/>
              </a:rPr>
              <a:t> </a:t>
            </a:r>
            <a:r>
              <a:rPr dirty="0" sz="3050" spc="-165">
                <a:latin typeface="Calibri"/>
                <a:cs typeface="Calibri"/>
              </a:rPr>
              <a:t>for</a:t>
            </a:r>
            <a:r>
              <a:rPr dirty="0" sz="3050" spc="-225">
                <a:latin typeface="Calibri"/>
                <a:cs typeface="Calibri"/>
              </a:rPr>
              <a:t> </a:t>
            </a:r>
            <a:r>
              <a:rPr dirty="0" sz="3050" spc="-160">
                <a:latin typeface="Calibri"/>
                <a:cs typeface="Calibri"/>
              </a:rPr>
              <a:t>the</a:t>
            </a:r>
            <a:r>
              <a:rPr dirty="0" sz="3050" spc="-170">
                <a:latin typeface="Calibri"/>
                <a:cs typeface="Calibri"/>
              </a:rPr>
              <a:t> </a:t>
            </a:r>
            <a:r>
              <a:rPr dirty="0" sz="3050" spc="-155">
                <a:latin typeface="Calibri"/>
                <a:cs typeface="Calibri"/>
              </a:rPr>
              <a:t>entire</a:t>
            </a:r>
            <a:r>
              <a:rPr dirty="0" sz="3050" spc="-135">
                <a:latin typeface="Calibri"/>
                <a:cs typeface="Calibri"/>
              </a:rPr>
              <a:t> </a:t>
            </a:r>
            <a:r>
              <a:rPr dirty="0" sz="3050" spc="-125">
                <a:latin typeface="Calibri"/>
                <a:cs typeface="Calibri"/>
              </a:rPr>
              <a:t>data </a:t>
            </a:r>
            <a:r>
              <a:rPr dirty="0" sz="3050" spc="-30">
                <a:latin typeface="Calibri"/>
                <a:cs typeface="Calibri"/>
              </a:rPr>
              <a:t>lifecycle.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997911" y="6151738"/>
            <a:ext cx="4220845" cy="23018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10"/>
              </a:spcBef>
            </a:pPr>
            <a:r>
              <a:rPr dirty="0" sz="3600" spc="-10">
                <a:solidFill>
                  <a:srgbClr val="212121"/>
                </a:solidFill>
                <a:latin typeface="Calibri"/>
                <a:cs typeface="Calibri"/>
              </a:rPr>
              <a:t>Objective:</a:t>
            </a:r>
            <a:endParaRPr sz="3600">
              <a:latin typeface="Calibri"/>
              <a:cs typeface="Calibri"/>
            </a:endParaRPr>
          </a:p>
          <a:p>
            <a:pPr marL="12700" marR="5080" indent="9525">
              <a:lnSpc>
                <a:spcPts val="3300"/>
              </a:lnSpc>
              <a:spcBef>
                <a:spcPts val="440"/>
              </a:spcBef>
            </a:pPr>
            <a:r>
              <a:rPr dirty="0" sz="2900" spc="-105">
                <a:latin typeface="Calibri"/>
                <a:cs typeface="Calibri"/>
              </a:rPr>
              <a:t>Validate,</a:t>
            </a:r>
            <a:r>
              <a:rPr dirty="0" sz="2900">
                <a:latin typeface="Calibri"/>
                <a:cs typeface="Calibri"/>
              </a:rPr>
              <a:t> </a:t>
            </a:r>
            <a:r>
              <a:rPr dirty="0" sz="2900" spc="-65">
                <a:latin typeface="Calibri"/>
                <a:cs typeface="Calibri"/>
              </a:rPr>
              <a:t>clean,</a:t>
            </a:r>
            <a:r>
              <a:rPr dirty="0" sz="2900" spc="-100">
                <a:latin typeface="Calibri"/>
                <a:cs typeface="Calibri"/>
              </a:rPr>
              <a:t> integrate,</a:t>
            </a:r>
            <a:r>
              <a:rPr dirty="0" sz="2900" spc="45">
                <a:latin typeface="Calibri"/>
                <a:cs typeface="Calibri"/>
              </a:rPr>
              <a:t> </a:t>
            </a:r>
            <a:r>
              <a:rPr dirty="0" sz="2900" spc="-25">
                <a:latin typeface="Calibri"/>
                <a:cs typeface="Calibri"/>
              </a:rPr>
              <a:t>and </a:t>
            </a:r>
            <a:r>
              <a:rPr dirty="0" sz="3050" spc="-135">
                <a:latin typeface="Calibri"/>
                <a:cs typeface="Calibri"/>
              </a:rPr>
              <a:t>analyse</a:t>
            </a:r>
            <a:r>
              <a:rPr dirty="0" sz="3050" spc="15">
                <a:latin typeface="Calibri"/>
                <a:cs typeface="Calibri"/>
              </a:rPr>
              <a:t> </a:t>
            </a:r>
            <a:r>
              <a:rPr dirty="0" sz="3050" spc="-120">
                <a:latin typeface="Calibri"/>
                <a:cs typeface="Calibri"/>
              </a:rPr>
              <a:t>this</a:t>
            </a:r>
            <a:r>
              <a:rPr dirty="0" sz="3050" spc="-155">
                <a:latin typeface="Calibri"/>
                <a:cs typeface="Calibri"/>
              </a:rPr>
              <a:t> </a:t>
            </a:r>
            <a:r>
              <a:rPr dirty="0" sz="3050" spc="-130">
                <a:latin typeface="Calibri"/>
                <a:cs typeface="Calibri"/>
              </a:rPr>
              <a:t>data</a:t>
            </a:r>
            <a:r>
              <a:rPr dirty="0" sz="3050" spc="-150">
                <a:latin typeface="Calibri"/>
                <a:cs typeface="Calibri"/>
              </a:rPr>
              <a:t> </a:t>
            </a:r>
            <a:r>
              <a:rPr dirty="0" sz="3050" spc="-180">
                <a:latin typeface="Calibri"/>
                <a:cs typeface="Calibri"/>
              </a:rPr>
              <a:t>to </a:t>
            </a:r>
            <a:r>
              <a:rPr dirty="0" sz="3050" spc="-10">
                <a:latin typeface="Calibri"/>
                <a:cs typeface="Calibri"/>
              </a:rPr>
              <a:t>provide </a:t>
            </a:r>
            <a:r>
              <a:rPr dirty="0" sz="3100" spc="-170">
                <a:latin typeface="Calibri"/>
                <a:cs typeface="Calibri"/>
              </a:rPr>
              <a:t>actionable</a:t>
            </a:r>
            <a:r>
              <a:rPr dirty="0" sz="3100" spc="25">
                <a:latin typeface="Calibri"/>
                <a:cs typeface="Calibri"/>
              </a:rPr>
              <a:t> </a:t>
            </a:r>
            <a:r>
              <a:rPr dirty="0" sz="3100" spc="-130">
                <a:latin typeface="Calibri"/>
                <a:cs typeface="Calibri"/>
              </a:rPr>
              <a:t>insights</a:t>
            </a:r>
            <a:r>
              <a:rPr dirty="0" sz="3100">
                <a:latin typeface="Calibri"/>
                <a:cs typeface="Calibri"/>
              </a:rPr>
              <a:t> </a:t>
            </a:r>
            <a:r>
              <a:rPr dirty="0" sz="3100" spc="-250">
                <a:latin typeface="Calibri"/>
                <a:cs typeface="Calibri"/>
              </a:rPr>
              <a:t>to</a:t>
            </a:r>
            <a:r>
              <a:rPr dirty="0" sz="3100" spc="-18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senior </a:t>
            </a:r>
            <a:r>
              <a:rPr dirty="0" sz="3050" spc="-125">
                <a:latin typeface="Calibri"/>
                <a:cs typeface="Calibri"/>
              </a:rPr>
              <a:t>leadership</a:t>
            </a:r>
            <a:r>
              <a:rPr dirty="0" sz="3050">
                <a:latin typeface="Calibri"/>
                <a:cs typeface="Calibri"/>
              </a:rPr>
              <a:t> </a:t>
            </a:r>
            <a:r>
              <a:rPr dirty="0" sz="3050" spc="-175">
                <a:latin typeface="Calibri"/>
                <a:cs typeface="Calibri"/>
              </a:rPr>
              <a:t>(CEO,</a:t>
            </a:r>
            <a:r>
              <a:rPr dirty="0" sz="3050" spc="-60">
                <a:latin typeface="Calibri"/>
                <a:cs typeface="Calibri"/>
              </a:rPr>
              <a:t> </a:t>
            </a:r>
            <a:r>
              <a:rPr dirty="0" sz="3050" spc="-75">
                <a:latin typeface="Calibri"/>
                <a:cs typeface="Calibri"/>
              </a:rPr>
              <a:t>Directors).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9200" y="7861300"/>
            <a:ext cx="1816100" cy="1257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9200" y="6438900"/>
            <a:ext cx="1816100" cy="1244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49200" y="5003800"/>
            <a:ext cx="1816100" cy="1257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96500" y="1689100"/>
            <a:ext cx="6819900" cy="290830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219200" y="8733366"/>
            <a:ext cx="436245" cy="55244"/>
            <a:chOff x="1219200" y="8733366"/>
            <a:chExt cx="436245" cy="55244"/>
          </a:xfrm>
        </p:grpSpPr>
        <p:sp>
          <p:nvSpPr>
            <p:cNvPr id="7" name="object 7" descr=""/>
            <p:cNvSpPr/>
            <p:nvPr/>
          </p:nvSpPr>
          <p:spPr>
            <a:xfrm>
              <a:off x="1231900" y="8773583"/>
              <a:ext cx="423545" cy="0"/>
            </a:xfrm>
            <a:custGeom>
              <a:avLst/>
              <a:gdLst/>
              <a:ahLst/>
              <a:cxnLst/>
              <a:rect l="l" t="t" r="r" b="b"/>
              <a:pathLst>
                <a:path w="423544" h="0">
                  <a:moveTo>
                    <a:pt x="0" y="0"/>
                  </a:moveTo>
                  <a:lnTo>
                    <a:pt x="423333" y="0"/>
                  </a:lnTo>
                </a:path>
              </a:pathLst>
            </a:custGeom>
            <a:ln w="29633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19200" y="8748183"/>
              <a:ext cx="436245" cy="0"/>
            </a:xfrm>
            <a:custGeom>
              <a:avLst/>
              <a:gdLst/>
              <a:ahLst/>
              <a:cxnLst/>
              <a:rect l="l" t="t" r="r" b="b"/>
              <a:pathLst>
                <a:path w="436244" h="0">
                  <a:moveTo>
                    <a:pt x="0" y="0"/>
                  </a:moveTo>
                  <a:lnTo>
                    <a:pt x="436033" y="0"/>
                  </a:lnTo>
                </a:path>
              </a:pathLst>
            </a:custGeom>
            <a:ln w="29633">
              <a:solidFill>
                <a:srgbClr val="4B4B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1905000" y="8024283"/>
            <a:ext cx="423545" cy="0"/>
          </a:xfrm>
          <a:custGeom>
            <a:avLst/>
            <a:gdLst/>
            <a:ahLst/>
            <a:cxnLst/>
            <a:rect l="l" t="t" r="r" b="b"/>
            <a:pathLst>
              <a:path w="423544" h="0">
                <a:moveTo>
                  <a:pt x="0" y="0"/>
                </a:moveTo>
                <a:lnTo>
                  <a:pt x="423333" y="0"/>
                </a:lnTo>
              </a:path>
            </a:pathLst>
          </a:custGeom>
          <a:ln w="29633">
            <a:solidFill>
              <a:srgbClr val="23232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613900" y="1676400"/>
            <a:ext cx="0" cy="7594600"/>
          </a:xfrm>
          <a:custGeom>
            <a:avLst/>
            <a:gdLst/>
            <a:ahLst/>
            <a:cxnLst/>
            <a:rect l="l" t="t" r="r" b="b"/>
            <a:pathLst>
              <a:path w="0" h="7594600">
                <a:moveTo>
                  <a:pt x="0" y="7594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947" rIns="0" bIns="0" rtlCol="0" vert="horz">
            <a:spAutoFit/>
          </a:bodyPr>
          <a:lstStyle/>
          <a:p>
            <a:pPr marL="52705">
              <a:lnSpc>
                <a:spcPct val="100000"/>
              </a:lnSpc>
              <a:spcBef>
                <a:spcPts val="100"/>
              </a:spcBef>
            </a:pPr>
            <a:r>
              <a:rPr dirty="0" sz="4650" spc="-30">
                <a:solidFill>
                  <a:srgbClr val="052F46"/>
                </a:solidFill>
                <a:latin typeface="Calibri"/>
                <a:cs typeface="Calibri"/>
              </a:rPr>
              <a:t>Establishing</a:t>
            </a:r>
            <a:r>
              <a:rPr dirty="0" sz="4650" spc="-235">
                <a:solidFill>
                  <a:srgbClr val="052F46"/>
                </a:solidFill>
                <a:latin typeface="Calibri"/>
                <a:cs typeface="Calibri"/>
              </a:rPr>
              <a:t> </a:t>
            </a:r>
            <a:r>
              <a:rPr dirty="0" sz="4650" spc="-130">
                <a:solidFill>
                  <a:srgbClr val="0E3B52"/>
                </a:solidFill>
                <a:latin typeface="Calibri"/>
                <a:cs typeface="Calibri"/>
              </a:rPr>
              <a:t>Order: </a:t>
            </a:r>
            <a:r>
              <a:rPr dirty="0" sz="4650" spc="-105">
                <a:solidFill>
                  <a:srgbClr val="0A344D"/>
                </a:solidFill>
                <a:latin typeface="Calibri"/>
                <a:cs typeface="Calibri"/>
              </a:rPr>
              <a:t>The</a:t>
            </a:r>
            <a:r>
              <a:rPr dirty="0" sz="4650" spc="-350">
                <a:solidFill>
                  <a:srgbClr val="0A344D"/>
                </a:solidFill>
                <a:latin typeface="Calibri"/>
                <a:cs typeface="Calibri"/>
              </a:rPr>
              <a:t> </a:t>
            </a:r>
            <a:r>
              <a:rPr dirty="0" sz="4650" spc="-110">
                <a:solidFill>
                  <a:srgbClr val="0C364D"/>
                </a:solidFill>
                <a:latin typeface="Calibri"/>
                <a:cs typeface="Calibri"/>
              </a:rPr>
              <a:t>Foundation</a:t>
            </a:r>
            <a:r>
              <a:rPr dirty="0" sz="4650" spc="10">
                <a:solidFill>
                  <a:srgbClr val="0C364D"/>
                </a:solidFill>
                <a:latin typeface="Calibri"/>
                <a:cs typeface="Calibri"/>
              </a:rPr>
              <a:t> </a:t>
            </a:r>
            <a:r>
              <a:rPr dirty="0" sz="4650" spc="-125">
                <a:solidFill>
                  <a:srgbClr val="083B52"/>
                </a:solidFill>
                <a:latin typeface="Calibri"/>
                <a:cs typeface="Calibri"/>
              </a:rPr>
              <a:t>of</a:t>
            </a:r>
            <a:r>
              <a:rPr dirty="0" sz="4650" spc="-240">
                <a:solidFill>
                  <a:srgbClr val="083B52"/>
                </a:solidFill>
                <a:latin typeface="Calibri"/>
                <a:cs typeface="Calibri"/>
              </a:rPr>
              <a:t> </a:t>
            </a:r>
            <a:r>
              <a:rPr dirty="0" sz="4650" spc="110">
                <a:solidFill>
                  <a:srgbClr val="0A3146"/>
                </a:solidFill>
                <a:latin typeface="Calibri"/>
                <a:cs typeface="Calibri"/>
              </a:rPr>
              <a:t>a</a:t>
            </a:r>
            <a:r>
              <a:rPr dirty="0" sz="4650" spc="-320">
                <a:solidFill>
                  <a:srgbClr val="0A3146"/>
                </a:solidFill>
                <a:latin typeface="Calibri"/>
                <a:cs typeface="Calibri"/>
              </a:rPr>
              <a:t> </a:t>
            </a:r>
            <a:r>
              <a:rPr dirty="0" sz="4650" spc="-114">
                <a:solidFill>
                  <a:srgbClr val="0E3B52"/>
                </a:solidFill>
                <a:latin typeface="Calibri"/>
                <a:cs typeface="Calibri"/>
              </a:rPr>
              <a:t>Trustworthy</a:t>
            </a:r>
            <a:r>
              <a:rPr dirty="0" sz="4650" spc="-30">
                <a:solidFill>
                  <a:srgbClr val="0E3B52"/>
                </a:solidFill>
                <a:latin typeface="Calibri"/>
                <a:cs typeface="Calibri"/>
              </a:rPr>
              <a:t> </a:t>
            </a:r>
            <a:r>
              <a:rPr dirty="0" sz="4650" spc="-140">
                <a:solidFill>
                  <a:srgbClr val="083446"/>
                </a:solidFill>
                <a:latin typeface="Calibri"/>
                <a:cs typeface="Calibri"/>
              </a:rPr>
              <a:t>Data</a:t>
            </a:r>
            <a:r>
              <a:rPr dirty="0" sz="4650" spc="-200">
                <a:solidFill>
                  <a:srgbClr val="083446"/>
                </a:solidFill>
                <a:latin typeface="Calibri"/>
                <a:cs typeface="Calibri"/>
              </a:rPr>
              <a:t> </a:t>
            </a:r>
            <a:r>
              <a:rPr dirty="0" sz="4650" spc="-20">
                <a:solidFill>
                  <a:srgbClr val="083B54"/>
                </a:solidFill>
                <a:latin typeface="Calibri"/>
                <a:cs typeface="Calibri"/>
              </a:rPr>
              <a:t>Pipeline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729490" y="1923283"/>
            <a:ext cx="7420609" cy="2047239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3450" spc="-70">
                <a:latin typeface="Arial MT"/>
                <a:cs typeface="Arial MT"/>
              </a:rPr>
              <a:t>Systematic</a:t>
            </a:r>
            <a:r>
              <a:rPr dirty="0" sz="3450" spc="-120">
                <a:latin typeface="Arial MT"/>
                <a:cs typeface="Arial MT"/>
              </a:rPr>
              <a:t> </a:t>
            </a:r>
            <a:r>
              <a:rPr dirty="0" sz="3450" spc="-175">
                <a:latin typeface="Arial MT"/>
                <a:cs typeface="Arial MT"/>
              </a:rPr>
              <a:t>Data</a:t>
            </a:r>
            <a:r>
              <a:rPr dirty="0" sz="3450" spc="-140">
                <a:latin typeface="Arial MT"/>
                <a:cs typeface="Arial MT"/>
              </a:rPr>
              <a:t> </a:t>
            </a:r>
            <a:r>
              <a:rPr dirty="0" sz="3450" spc="-10">
                <a:latin typeface="Arial MT"/>
                <a:cs typeface="Arial MT"/>
              </a:rPr>
              <a:t>Receipt</a:t>
            </a:r>
            <a:endParaRPr sz="3450">
              <a:latin typeface="Arial MT"/>
              <a:cs typeface="Arial MT"/>
            </a:endParaRPr>
          </a:p>
          <a:p>
            <a:pPr marL="469265" indent="-272415">
              <a:lnSpc>
                <a:spcPts val="3595"/>
              </a:lnSpc>
              <a:spcBef>
                <a:spcPts val="260"/>
              </a:spcBef>
              <a:buChar char="•"/>
              <a:tabLst>
                <a:tab pos="469265" algn="l"/>
              </a:tabLst>
            </a:pPr>
            <a:r>
              <a:rPr dirty="0" sz="3200" spc="-130">
                <a:latin typeface="Calibri"/>
                <a:cs typeface="Calibri"/>
              </a:rPr>
              <a:t>Action: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50">
                <a:latin typeface="Calibri"/>
                <a:cs typeface="Calibri"/>
              </a:rPr>
              <a:t>Daily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 spc="-200">
                <a:latin typeface="Calibri"/>
                <a:cs typeface="Calibri"/>
              </a:rPr>
              <a:t>monitoring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180">
                <a:latin typeface="Calibri"/>
                <a:cs typeface="Calibri"/>
              </a:rPr>
              <a:t>of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sz="3200" spc="-200">
                <a:latin typeface="Calibri"/>
                <a:cs typeface="Calibri"/>
              </a:rPr>
              <a:t>the</a:t>
            </a:r>
            <a:r>
              <a:rPr dirty="0" sz="3200" spc="-185">
                <a:latin typeface="Calibri"/>
                <a:cs typeface="Calibri"/>
              </a:rPr>
              <a:t> </a:t>
            </a:r>
            <a:r>
              <a:rPr dirty="0" sz="3200" spc="-125">
                <a:latin typeface="Calibri"/>
                <a:cs typeface="Calibri"/>
              </a:rPr>
              <a:t>sales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 spc="-200">
                <a:latin typeface="Calibri"/>
                <a:cs typeface="Calibri"/>
              </a:rPr>
              <a:t>mailbox</a:t>
            </a:r>
            <a:r>
              <a:rPr dirty="0" sz="3200" spc="4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to</a:t>
            </a:r>
            <a:endParaRPr sz="3200">
              <a:latin typeface="Calibri"/>
              <a:cs typeface="Calibri"/>
            </a:endParaRPr>
          </a:p>
          <a:p>
            <a:pPr marL="474980">
              <a:lnSpc>
                <a:spcPts val="3654"/>
              </a:lnSpc>
            </a:pPr>
            <a:r>
              <a:rPr dirty="0" sz="3250" spc="-195">
                <a:latin typeface="Calibri"/>
                <a:cs typeface="Calibri"/>
              </a:rPr>
              <a:t>identify</a:t>
            </a:r>
            <a:r>
              <a:rPr dirty="0" sz="3250" spc="70">
                <a:latin typeface="Calibri"/>
                <a:cs typeface="Calibri"/>
              </a:rPr>
              <a:t> </a:t>
            </a:r>
            <a:r>
              <a:rPr dirty="0" sz="3250" spc="-225">
                <a:latin typeface="Calibri"/>
                <a:cs typeface="Calibri"/>
              </a:rPr>
              <a:t>and</a:t>
            </a:r>
            <a:r>
              <a:rPr dirty="0" sz="3250" spc="-150">
                <a:latin typeface="Calibri"/>
                <a:cs typeface="Calibri"/>
              </a:rPr>
              <a:t> </a:t>
            </a:r>
            <a:r>
              <a:rPr dirty="0" sz="3250" spc="-220">
                <a:latin typeface="Calibri"/>
                <a:cs typeface="Calibri"/>
              </a:rPr>
              <a:t>retrieve</a:t>
            </a:r>
            <a:r>
              <a:rPr dirty="0" sz="3250" spc="-90">
                <a:latin typeface="Calibri"/>
                <a:cs typeface="Calibri"/>
              </a:rPr>
              <a:t> </a:t>
            </a:r>
            <a:r>
              <a:rPr dirty="0" sz="3250" spc="-270">
                <a:latin typeface="Calibri"/>
                <a:cs typeface="Calibri"/>
              </a:rPr>
              <a:t>new</a:t>
            </a:r>
            <a:r>
              <a:rPr dirty="0" sz="3250" spc="-95">
                <a:latin typeface="Calibri"/>
                <a:cs typeface="Calibri"/>
              </a:rPr>
              <a:t> </a:t>
            </a:r>
            <a:r>
              <a:rPr dirty="0" sz="3250" spc="-215">
                <a:latin typeface="Calibri"/>
                <a:cs typeface="Calibri"/>
              </a:rPr>
              <a:t>data</a:t>
            </a:r>
            <a:r>
              <a:rPr dirty="0" sz="3250" spc="-125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files.</a:t>
            </a:r>
            <a:endParaRPr sz="3250">
              <a:latin typeface="Calibri"/>
              <a:cs typeface="Calibri"/>
            </a:endParaRPr>
          </a:p>
          <a:p>
            <a:pPr marL="474980" indent="-276225">
              <a:lnSpc>
                <a:spcPct val="100000"/>
              </a:lnSpc>
              <a:spcBef>
                <a:spcPts val="300"/>
              </a:spcBef>
              <a:buChar char="•"/>
              <a:tabLst>
                <a:tab pos="474980" algn="l"/>
              </a:tabLst>
            </a:pPr>
            <a:r>
              <a:rPr dirty="0" sz="3050" spc="-35">
                <a:latin typeface="Calibri"/>
                <a:cs typeface="Calibri"/>
              </a:rPr>
              <a:t>Source</a:t>
            </a:r>
            <a:r>
              <a:rPr dirty="0" sz="3050" spc="-110">
                <a:latin typeface="Calibri"/>
                <a:cs typeface="Calibri"/>
              </a:rPr>
              <a:t> </a:t>
            </a:r>
            <a:r>
              <a:rPr dirty="0" sz="3050" spc="-50">
                <a:latin typeface="Calibri"/>
                <a:cs typeface="Calibri"/>
              </a:rPr>
              <a:t>Teams:</a:t>
            </a:r>
            <a:r>
              <a:rPr dirty="0" sz="3050" spc="-10">
                <a:latin typeface="Calibri"/>
                <a:cs typeface="Calibri"/>
              </a:rPr>
              <a:t> </a:t>
            </a:r>
            <a:r>
              <a:rPr dirty="0" sz="3050" spc="-60">
                <a:latin typeface="Calibri"/>
                <a:cs typeface="Calibri"/>
              </a:rPr>
              <a:t>Sales,</a:t>
            </a:r>
            <a:r>
              <a:rPr dirty="0" sz="3050" spc="-185">
                <a:latin typeface="Calibri"/>
                <a:cs typeface="Calibri"/>
              </a:rPr>
              <a:t> </a:t>
            </a:r>
            <a:r>
              <a:rPr dirty="0" sz="3050" spc="-150">
                <a:latin typeface="Calibri"/>
                <a:cs typeface="Calibri"/>
              </a:rPr>
              <a:t>Marketing,</a:t>
            </a:r>
            <a:r>
              <a:rPr dirty="0" sz="3050" spc="-70">
                <a:latin typeface="Calibri"/>
                <a:cs typeface="Calibri"/>
              </a:rPr>
              <a:t> </a:t>
            </a:r>
            <a:r>
              <a:rPr dirty="0" sz="3050" spc="-35">
                <a:latin typeface="Calibri"/>
                <a:cs typeface="Calibri"/>
              </a:rPr>
              <a:t>Operations.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29490" y="4301034"/>
            <a:ext cx="8160384" cy="202247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3450" spc="-20">
                <a:latin typeface="Arial MT"/>
                <a:cs typeface="Arial MT"/>
              </a:rPr>
              <a:t>Structured</a:t>
            </a:r>
            <a:r>
              <a:rPr dirty="0" sz="3450" spc="-135">
                <a:latin typeface="Arial MT"/>
                <a:cs typeface="Arial MT"/>
              </a:rPr>
              <a:t> </a:t>
            </a:r>
            <a:r>
              <a:rPr dirty="0" sz="3450" spc="-80">
                <a:latin typeface="Arial MT"/>
                <a:cs typeface="Arial MT"/>
              </a:rPr>
              <a:t>File</a:t>
            </a:r>
            <a:r>
              <a:rPr dirty="0" sz="3450" spc="-235">
                <a:latin typeface="Arial MT"/>
                <a:cs typeface="Arial MT"/>
              </a:rPr>
              <a:t> </a:t>
            </a:r>
            <a:r>
              <a:rPr dirty="0" sz="3450" spc="-10">
                <a:latin typeface="Arial MT"/>
                <a:cs typeface="Arial MT"/>
              </a:rPr>
              <a:t>Management</a:t>
            </a:r>
            <a:endParaRPr sz="3450">
              <a:latin typeface="Arial MT"/>
              <a:cs typeface="Arial MT"/>
            </a:endParaRPr>
          </a:p>
          <a:p>
            <a:pPr algn="just" marL="469265" marR="5080" indent="-270510">
              <a:lnSpc>
                <a:spcPct val="91600"/>
              </a:lnSpc>
              <a:spcBef>
                <a:spcPts val="770"/>
              </a:spcBef>
              <a:buChar char="•"/>
              <a:tabLst>
                <a:tab pos="471805" algn="l"/>
              </a:tabLst>
            </a:pPr>
            <a:r>
              <a:rPr dirty="0" sz="3050" spc="-45">
                <a:latin typeface="Calibri"/>
                <a:cs typeface="Calibri"/>
              </a:rPr>
              <a:t>Action:</a:t>
            </a:r>
            <a:r>
              <a:rPr dirty="0" sz="3050" spc="-130">
                <a:latin typeface="Calibri"/>
                <a:cs typeface="Calibri"/>
              </a:rPr>
              <a:t> Download</a:t>
            </a:r>
            <a:r>
              <a:rPr dirty="0" sz="3050" spc="-40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all</a:t>
            </a:r>
            <a:r>
              <a:rPr dirty="0" sz="3050" spc="-165">
                <a:latin typeface="Calibri"/>
                <a:cs typeface="Calibri"/>
              </a:rPr>
              <a:t> </a:t>
            </a:r>
            <a:r>
              <a:rPr dirty="0" sz="3050" spc="-120">
                <a:latin typeface="Calibri"/>
                <a:cs typeface="Calibri"/>
              </a:rPr>
              <a:t>Excel</a:t>
            </a:r>
            <a:r>
              <a:rPr dirty="0" sz="3050" spc="-45">
                <a:latin typeface="Calibri"/>
                <a:cs typeface="Calibri"/>
              </a:rPr>
              <a:t> </a:t>
            </a:r>
            <a:r>
              <a:rPr dirty="0" sz="3050" spc="-70">
                <a:latin typeface="Calibri"/>
                <a:cs typeface="Calibri"/>
              </a:rPr>
              <a:t>files</a:t>
            </a:r>
            <a:r>
              <a:rPr dirty="0" sz="3050" spc="-105">
                <a:latin typeface="Calibri"/>
                <a:cs typeface="Calibri"/>
              </a:rPr>
              <a:t> </a:t>
            </a:r>
            <a:r>
              <a:rPr dirty="0" sz="3050" spc="-100">
                <a:latin typeface="Calibri"/>
                <a:cs typeface="Calibri"/>
              </a:rPr>
              <a:t>and</a:t>
            </a:r>
            <a:r>
              <a:rPr dirty="0" sz="3050" spc="55">
                <a:latin typeface="Calibri"/>
                <a:cs typeface="Calibri"/>
              </a:rPr>
              <a:t> </a:t>
            </a:r>
            <a:r>
              <a:rPr dirty="0" sz="3050" spc="-145">
                <a:latin typeface="Calibri"/>
                <a:cs typeface="Calibri"/>
              </a:rPr>
              <a:t>save</a:t>
            </a:r>
            <a:r>
              <a:rPr dirty="0" sz="3050" spc="-25">
                <a:latin typeface="Calibri"/>
                <a:cs typeface="Calibri"/>
              </a:rPr>
              <a:t> </a:t>
            </a:r>
            <a:r>
              <a:rPr dirty="0" sz="3050" spc="-165">
                <a:latin typeface="Calibri"/>
                <a:cs typeface="Calibri"/>
              </a:rPr>
              <a:t>them</a:t>
            </a:r>
            <a:r>
              <a:rPr dirty="0" sz="3050" spc="-10">
                <a:latin typeface="Calibri"/>
                <a:cs typeface="Calibri"/>
              </a:rPr>
              <a:t> </a:t>
            </a:r>
            <a:r>
              <a:rPr dirty="0" sz="3050" spc="-105">
                <a:latin typeface="Calibri"/>
                <a:cs typeface="Calibri"/>
              </a:rPr>
              <a:t>into</a:t>
            </a:r>
            <a:r>
              <a:rPr dirty="0" sz="3050" spc="-70">
                <a:latin typeface="Calibri"/>
                <a:cs typeface="Calibri"/>
              </a:rPr>
              <a:t> </a:t>
            </a:r>
            <a:r>
              <a:rPr dirty="0" sz="3050" spc="-50">
                <a:latin typeface="Calibri"/>
                <a:cs typeface="Calibri"/>
              </a:rPr>
              <a:t>a </a:t>
            </a:r>
            <a:r>
              <a:rPr dirty="0" sz="3050" spc="-50">
                <a:latin typeface="Calibri"/>
                <a:cs typeface="Calibri"/>
              </a:rPr>
              <a:t>	</a:t>
            </a:r>
            <a:r>
              <a:rPr dirty="0" sz="3100" spc="-160">
                <a:latin typeface="Calibri"/>
                <a:cs typeface="Calibri"/>
              </a:rPr>
              <a:t>predefined,</a:t>
            </a:r>
            <a:r>
              <a:rPr dirty="0" sz="3100" spc="-15">
                <a:latin typeface="Calibri"/>
                <a:cs typeface="Calibri"/>
              </a:rPr>
              <a:t> </a:t>
            </a:r>
            <a:r>
              <a:rPr dirty="0" sz="3100" spc="-60">
                <a:latin typeface="Calibri"/>
                <a:cs typeface="Calibri"/>
              </a:rPr>
              <a:t>logical</a:t>
            </a:r>
            <a:r>
              <a:rPr dirty="0" sz="3100" spc="-45">
                <a:latin typeface="Calibri"/>
                <a:cs typeface="Calibri"/>
              </a:rPr>
              <a:t> </a:t>
            </a:r>
            <a:r>
              <a:rPr dirty="0" sz="3100" spc="-165">
                <a:latin typeface="Calibri"/>
                <a:cs typeface="Calibri"/>
              </a:rPr>
              <a:t>folder</a:t>
            </a:r>
            <a:r>
              <a:rPr dirty="0" sz="3100" spc="-10">
                <a:latin typeface="Calibri"/>
                <a:cs typeface="Calibri"/>
              </a:rPr>
              <a:t> </a:t>
            </a:r>
            <a:r>
              <a:rPr dirty="0" sz="3100" spc="-150">
                <a:latin typeface="Calibri"/>
                <a:cs typeface="Calibri"/>
              </a:rPr>
              <a:t>system.</a:t>
            </a:r>
            <a:r>
              <a:rPr dirty="0" sz="3100" spc="15">
                <a:latin typeface="Calibri"/>
                <a:cs typeface="Calibri"/>
              </a:rPr>
              <a:t> </a:t>
            </a:r>
            <a:r>
              <a:rPr dirty="0" sz="3100" spc="-125">
                <a:latin typeface="Calibri"/>
                <a:cs typeface="Calibri"/>
              </a:rPr>
              <a:t>This</a:t>
            </a:r>
            <a:r>
              <a:rPr dirty="0" sz="3100" spc="-50">
                <a:latin typeface="Calibri"/>
                <a:cs typeface="Calibri"/>
              </a:rPr>
              <a:t> </a:t>
            </a:r>
            <a:r>
              <a:rPr dirty="0" sz="3100" spc="-150">
                <a:latin typeface="Calibri"/>
                <a:cs typeface="Calibri"/>
              </a:rPr>
              <a:t>prevents</a:t>
            </a:r>
            <a:r>
              <a:rPr dirty="0" sz="3100" spc="20">
                <a:latin typeface="Calibri"/>
                <a:cs typeface="Calibri"/>
              </a:rPr>
              <a:t> </a:t>
            </a:r>
            <a:r>
              <a:rPr dirty="0" sz="3100" spc="-20">
                <a:latin typeface="Calibri"/>
                <a:cs typeface="Calibri"/>
              </a:rPr>
              <a:t>data </a:t>
            </a:r>
            <a:r>
              <a:rPr dirty="0" sz="3100" spc="-20">
                <a:latin typeface="Calibri"/>
                <a:cs typeface="Calibri"/>
              </a:rPr>
              <a:t>	</a:t>
            </a:r>
            <a:r>
              <a:rPr dirty="0" sz="3200" spc="-110">
                <a:latin typeface="Calibri"/>
                <a:cs typeface="Calibri"/>
              </a:rPr>
              <a:t>loss</a:t>
            </a:r>
            <a:r>
              <a:rPr dirty="0" sz="3200" spc="-170">
                <a:latin typeface="Calibri"/>
                <a:cs typeface="Calibri"/>
              </a:rPr>
              <a:t> </a:t>
            </a:r>
            <a:r>
              <a:rPr dirty="0" sz="3200" spc="-204">
                <a:latin typeface="Calibri"/>
                <a:cs typeface="Calibri"/>
              </a:rPr>
              <a:t>and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sz="3200" spc="-200">
                <a:latin typeface="Calibri"/>
                <a:cs typeface="Calibri"/>
              </a:rPr>
              <a:t>ensures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195">
                <a:latin typeface="Calibri"/>
                <a:cs typeface="Calibri"/>
              </a:rPr>
              <a:t>process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50">
                <a:latin typeface="Calibri"/>
                <a:cs typeface="Calibri"/>
              </a:rPr>
              <a:t>integrity.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19863" y="6742289"/>
            <a:ext cx="4523105" cy="11112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90">
                <a:latin typeface="Arial MT"/>
                <a:cs typeface="Arial MT"/>
              </a:rPr>
              <a:t>Data_Ana1ys1s/</a:t>
            </a:r>
            <a:endParaRPr sz="2350">
              <a:latin typeface="Arial MT"/>
              <a:cs typeface="Arial MT"/>
            </a:endParaRPr>
          </a:p>
          <a:p>
            <a:pPr marL="711200">
              <a:lnSpc>
                <a:spcPct val="100000"/>
              </a:lnSpc>
              <a:spcBef>
                <a:spcPts val="30"/>
              </a:spcBef>
            </a:pPr>
            <a:r>
              <a:rPr dirty="0" sz="2300" spc="60">
                <a:latin typeface="Arial MT"/>
                <a:cs typeface="Arial MT"/>
              </a:rPr>
              <a:t>Raw_Data/</a:t>
            </a:r>
            <a:endParaRPr sz="2300">
              <a:latin typeface="Arial MT"/>
              <a:cs typeface="Arial MT"/>
            </a:endParaRPr>
          </a:p>
          <a:p>
            <a:pPr marL="1393190">
              <a:lnSpc>
                <a:spcPct val="100000"/>
              </a:lnSpc>
              <a:spcBef>
                <a:spcPts val="40"/>
              </a:spcBef>
            </a:pPr>
            <a:r>
              <a:rPr dirty="0" sz="2400" spc="105">
                <a:latin typeface="Arial MT"/>
                <a:cs typeface="Arial MT"/>
              </a:rPr>
              <a:t>SaIes_2024_01.</a:t>
            </a:r>
            <a:r>
              <a:rPr dirty="0" sz="2400" spc="-330">
                <a:latin typeface="Arial MT"/>
                <a:cs typeface="Arial MT"/>
              </a:rPr>
              <a:t> </a:t>
            </a:r>
            <a:r>
              <a:rPr dirty="0" sz="2400" spc="225">
                <a:latin typeface="Arial MT"/>
                <a:cs typeface="Arial MT"/>
              </a:rPr>
              <a:t>xlsx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01129" y="7834489"/>
            <a:ext cx="314388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75">
                <a:latin typeface="Arial MT"/>
                <a:cs typeface="Arial MT"/>
              </a:rPr>
              <a:t>Sa</a:t>
            </a:r>
            <a:r>
              <a:rPr dirty="0" sz="2350" spc="-325">
                <a:latin typeface="Arial MT"/>
                <a:cs typeface="Arial MT"/>
              </a:rPr>
              <a:t> </a:t>
            </a:r>
            <a:r>
              <a:rPr dirty="0" sz="2350" spc="125">
                <a:latin typeface="Arial MT"/>
                <a:cs typeface="Arial MT"/>
              </a:rPr>
              <a:t>tes_2024_02.</a:t>
            </a:r>
            <a:r>
              <a:rPr dirty="0" sz="2350" spc="20">
                <a:latin typeface="Arial MT"/>
                <a:cs typeface="Arial MT"/>
              </a:rPr>
              <a:t> </a:t>
            </a:r>
            <a:r>
              <a:rPr dirty="0" sz="2350" spc="250">
                <a:latin typeface="Arial MT"/>
                <a:cs typeface="Arial MT"/>
              </a:rPr>
              <a:t>xlsx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815575" y="8181269"/>
            <a:ext cx="2647950" cy="7645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10795">
              <a:lnSpc>
                <a:spcPct val="100699"/>
              </a:lnSpc>
              <a:spcBef>
                <a:spcPts val="110"/>
              </a:spcBef>
            </a:pPr>
            <a:r>
              <a:rPr dirty="0" sz="2400" spc="200">
                <a:latin typeface="Calibri"/>
                <a:cs typeface="Calibri"/>
              </a:rPr>
              <a:t>CIeaned_Data/ </a:t>
            </a:r>
            <a:r>
              <a:rPr dirty="0" sz="2400" spc="250">
                <a:latin typeface="Calibri"/>
                <a:cs typeface="Calibri"/>
              </a:rPr>
              <a:t>Processed_Data/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086398" y="5622925"/>
            <a:ext cx="925194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latin typeface="Calibri"/>
                <a:cs typeface="Calibri"/>
              </a:rPr>
              <a:t>Raw</a:t>
            </a:r>
            <a:r>
              <a:rPr dirty="0" sz="1850" spc="240">
                <a:latin typeface="Calibri"/>
                <a:cs typeface="Calibri"/>
              </a:rPr>
              <a:t> </a:t>
            </a:r>
            <a:r>
              <a:rPr dirty="0" sz="1850" spc="-75">
                <a:latin typeface="Calibri"/>
                <a:cs typeface="Calibri"/>
              </a:rPr>
              <a:t>Data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917322" y="7058025"/>
            <a:ext cx="127317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40">
                <a:latin typeface="Calibri"/>
                <a:cs typeface="Calibri"/>
              </a:rPr>
              <a:t>Cleaned</a:t>
            </a:r>
            <a:r>
              <a:rPr dirty="0" sz="1850" spc="195">
                <a:latin typeface="Calibri"/>
                <a:cs typeface="Calibri"/>
              </a:rPr>
              <a:t> </a:t>
            </a:r>
            <a:r>
              <a:rPr dirty="0" sz="1850" spc="-30">
                <a:latin typeface="Calibri"/>
                <a:cs typeface="Calibri"/>
              </a:rPr>
              <a:t>Data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2818960" y="8484305"/>
            <a:ext cx="145986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80">
                <a:latin typeface="Calibri"/>
                <a:cs typeface="Calibri"/>
              </a:rPr>
              <a:t>Processed</a:t>
            </a:r>
            <a:r>
              <a:rPr dirty="0" sz="1950" spc="245">
                <a:latin typeface="Calibri"/>
                <a:cs typeface="Calibri"/>
              </a:rPr>
              <a:t> </a:t>
            </a:r>
            <a:r>
              <a:rPr dirty="0" sz="1950" spc="-105">
                <a:latin typeface="Calibri"/>
                <a:cs typeface="Calibri"/>
              </a:rPr>
              <a:t>Data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3700" y="5130800"/>
            <a:ext cx="723900" cy="736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4165600"/>
            <a:ext cx="711200" cy="7239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83700" y="3213100"/>
            <a:ext cx="736600" cy="711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67600" y="7188200"/>
            <a:ext cx="2540000" cy="1168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377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95"/>
              </a:spcBef>
            </a:pPr>
            <a:r>
              <a:rPr dirty="0" sz="4450">
                <a:solidFill>
                  <a:srgbClr val="083656"/>
                </a:solidFill>
                <a:latin typeface="Calibri"/>
                <a:cs typeface="Calibri"/>
              </a:rPr>
              <a:t>The</a:t>
            </a:r>
            <a:r>
              <a:rPr dirty="0" sz="4450" spc="-245">
                <a:solidFill>
                  <a:srgbClr val="083656"/>
                </a:solidFill>
                <a:latin typeface="Calibri"/>
                <a:cs typeface="Calibri"/>
              </a:rPr>
              <a:t> </a:t>
            </a:r>
            <a:r>
              <a:rPr dirty="0" sz="4450" spc="120">
                <a:solidFill>
                  <a:srgbClr val="053454"/>
                </a:solidFill>
                <a:latin typeface="Calibri"/>
                <a:cs typeface="Calibri"/>
              </a:rPr>
              <a:t>First</a:t>
            </a:r>
            <a:r>
              <a:rPr dirty="0" sz="4450" spc="-220">
                <a:solidFill>
                  <a:srgbClr val="053454"/>
                </a:solidFill>
                <a:latin typeface="Calibri"/>
                <a:cs typeface="Calibri"/>
              </a:rPr>
              <a:t> </a:t>
            </a:r>
            <a:r>
              <a:rPr dirty="0" sz="4450" spc="125">
                <a:solidFill>
                  <a:srgbClr val="032F52"/>
                </a:solidFill>
                <a:latin typeface="Calibri"/>
                <a:cs typeface="Calibri"/>
              </a:rPr>
              <a:t>Line</a:t>
            </a:r>
            <a:r>
              <a:rPr dirty="0" sz="4450" spc="-235">
                <a:solidFill>
                  <a:srgbClr val="032F52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073154"/>
                </a:solidFill>
                <a:latin typeface="Calibri"/>
                <a:cs typeface="Calibri"/>
              </a:rPr>
              <a:t>of</a:t>
            </a:r>
            <a:r>
              <a:rPr dirty="0" sz="4450" spc="-145">
                <a:solidFill>
                  <a:srgbClr val="073154"/>
                </a:solidFill>
                <a:latin typeface="Calibri"/>
                <a:cs typeface="Calibri"/>
              </a:rPr>
              <a:t> </a:t>
            </a:r>
            <a:r>
              <a:rPr dirty="0" sz="4450" spc="-10">
                <a:solidFill>
                  <a:srgbClr val="0A365D"/>
                </a:solidFill>
                <a:latin typeface="Calibri"/>
                <a:cs typeface="Calibri"/>
              </a:rPr>
              <a:t>Defence:</a:t>
            </a:r>
            <a:r>
              <a:rPr dirty="0" sz="4450" spc="60">
                <a:solidFill>
                  <a:srgbClr val="0A365D"/>
                </a:solidFill>
                <a:latin typeface="Calibri"/>
                <a:cs typeface="Calibri"/>
              </a:rPr>
              <a:t> </a:t>
            </a:r>
            <a:r>
              <a:rPr dirty="0" sz="4450" spc="140">
                <a:solidFill>
                  <a:srgbClr val="032D4F"/>
                </a:solidFill>
                <a:latin typeface="Calibri"/>
                <a:cs typeface="Calibri"/>
              </a:rPr>
              <a:t>Initial</a:t>
            </a:r>
            <a:r>
              <a:rPr dirty="0" sz="4450" spc="-425">
                <a:solidFill>
                  <a:srgbClr val="032D4F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053456"/>
                </a:solidFill>
                <a:latin typeface="Calibri"/>
                <a:cs typeface="Calibri"/>
              </a:rPr>
              <a:t>Validation</a:t>
            </a:r>
            <a:r>
              <a:rPr dirty="0" sz="4450" spc="100">
                <a:solidFill>
                  <a:srgbClr val="053456"/>
                </a:solidFill>
                <a:latin typeface="Calibri"/>
                <a:cs typeface="Calibri"/>
              </a:rPr>
              <a:t> </a:t>
            </a:r>
            <a:r>
              <a:rPr dirty="0" sz="4450" spc="85">
                <a:solidFill>
                  <a:srgbClr val="083454"/>
                </a:solidFill>
                <a:latin typeface="Calibri"/>
                <a:cs typeface="Calibri"/>
              </a:rPr>
              <a:t>and</a:t>
            </a:r>
            <a:r>
              <a:rPr dirty="0" sz="4450" spc="-140">
                <a:solidFill>
                  <a:srgbClr val="083454"/>
                </a:solidFill>
                <a:latin typeface="Calibri"/>
                <a:cs typeface="Calibri"/>
              </a:rPr>
              <a:t> </a:t>
            </a:r>
            <a:r>
              <a:rPr dirty="0" sz="4450" spc="50">
                <a:solidFill>
                  <a:srgbClr val="0A385B"/>
                </a:solidFill>
                <a:latin typeface="Calibri"/>
                <a:cs typeface="Calibri"/>
              </a:rPr>
              <a:t>Cleaning</a:t>
            </a:r>
            <a:r>
              <a:rPr dirty="0" sz="4450" spc="-80">
                <a:solidFill>
                  <a:srgbClr val="0A385B"/>
                </a:solidFill>
                <a:latin typeface="Calibri"/>
                <a:cs typeface="Calibri"/>
              </a:rPr>
              <a:t> </a:t>
            </a:r>
            <a:r>
              <a:rPr dirty="0" sz="4450">
                <a:solidFill>
                  <a:srgbClr val="083354"/>
                </a:solidFill>
                <a:latin typeface="Calibri"/>
                <a:cs typeface="Calibri"/>
              </a:rPr>
              <a:t>in</a:t>
            </a:r>
            <a:r>
              <a:rPr dirty="0" sz="4450" spc="-60">
                <a:solidFill>
                  <a:srgbClr val="083354"/>
                </a:solidFill>
                <a:latin typeface="Calibri"/>
                <a:cs typeface="Calibri"/>
              </a:rPr>
              <a:t> </a:t>
            </a:r>
            <a:r>
              <a:rPr dirty="0" sz="4450" spc="95">
                <a:solidFill>
                  <a:srgbClr val="073456"/>
                </a:solidFill>
                <a:latin typeface="Calibri"/>
                <a:cs typeface="Calibri"/>
              </a:rPr>
              <a:t>Excel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45428" y="2216855"/>
            <a:ext cx="7312659" cy="3338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1C1C1C"/>
                </a:solidFill>
                <a:latin typeface="Calibri"/>
                <a:cs typeface="Calibri"/>
              </a:rPr>
              <a:t>File</a:t>
            </a:r>
            <a:r>
              <a:rPr dirty="0" sz="3200" spc="-16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A1A1A"/>
                </a:solidFill>
                <a:latin typeface="Calibri"/>
                <a:cs typeface="Calibri"/>
              </a:rPr>
              <a:t>Validation</a:t>
            </a:r>
            <a:r>
              <a:rPr dirty="0" sz="320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1A1A1A"/>
                </a:solidFill>
                <a:latin typeface="Calibri"/>
                <a:cs typeface="Calibri"/>
              </a:rPr>
              <a:t>Checks</a:t>
            </a:r>
            <a:r>
              <a:rPr dirty="0" sz="3200" spc="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1C1C1C"/>
                </a:solidFill>
                <a:latin typeface="Calibri"/>
                <a:cs typeface="Calibri"/>
              </a:rPr>
              <a:t>(Before</a:t>
            </a:r>
            <a:r>
              <a:rPr dirty="0" sz="3200" spc="-5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181818"/>
                </a:solidFill>
                <a:latin typeface="Calibri"/>
                <a:cs typeface="Calibri"/>
              </a:rPr>
              <a:t>Loading)</a:t>
            </a:r>
            <a:endParaRPr sz="3200">
              <a:latin typeface="Calibri"/>
              <a:cs typeface="Calibri"/>
            </a:endParaRPr>
          </a:p>
          <a:p>
            <a:pPr marL="628015">
              <a:lnSpc>
                <a:spcPct val="100000"/>
              </a:lnSpc>
              <a:spcBef>
                <a:spcPts val="3409"/>
              </a:spcBef>
            </a:pPr>
            <a:r>
              <a:rPr dirty="0" sz="2600">
                <a:latin typeface="Calibri"/>
                <a:cs typeface="Calibri"/>
              </a:rPr>
              <a:t>File</a:t>
            </a:r>
            <a:r>
              <a:rPr dirty="0" sz="2600" spc="-1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Format: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 spc="-60">
                <a:latin typeface="Calibri"/>
                <a:cs typeface="Calibri"/>
              </a:rPr>
              <a:t>Is</a:t>
            </a:r>
            <a:r>
              <a:rPr dirty="0" sz="2600" spc="-1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it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25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correct‘.xtsx’</a:t>
            </a:r>
            <a:r>
              <a:rPr dirty="0" sz="2600" spc="-2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format?</a:t>
            </a:r>
            <a:endParaRPr sz="2600">
              <a:latin typeface="Calibri"/>
              <a:cs typeface="Calibri"/>
            </a:endParaRPr>
          </a:p>
          <a:p>
            <a:pPr marL="627380">
              <a:lnSpc>
                <a:spcPct val="100000"/>
              </a:lnSpc>
              <a:spcBef>
                <a:spcPts val="1180"/>
              </a:spcBef>
            </a:pPr>
            <a:r>
              <a:rPr dirty="0" sz="2600" spc="-35">
                <a:latin typeface="Calibri"/>
                <a:cs typeface="Calibri"/>
              </a:rPr>
              <a:t>Column</a:t>
            </a:r>
            <a:r>
              <a:rPr dirty="0" sz="2600" spc="-1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Integrity: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55">
                <a:latin typeface="Calibri"/>
                <a:cs typeface="Calibri"/>
              </a:rPr>
              <a:t>Are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-165">
                <a:latin typeface="Calibri"/>
                <a:cs typeface="Calibri"/>
              </a:rPr>
              <a:t> </a:t>
            </a:r>
            <a:r>
              <a:rPr dirty="0" sz="2600" spc="-90">
                <a:latin typeface="Calibri"/>
                <a:cs typeface="Calibri"/>
              </a:rPr>
              <a:t>expected</a:t>
            </a:r>
            <a:r>
              <a:rPr dirty="0" sz="2600" spc="120">
                <a:latin typeface="Calibri"/>
                <a:cs typeface="Calibri"/>
              </a:rPr>
              <a:t> </a:t>
            </a:r>
            <a:r>
              <a:rPr dirty="0" sz="2600" spc="-85">
                <a:latin typeface="Calibri"/>
                <a:cs typeface="Calibri"/>
              </a:rPr>
              <a:t>columns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60">
                <a:latin typeface="Calibri"/>
                <a:cs typeface="Calibri"/>
              </a:rPr>
              <a:t>present?</a:t>
            </a:r>
            <a:endParaRPr sz="2600">
              <a:latin typeface="Calibri"/>
              <a:cs typeface="Calibri"/>
            </a:endParaRPr>
          </a:p>
          <a:p>
            <a:pPr marL="638175" marR="530225" indent="-9525">
              <a:lnSpc>
                <a:spcPts val="2850"/>
              </a:lnSpc>
              <a:spcBef>
                <a:spcPts val="1500"/>
              </a:spcBef>
            </a:pPr>
            <a:r>
              <a:rPr dirty="0" sz="2550" spc="-20">
                <a:latin typeface="Calibri"/>
                <a:cs typeface="Calibri"/>
              </a:rPr>
              <a:t>Data</a:t>
            </a:r>
            <a:r>
              <a:rPr dirty="0" sz="2550" spc="-12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Types:</a:t>
            </a:r>
            <a:r>
              <a:rPr dirty="0" sz="2550" spc="-95">
                <a:latin typeface="Calibri"/>
                <a:cs typeface="Calibri"/>
              </a:rPr>
              <a:t> Do</a:t>
            </a:r>
            <a:r>
              <a:rPr dirty="0" sz="2550" spc="-135">
                <a:latin typeface="Calibri"/>
                <a:cs typeface="Calibri"/>
              </a:rPr>
              <a:t> </a:t>
            </a:r>
            <a:r>
              <a:rPr dirty="0" sz="2550" spc="-45">
                <a:latin typeface="Calibri"/>
                <a:cs typeface="Calibri"/>
              </a:rPr>
              <a:t>columns</a:t>
            </a:r>
            <a:r>
              <a:rPr dirty="0" sz="2550" spc="-30">
                <a:latin typeface="Calibri"/>
                <a:cs typeface="Calibri"/>
              </a:rPr>
              <a:t> </a:t>
            </a:r>
            <a:r>
              <a:rPr dirty="0" sz="2550" spc="-60">
                <a:latin typeface="Calibri"/>
                <a:cs typeface="Calibri"/>
              </a:rPr>
              <a:t>contain</a:t>
            </a:r>
            <a:r>
              <a:rPr dirty="0" sz="2550" spc="20">
                <a:latin typeface="Calibri"/>
                <a:cs typeface="Calibri"/>
              </a:rPr>
              <a:t> </a:t>
            </a:r>
            <a:r>
              <a:rPr dirty="0" sz="2550" spc="-75">
                <a:latin typeface="Calibri"/>
                <a:cs typeface="Calibri"/>
              </a:rPr>
              <a:t>the</a:t>
            </a:r>
            <a:r>
              <a:rPr dirty="0" sz="2550" spc="-130">
                <a:latin typeface="Calibri"/>
                <a:cs typeface="Calibri"/>
              </a:rPr>
              <a:t> </a:t>
            </a:r>
            <a:r>
              <a:rPr dirty="0" sz="2550" spc="-75">
                <a:latin typeface="Calibri"/>
                <a:cs typeface="Calibri"/>
              </a:rPr>
              <a:t>correct</a:t>
            </a:r>
            <a:r>
              <a:rPr dirty="0" sz="2550" spc="-30">
                <a:latin typeface="Calibri"/>
                <a:cs typeface="Calibri"/>
              </a:rPr>
              <a:t> </a:t>
            </a:r>
            <a:r>
              <a:rPr dirty="0" sz="2550" spc="-20">
                <a:latin typeface="Calibri"/>
                <a:cs typeface="Calibri"/>
              </a:rPr>
              <a:t>data </a:t>
            </a:r>
            <a:r>
              <a:rPr dirty="0" sz="2550" spc="-65">
                <a:latin typeface="Calibri"/>
                <a:cs typeface="Calibri"/>
              </a:rPr>
              <a:t>types</a:t>
            </a:r>
            <a:r>
              <a:rPr dirty="0" sz="2550" spc="-20">
                <a:latin typeface="Calibri"/>
                <a:cs typeface="Calibri"/>
              </a:rPr>
              <a:t> </a:t>
            </a:r>
            <a:r>
              <a:rPr dirty="0" sz="2550" spc="-85">
                <a:latin typeface="Calibri"/>
                <a:cs typeface="Calibri"/>
              </a:rPr>
              <a:t>(date,</a:t>
            </a:r>
            <a:r>
              <a:rPr dirty="0" sz="2550" spc="-110">
                <a:latin typeface="Calibri"/>
                <a:cs typeface="Calibri"/>
              </a:rPr>
              <a:t> </a:t>
            </a:r>
            <a:r>
              <a:rPr dirty="0" sz="2550" spc="-90">
                <a:latin typeface="Calibri"/>
                <a:cs typeface="Calibri"/>
              </a:rPr>
              <a:t>number,</a:t>
            </a:r>
            <a:r>
              <a:rPr dirty="0" sz="2550" spc="-10">
                <a:latin typeface="Calibri"/>
                <a:cs typeface="Calibri"/>
              </a:rPr>
              <a:t> text)?</a:t>
            </a:r>
            <a:endParaRPr sz="2550">
              <a:latin typeface="Calibri"/>
              <a:cs typeface="Calibri"/>
            </a:endParaRPr>
          </a:p>
          <a:p>
            <a:pPr marL="629920">
              <a:lnSpc>
                <a:spcPct val="100000"/>
              </a:lnSpc>
              <a:spcBef>
                <a:spcPts val="1330"/>
              </a:spcBef>
            </a:pPr>
            <a:r>
              <a:rPr dirty="0" sz="2400" spc="114">
                <a:latin typeface="Calibri"/>
                <a:cs typeface="Calibri"/>
              </a:rPr>
              <a:t>File</a:t>
            </a:r>
            <a:r>
              <a:rPr dirty="0" sz="2400" spc="-229">
                <a:latin typeface="Calibri"/>
                <a:cs typeface="Calibri"/>
              </a:rPr>
              <a:t> </a:t>
            </a:r>
            <a:r>
              <a:rPr dirty="0" sz="2400" spc="75">
                <a:latin typeface="Calibri"/>
                <a:cs typeface="Calibri"/>
              </a:rPr>
              <a:t>Health: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70">
                <a:latin typeface="Calibri"/>
                <a:cs typeface="Calibri"/>
              </a:rPr>
              <a:t>Is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file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free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corruption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errors?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2757161" y="6927056"/>
          <a:ext cx="3889375" cy="542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7470"/>
                <a:gridCol w="1442084"/>
                <a:gridCol w="1023620"/>
              </a:tblGrid>
              <a:tr h="271145">
                <a:tc>
                  <a:txBody>
                    <a:bodyPr/>
                    <a:lstStyle/>
                    <a:p>
                      <a:pPr marL="190500">
                        <a:lnSpc>
                          <a:spcPts val="1775"/>
                        </a:lnSpc>
                      </a:pPr>
                      <a:r>
                        <a:rPr dirty="0" sz="1850" spc="-10">
                          <a:latin typeface="Calibri"/>
                          <a:cs typeface="Calibri"/>
                        </a:rPr>
                        <a:t>Country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ts val="1775"/>
                        </a:lnSpc>
                      </a:pPr>
                      <a:r>
                        <a:rPr dirty="0" sz="1850" spc="-20">
                          <a:latin typeface="Calibri"/>
                          <a:cs typeface="Calibri"/>
                        </a:rPr>
                        <a:t>Date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1775"/>
                        </a:lnSpc>
                      </a:pPr>
                      <a:r>
                        <a:rPr dirty="0" sz="1850" spc="50">
                          <a:latin typeface="Calibri"/>
                          <a:cs typeface="Calibri"/>
                        </a:rPr>
                        <a:t>Sales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2039"/>
                        </a:lnSpc>
                      </a:pPr>
                      <a:r>
                        <a:rPr dirty="0" sz="1850" spc="-10">
                          <a:latin typeface="Calibri"/>
                          <a:cs typeface="Calibri"/>
                        </a:rPr>
                        <a:t>london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2039"/>
                        </a:lnSpc>
                      </a:pPr>
                      <a:r>
                        <a:rPr dirty="0" sz="1850" spc="-10">
                          <a:latin typeface="Calibri"/>
                          <a:cs typeface="Calibri"/>
                        </a:rPr>
                        <a:t>01/03/24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ts val="2039"/>
                        </a:lnSpc>
                      </a:pPr>
                      <a:r>
                        <a:rPr dirty="0" sz="1850" spc="-20">
                          <a:latin typeface="Calibri"/>
                          <a:cs typeface="Calibri"/>
                        </a:rPr>
                        <a:t>1000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2754951" y="7447756"/>
          <a:ext cx="12454890" cy="1143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1565"/>
                <a:gridCol w="2240280"/>
                <a:gridCol w="3049904"/>
                <a:gridCol w="3263900"/>
                <a:gridCol w="1809750"/>
                <a:gridCol w="923290"/>
              </a:tblGrid>
              <a:tr h="27749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4640">
                        <a:lnSpc>
                          <a:spcPts val="1775"/>
                        </a:lnSpc>
                      </a:pPr>
                      <a:r>
                        <a:rPr dirty="0" sz="1850" spc="-10">
                          <a:latin typeface="Calibri"/>
                          <a:cs typeface="Calibri"/>
                        </a:rPr>
                        <a:t>London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ts val="1775"/>
                        </a:lnSpc>
                      </a:pPr>
                      <a:r>
                        <a:rPr dirty="0" sz="1850" spc="-40">
                          <a:latin typeface="Calibri"/>
                          <a:cs typeface="Calibri"/>
                        </a:rPr>
                        <a:t>2024-</a:t>
                      </a:r>
                      <a:r>
                        <a:rPr dirty="0" sz="1850" spc="-35">
                          <a:latin typeface="Calibri"/>
                          <a:cs typeface="Calibri"/>
                        </a:rPr>
                        <a:t>03-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01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75"/>
                        </a:lnSpc>
                      </a:pPr>
                      <a:r>
                        <a:rPr dirty="0" sz="1850" spc="-20">
                          <a:latin typeface="Calibri"/>
                          <a:cs typeface="Calibri"/>
                        </a:rPr>
                        <a:t>1000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87655">
                <a:tc>
                  <a:txBody>
                    <a:bodyPr/>
                    <a:lstStyle/>
                    <a:p>
                      <a:pPr marL="31750">
                        <a:lnSpc>
                          <a:spcPts val="2090"/>
                        </a:lnSpc>
                      </a:pPr>
                      <a:r>
                        <a:rPr dirty="0" sz="1850" spc="-10">
                          <a:latin typeface="Calibri"/>
                          <a:cs typeface="Calibri"/>
                        </a:rPr>
                        <a:t>London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1785" marR="377825">
                        <a:lnSpc>
                          <a:spcPts val="2090"/>
                        </a:lnSpc>
                      </a:pPr>
                      <a:r>
                        <a:rPr dirty="0" sz="1850" spc="-60">
                          <a:latin typeface="Calibri"/>
                          <a:cs typeface="Calibri"/>
                        </a:rPr>
                        <a:t>Mar-</a:t>
                      </a:r>
                      <a:r>
                        <a:rPr dirty="0" sz="1850" spc="-55">
                          <a:latin typeface="Calibri"/>
                          <a:cs typeface="Calibri"/>
                        </a:rPr>
                        <a:t>02-</a:t>
                      </a:r>
                      <a:r>
                        <a:rPr dirty="0" sz="1850" spc="-20">
                          <a:latin typeface="Calibri"/>
                          <a:cs typeface="Calibri"/>
                        </a:rPr>
                        <a:t>2024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2745">
                        <a:lnSpc>
                          <a:spcPts val="2090"/>
                        </a:lnSpc>
                      </a:pPr>
                      <a:r>
                        <a:rPr dirty="0" sz="1850" spc="-20">
                          <a:latin typeface="Calibri"/>
                          <a:cs typeface="Calibri"/>
                        </a:rPr>
                        <a:t>1500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4640">
                        <a:lnSpc>
                          <a:spcPts val="2090"/>
                        </a:lnSpc>
                      </a:pPr>
                      <a:r>
                        <a:rPr dirty="0" sz="1850" spc="-10">
                          <a:latin typeface="Calibri"/>
                          <a:cs typeface="Calibri"/>
                        </a:rPr>
                        <a:t>London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ts val="2090"/>
                        </a:lnSpc>
                      </a:pPr>
                      <a:r>
                        <a:rPr dirty="0" sz="1850">
                          <a:latin typeface="Calibri"/>
                          <a:cs typeface="Calibri"/>
                        </a:rPr>
                        <a:t>202403-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02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400">
                        <a:lnSpc>
                          <a:spcPts val="2090"/>
                        </a:lnSpc>
                      </a:pPr>
                      <a:r>
                        <a:rPr dirty="0" sz="1850" spc="-20">
                          <a:latin typeface="Calibri"/>
                          <a:cs typeface="Calibri"/>
                        </a:rPr>
                        <a:t>1500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78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155"/>
                        </a:lnSpc>
                      </a:pPr>
                      <a:r>
                        <a:rPr dirty="0" sz="1850" spc="-10">
                          <a:latin typeface="Times New Roman"/>
                          <a:cs typeface="Times New Roman"/>
                        </a:rPr>
                        <a:t>Total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2120"/>
                        </a:lnSpc>
                        <a:tabLst>
                          <a:tab pos="678815" algn="l"/>
                          <a:tab pos="2231390" algn="l"/>
                        </a:tabLst>
                      </a:pPr>
                      <a:r>
                        <a:rPr dirty="0" u="heavy" sz="1850">
                          <a:uFill>
                            <a:solidFill>
                              <a:srgbClr val="6B6B64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u="heavy" sz="1850" spc="-30">
                          <a:uFill>
                            <a:solidFill>
                              <a:srgbClr val="6B6B64"/>
                            </a:solidFill>
                          </a:uFill>
                          <a:latin typeface="Times New Roman"/>
                          <a:cs typeface="Times New Roman"/>
                        </a:rPr>
                        <a:t>03-03-</a:t>
                      </a:r>
                      <a:r>
                        <a:rPr dirty="0" u="heavy" sz="1850" spc="-25">
                          <a:uFill>
                            <a:solidFill>
                              <a:srgbClr val="6B6B64"/>
                            </a:solidFill>
                          </a:uFill>
                          <a:latin typeface="Times New Roman"/>
                          <a:cs typeface="Times New Roman"/>
                        </a:rPr>
                        <a:t>24</a:t>
                      </a:r>
                      <a:r>
                        <a:rPr dirty="0" u="heavy" sz="1850">
                          <a:uFill>
                            <a:solidFill>
                              <a:srgbClr val="6B6B64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ts val="2120"/>
                        </a:lnSpc>
                      </a:pPr>
                      <a:r>
                        <a:rPr dirty="0" u="heavy" sz="1850" spc="-20">
                          <a:uFill>
                            <a:solidFill>
                              <a:srgbClr val="6B6B64"/>
                            </a:solidFill>
                          </a:uFill>
                          <a:latin typeface="Times New Roman"/>
                          <a:cs typeface="Times New Roman"/>
                        </a:rPr>
                        <a:t>2000</a:t>
                      </a:r>
                      <a:r>
                        <a:rPr dirty="0" u="heavy" sz="1850" spc="500">
                          <a:uFill>
                            <a:solidFill>
                              <a:srgbClr val="6B6B64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351155">
                        <a:lnSpc>
                          <a:spcPts val="2155"/>
                        </a:lnSpc>
                        <a:spcBef>
                          <a:spcPts val="180"/>
                        </a:spcBef>
                      </a:pPr>
                      <a:r>
                        <a:rPr dirty="0" sz="1850" spc="-20">
                          <a:latin typeface="Times New Roman"/>
                          <a:cs typeface="Times New Roman"/>
                        </a:rPr>
                        <a:t>4S00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46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850" spc="-10">
                          <a:latin typeface="Calibri"/>
                          <a:cs typeface="Calibri"/>
                        </a:rPr>
                        <a:t>London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marL="30226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850" spc="-30">
                          <a:latin typeface="Calibri"/>
                          <a:cs typeface="Calibri"/>
                        </a:rPr>
                        <a:t>2024-03-</a:t>
                      </a:r>
                      <a:r>
                        <a:rPr dirty="0" sz="1850" spc="-25">
                          <a:latin typeface="Calibri"/>
                          <a:cs typeface="Calibri"/>
                        </a:rPr>
                        <a:t>03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algn="r" marR="2667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850" spc="-20">
                          <a:latin typeface="Calibri"/>
                          <a:cs typeface="Calibri"/>
                        </a:rPr>
                        <a:t>2000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2700"/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4214394" y="8912930"/>
            <a:ext cx="90360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10">
                <a:latin typeface="Calibri"/>
                <a:cs typeface="Calibri"/>
              </a:rPr>
              <a:t>Before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215232" y="2260952"/>
            <a:ext cx="6847840" cy="36023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135">
                <a:solidFill>
                  <a:srgbClr val="1A1A1A"/>
                </a:solidFill>
                <a:latin typeface="Calibri"/>
                <a:cs typeface="Calibri"/>
              </a:rPr>
              <a:t>Data</a:t>
            </a:r>
            <a:r>
              <a:rPr dirty="0" sz="2850" spc="-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850" spc="165">
                <a:solidFill>
                  <a:srgbClr val="1A1A1A"/>
                </a:solidFill>
                <a:latin typeface="Calibri"/>
                <a:cs typeface="Calibri"/>
              </a:rPr>
              <a:t>Cleaning</a:t>
            </a:r>
            <a:r>
              <a:rPr dirty="0" sz="2850" spc="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850" spc="140">
                <a:solidFill>
                  <a:srgbClr val="1A1A1A"/>
                </a:solidFill>
                <a:latin typeface="Calibri"/>
                <a:cs typeface="Calibri"/>
              </a:rPr>
              <a:t>Activities</a:t>
            </a:r>
            <a:endParaRPr sz="2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850">
              <a:latin typeface="Calibri"/>
              <a:cs typeface="Calibri"/>
            </a:endParaRPr>
          </a:p>
          <a:p>
            <a:pPr marL="1123950" marR="711835" indent="-3175">
              <a:lnSpc>
                <a:spcPts val="2850"/>
              </a:lnSpc>
            </a:pPr>
            <a:r>
              <a:rPr dirty="0" sz="2500" spc="-70">
                <a:latin typeface="Calibri"/>
                <a:cs typeface="Calibri"/>
              </a:rPr>
              <a:t>Remove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 spc="-55">
                <a:latin typeface="Calibri"/>
                <a:cs typeface="Calibri"/>
              </a:rPr>
              <a:t>extraneous</a:t>
            </a:r>
            <a:r>
              <a:rPr dirty="0" sz="2500" spc="-25">
                <a:latin typeface="Calibri"/>
                <a:cs typeface="Calibri"/>
              </a:rPr>
              <a:t> rows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(e.g„</a:t>
            </a:r>
            <a:r>
              <a:rPr dirty="0" sz="2500" spc="-145">
                <a:latin typeface="Calibri"/>
                <a:cs typeface="Calibri"/>
              </a:rPr>
              <a:t> </a:t>
            </a:r>
            <a:r>
              <a:rPr dirty="0" sz="2500" spc="-30">
                <a:latin typeface="Calibri"/>
                <a:cs typeface="Calibri"/>
              </a:rPr>
              <a:t>repeated </a:t>
            </a:r>
            <a:r>
              <a:rPr dirty="0" sz="2500" spc="-45">
                <a:latin typeface="Calibri"/>
                <a:cs typeface="Calibri"/>
              </a:rPr>
              <a:t>headers,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totals).</a:t>
            </a:r>
            <a:endParaRPr sz="2500">
              <a:latin typeface="Calibri"/>
              <a:cs typeface="Calibri"/>
            </a:endParaRPr>
          </a:p>
          <a:p>
            <a:pPr marL="1122045" marR="5080" indent="-3810">
              <a:lnSpc>
                <a:spcPts val="2850"/>
              </a:lnSpc>
              <a:spcBef>
                <a:spcPts val="1950"/>
              </a:spcBef>
            </a:pPr>
            <a:r>
              <a:rPr dirty="0" sz="2700" spc="-140">
                <a:latin typeface="Calibri"/>
                <a:cs typeface="Calibri"/>
              </a:rPr>
              <a:t>Correct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 spc="-90">
                <a:latin typeface="Calibri"/>
                <a:cs typeface="Calibri"/>
              </a:rPr>
              <a:t>spelling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100">
                <a:latin typeface="Calibri"/>
                <a:cs typeface="Calibri"/>
              </a:rPr>
              <a:t>inconsistencies</a:t>
            </a:r>
            <a:r>
              <a:rPr dirty="0" sz="2700" spc="-165">
                <a:latin typeface="Calibri"/>
                <a:cs typeface="Calibri"/>
              </a:rPr>
              <a:t> </a:t>
            </a:r>
            <a:r>
              <a:rPr dirty="0" sz="2700" spc="-120">
                <a:latin typeface="Calibri"/>
                <a:cs typeface="Calibri"/>
              </a:rPr>
              <a:t>(e.g.,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90">
                <a:latin typeface="Calibri"/>
                <a:cs typeface="Calibri"/>
              </a:rPr>
              <a:t>Country </a:t>
            </a:r>
            <a:r>
              <a:rPr dirty="0" sz="2700" spc="-155">
                <a:latin typeface="Calibri"/>
                <a:cs typeface="Calibri"/>
              </a:rPr>
              <a:t>names,</a:t>
            </a:r>
            <a:r>
              <a:rPr dirty="0" sz="2700" spc="-15">
                <a:latin typeface="Calibri"/>
                <a:cs typeface="Calibri"/>
              </a:rPr>
              <a:t> </a:t>
            </a:r>
            <a:r>
              <a:rPr dirty="0" sz="2700" spc="-125">
                <a:latin typeface="Calibri"/>
                <a:cs typeface="Calibri"/>
              </a:rPr>
              <a:t>Product</a:t>
            </a:r>
            <a:r>
              <a:rPr dirty="0" sz="2700" spc="3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names).</a:t>
            </a:r>
            <a:endParaRPr sz="2700">
              <a:latin typeface="Calibri"/>
              <a:cs typeface="Calibri"/>
            </a:endParaRPr>
          </a:p>
          <a:p>
            <a:pPr marL="1123950" marR="526415" indent="-635">
              <a:lnSpc>
                <a:spcPts val="2850"/>
              </a:lnSpc>
              <a:spcBef>
                <a:spcPts val="1950"/>
              </a:spcBef>
            </a:pPr>
            <a:r>
              <a:rPr dirty="0" sz="2550" spc="-50">
                <a:latin typeface="Calibri"/>
                <a:cs typeface="Calibri"/>
              </a:rPr>
              <a:t>Standardise</a:t>
            </a:r>
            <a:r>
              <a:rPr dirty="0" sz="2550" spc="-60">
                <a:latin typeface="Calibri"/>
                <a:cs typeface="Calibri"/>
              </a:rPr>
              <a:t> </a:t>
            </a:r>
            <a:r>
              <a:rPr dirty="0" sz="2550" spc="-80">
                <a:latin typeface="Calibri"/>
                <a:cs typeface="Calibri"/>
              </a:rPr>
              <a:t>formats</a:t>
            </a:r>
            <a:r>
              <a:rPr dirty="0" sz="2550" spc="-60">
                <a:latin typeface="Calibri"/>
                <a:cs typeface="Calibri"/>
              </a:rPr>
              <a:t> </a:t>
            </a:r>
            <a:r>
              <a:rPr dirty="0" sz="2550" spc="-80">
                <a:latin typeface="Calibri"/>
                <a:cs typeface="Calibri"/>
              </a:rPr>
              <a:t>for</a:t>
            </a:r>
            <a:r>
              <a:rPr dirty="0" sz="2550" spc="-165">
                <a:latin typeface="Calibri"/>
                <a:cs typeface="Calibri"/>
              </a:rPr>
              <a:t> </a:t>
            </a:r>
            <a:r>
              <a:rPr dirty="0" sz="2550" spc="-45">
                <a:latin typeface="Calibri"/>
                <a:cs typeface="Calibri"/>
              </a:rPr>
              <a:t>consistency</a:t>
            </a:r>
            <a:r>
              <a:rPr dirty="0" sz="2550" spc="7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(e.g., </a:t>
            </a:r>
            <a:r>
              <a:rPr dirty="0" sz="2550" spc="-85">
                <a:latin typeface="Calibri"/>
                <a:cs typeface="Calibri"/>
              </a:rPr>
              <a:t>uniform</a:t>
            </a:r>
            <a:r>
              <a:rPr dirty="0" sz="2550" spc="-5">
                <a:latin typeface="Calibri"/>
                <a:cs typeface="Calibri"/>
              </a:rPr>
              <a:t> </a:t>
            </a:r>
            <a:r>
              <a:rPr dirty="0" sz="2550" spc="-65">
                <a:latin typeface="Calibri"/>
                <a:cs typeface="Calibri"/>
              </a:rPr>
              <a:t>date</a:t>
            </a:r>
            <a:r>
              <a:rPr dirty="0" sz="2550" spc="-45">
                <a:latin typeface="Calibri"/>
                <a:cs typeface="Calibri"/>
              </a:rPr>
              <a:t> </a:t>
            </a:r>
            <a:r>
              <a:rPr dirty="0" sz="2550" spc="-90">
                <a:latin typeface="Calibri"/>
                <a:cs typeface="Calibri"/>
              </a:rPr>
              <a:t>format,</a:t>
            </a:r>
            <a:r>
              <a:rPr dirty="0" sz="2550" spc="-95">
                <a:latin typeface="Calibri"/>
                <a:cs typeface="Calibri"/>
              </a:rPr>
              <a:t> </a:t>
            </a:r>
            <a:r>
              <a:rPr dirty="0" sz="2550" spc="-90">
                <a:latin typeface="Calibri"/>
                <a:cs typeface="Calibri"/>
              </a:rPr>
              <a:t>proper</a:t>
            </a:r>
            <a:r>
              <a:rPr dirty="0" sz="2550" spc="20">
                <a:latin typeface="Calibri"/>
                <a:cs typeface="Calibri"/>
              </a:rPr>
              <a:t> </a:t>
            </a:r>
            <a:r>
              <a:rPr dirty="0" sz="2550" spc="-80">
                <a:latin typeface="Calibri"/>
                <a:cs typeface="Calibri"/>
              </a:rPr>
              <a:t>text</a:t>
            </a:r>
            <a:r>
              <a:rPr dirty="0" sz="2550" spc="-7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case).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101222" y="7058025"/>
            <a:ext cx="852169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50">
                <a:latin typeface="Calibri"/>
                <a:cs typeface="Calibri"/>
              </a:rPr>
              <a:t>Country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616501" y="7058025"/>
            <a:ext cx="49339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20">
                <a:latin typeface="Calibri"/>
                <a:cs typeface="Calibri"/>
              </a:rPr>
              <a:t>Date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898244" y="7058025"/>
            <a:ext cx="56896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75">
                <a:latin typeface="Calibri"/>
                <a:cs typeface="Calibri"/>
              </a:rPr>
              <a:t>Sales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503896" y="8912930"/>
            <a:ext cx="68516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10">
                <a:latin typeface="Calibri"/>
                <a:cs typeface="Calibri"/>
              </a:rPr>
              <a:t>After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109162" y="9404702"/>
            <a:ext cx="12217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G</a:t>
            </a:r>
            <a:r>
              <a:rPr dirty="0" sz="1600" spc="420">
                <a:latin typeface="Times New Roman"/>
                <a:cs typeface="Times New Roman"/>
              </a:rPr>
              <a:t> </a:t>
            </a:r>
            <a:r>
              <a:rPr dirty="0" sz="1600" spc="-160">
                <a:latin typeface="Times New Roman"/>
                <a:cs typeface="Times New Roman"/>
              </a:rPr>
              <a:t>NotebookLtVi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6210300"/>
            <a:ext cx="762000" cy="635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5041900"/>
            <a:ext cx="774700" cy="7747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09100" y="6616700"/>
            <a:ext cx="685800" cy="7874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92500" y="6616700"/>
            <a:ext cx="622300" cy="787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9800" y="4152900"/>
            <a:ext cx="850900" cy="5588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3300" y="3136900"/>
            <a:ext cx="749300" cy="647700"/>
          </a:xfrm>
          <a:prstGeom prst="rect">
            <a:avLst/>
          </a:prstGeom>
        </p:spPr>
      </p:pic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0244666" y="5223933"/>
          <a:ext cx="5676900" cy="310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8600"/>
                <a:gridCol w="2819400"/>
              </a:tblGrid>
              <a:tr h="751205">
                <a:tc>
                  <a:txBody>
                    <a:bodyPr/>
                    <a:lstStyle/>
                    <a:p>
                      <a:pPr algn="ctr" marL="9080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2850" spc="-7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</a:t>
                      </a:r>
                      <a:r>
                        <a:rPr dirty="0" sz="2850" spc="-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50" spc="-10">
                          <a:solidFill>
                            <a:srgbClr val="F9F9F9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endParaRPr sz="2850">
                        <a:latin typeface="Calibri"/>
                        <a:cs typeface="Calibri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486074"/>
                      </a:solidFill>
                      <a:prstDash val="solid"/>
                    </a:lnL>
                    <a:lnR w="12700">
                      <a:solidFill>
                        <a:srgbClr val="486074"/>
                      </a:solidFill>
                      <a:prstDash val="solid"/>
                    </a:lnR>
                    <a:lnT w="12700">
                      <a:solidFill>
                        <a:srgbClr val="486074"/>
                      </a:solidFill>
                      <a:prstDash val="solid"/>
                    </a:lnT>
                    <a:solidFill>
                      <a:srgbClr val="465D7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26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2850" spc="-9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r>
                        <a:rPr dirty="0" sz="285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50" spc="-10">
                          <a:solidFill>
                            <a:srgbClr val="A8C1D6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endParaRPr sz="2850">
                        <a:latin typeface="Calibri"/>
                        <a:cs typeface="Calibri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486074"/>
                      </a:solidFill>
                      <a:prstDash val="solid"/>
                    </a:lnL>
                    <a:lnR w="12700">
                      <a:solidFill>
                        <a:srgbClr val="486074"/>
                      </a:solidFill>
                      <a:prstDash val="solid"/>
                    </a:lnR>
                    <a:lnT w="12700">
                      <a:solidFill>
                        <a:srgbClr val="486074"/>
                      </a:solidFill>
                      <a:prstDash val="solid"/>
                    </a:lnT>
                    <a:solidFill>
                      <a:srgbClr val="465D70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86074"/>
                      </a:solidFill>
                      <a:prstDash val="solid"/>
                    </a:lnL>
                    <a:lnR w="12700">
                      <a:solidFill>
                        <a:srgbClr val="486074"/>
                      </a:solidFill>
                      <a:prstDash val="solid"/>
                    </a:lnR>
                    <a:lnB w="12700">
                      <a:solidFill>
                        <a:srgbClr val="486074"/>
                      </a:solidFill>
                      <a:prstDash val="solid"/>
                    </a:lnB>
                    <a:solidFill>
                      <a:srgbClr val="465D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86074"/>
                      </a:solidFill>
                      <a:prstDash val="solid"/>
                    </a:lnL>
                    <a:lnR w="12700">
                      <a:solidFill>
                        <a:srgbClr val="486074"/>
                      </a:solidFill>
                      <a:prstDash val="solid"/>
                    </a:lnR>
                    <a:lnB w="12700">
                      <a:solidFill>
                        <a:srgbClr val="486074"/>
                      </a:solidFill>
                      <a:prstDash val="solid"/>
                    </a:lnB>
                    <a:solidFill>
                      <a:srgbClr val="465D70"/>
                    </a:solidFill>
                  </a:tcPr>
                </a:tc>
              </a:tr>
              <a:tr h="753110">
                <a:tc>
                  <a:txBody>
                    <a:bodyPr/>
                    <a:lstStyle/>
                    <a:p>
                      <a:pPr algn="ctr" marL="8699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2950" spc="-20">
                          <a:latin typeface="Calibri"/>
                          <a:cs typeface="Calibri"/>
                        </a:rPr>
                        <a:t>City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486074"/>
                      </a:solidFill>
                      <a:prstDash val="solid"/>
                    </a:lnL>
                    <a:lnR w="12700">
                      <a:solidFill>
                        <a:srgbClr val="486074"/>
                      </a:solidFill>
                      <a:prstDash val="solid"/>
                    </a:lnR>
                    <a:lnT w="12700">
                      <a:solidFill>
                        <a:srgbClr val="486074"/>
                      </a:solidFill>
                      <a:prstDash val="solid"/>
                    </a:lnT>
                    <a:lnB w="12700">
                      <a:solidFill>
                        <a:srgbClr val="48607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254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950" spc="-90">
                          <a:latin typeface="Calibri"/>
                          <a:cs typeface="Calibri"/>
                        </a:rPr>
                        <a:t>City_Narne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B="0" marT="71755">
                    <a:lnL w="12700">
                      <a:solidFill>
                        <a:srgbClr val="486074"/>
                      </a:solidFill>
                      <a:prstDash val="solid"/>
                    </a:lnL>
                    <a:lnR w="12700">
                      <a:solidFill>
                        <a:srgbClr val="486074"/>
                      </a:solidFill>
                      <a:prstDash val="solid"/>
                    </a:lnR>
                    <a:lnT w="12700">
                      <a:solidFill>
                        <a:srgbClr val="486074"/>
                      </a:solidFill>
                      <a:prstDash val="solid"/>
                    </a:lnT>
                    <a:lnB w="12700">
                      <a:solidFill>
                        <a:srgbClr val="486074"/>
                      </a:solidFill>
                      <a:prstDash val="soli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algn="ctr" marL="78740">
                        <a:lnSpc>
                          <a:spcPct val="100000"/>
                        </a:lnSpc>
                        <a:spcBef>
                          <a:spcPts val="830"/>
                        </a:spcBef>
                        <a:tabLst>
                          <a:tab pos="560705" algn="l"/>
                        </a:tabLst>
                      </a:pPr>
                      <a:r>
                        <a:rPr dirty="0" sz="2850" spc="-25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2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850" spc="-20">
                          <a:latin typeface="Calibri"/>
                          <a:cs typeface="Calibri"/>
                        </a:rPr>
                        <a:t>Date</a:t>
                      </a:r>
                      <a:endParaRPr sz="2850">
                        <a:latin typeface="Calibri"/>
                        <a:cs typeface="Calibri"/>
                      </a:endParaRPr>
                    </a:p>
                  </a:txBody>
                  <a:tcPr marL="0" marR="0" marB="0" marT="105410">
                    <a:lnL w="12700">
                      <a:solidFill>
                        <a:srgbClr val="486074"/>
                      </a:solidFill>
                      <a:prstDash val="solid"/>
                    </a:lnL>
                    <a:lnR w="12700">
                      <a:solidFill>
                        <a:srgbClr val="486074"/>
                      </a:solidFill>
                      <a:prstDash val="solid"/>
                    </a:lnR>
                    <a:lnT w="12700">
                      <a:solidFill>
                        <a:srgbClr val="486074"/>
                      </a:solidFill>
                      <a:prstDash val="solid"/>
                    </a:lnT>
                    <a:lnB w="12700">
                      <a:solidFill>
                        <a:srgbClr val="48607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8740">
                        <a:lnSpc>
                          <a:spcPct val="100000"/>
                        </a:lnSpc>
                        <a:spcBef>
                          <a:spcPts val="880"/>
                        </a:spcBef>
                        <a:tabLst>
                          <a:tab pos="1017905" algn="l"/>
                        </a:tabLst>
                      </a:pPr>
                      <a:r>
                        <a:rPr dirty="0" sz="2850" spc="-10">
                          <a:latin typeface="Calibri"/>
                          <a:cs typeface="Calibri"/>
                        </a:rPr>
                        <a:t>Order</a:t>
                      </a:r>
                      <a:r>
                        <a:rPr dirty="0" sz="2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850" spc="-20">
                          <a:latin typeface="Calibri"/>
                          <a:cs typeface="Calibri"/>
                        </a:rPr>
                        <a:t>Date</a:t>
                      </a:r>
                      <a:endParaRPr sz="285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12700">
                      <a:solidFill>
                        <a:srgbClr val="486074"/>
                      </a:solidFill>
                      <a:prstDash val="solid"/>
                    </a:lnL>
                    <a:lnR w="12700">
                      <a:solidFill>
                        <a:srgbClr val="486074"/>
                      </a:solidFill>
                      <a:prstDash val="solid"/>
                    </a:lnR>
                    <a:lnT w="12700">
                      <a:solidFill>
                        <a:srgbClr val="486074"/>
                      </a:solidFill>
                      <a:prstDash val="solid"/>
                    </a:lnT>
                    <a:lnB w="12700">
                      <a:solidFill>
                        <a:srgbClr val="486074"/>
                      </a:solidFill>
                      <a:prstDash val="solid"/>
                    </a:lnB>
                  </a:tcPr>
                </a:tc>
              </a:tr>
              <a:tr h="778510">
                <a:tc>
                  <a:txBody>
                    <a:bodyPr/>
                    <a:lstStyle/>
                    <a:p>
                      <a:pPr algn="ctr" marL="74930">
                        <a:lnSpc>
                          <a:spcPct val="100000"/>
                        </a:lnSpc>
                        <a:spcBef>
                          <a:spcPts val="800"/>
                        </a:spcBef>
                        <a:tabLst>
                          <a:tab pos="824230" algn="l"/>
                        </a:tabLst>
                      </a:pPr>
                      <a:r>
                        <a:rPr dirty="0" sz="2950" spc="-2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Rest</a:t>
                      </a:r>
                      <a:r>
                        <a:rPr dirty="0" sz="295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950" spc="-2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486074"/>
                      </a:solidFill>
                      <a:prstDash val="solid"/>
                    </a:lnL>
                    <a:lnR w="12700">
                      <a:solidFill>
                        <a:srgbClr val="486074"/>
                      </a:solidFill>
                      <a:prstDash val="solid"/>
                    </a:lnR>
                    <a:lnT w="12700">
                      <a:solidFill>
                        <a:srgbClr val="486074"/>
                      </a:solidFill>
                      <a:prstDash val="solid"/>
                    </a:lnT>
                    <a:lnB w="12700">
                      <a:solidFill>
                        <a:srgbClr val="48607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ct val="100000"/>
                        </a:lnSpc>
                        <a:spcBef>
                          <a:spcPts val="800"/>
                        </a:spcBef>
                        <a:tabLst>
                          <a:tab pos="1713230" algn="l"/>
                        </a:tabLst>
                      </a:pPr>
                      <a:r>
                        <a:rPr dirty="0" sz="2950" spc="-25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Restaurant</a:t>
                      </a:r>
                      <a:r>
                        <a:rPr dirty="0" sz="295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950" spc="-2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295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486074"/>
                      </a:solidFill>
                      <a:prstDash val="solid"/>
                    </a:lnL>
                    <a:lnR w="12700">
                      <a:solidFill>
                        <a:srgbClr val="486074"/>
                      </a:solidFill>
                      <a:prstDash val="solid"/>
                    </a:lnR>
                    <a:lnT w="12700">
                      <a:solidFill>
                        <a:srgbClr val="486074"/>
                      </a:solidFill>
                      <a:prstDash val="solid"/>
                    </a:lnT>
                    <a:lnB w="12700">
                      <a:solidFill>
                        <a:srgbClr val="48607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7009" rIns="0" bIns="0" rtlCol="0" vert="horz">
            <a:spAutoFit/>
          </a:bodyPr>
          <a:lstStyle/>
          <a:p>
            <a:pPr marL="196215">
              <a:lnSpc>
                <a:spcPct val="100000"/>
              </a:lnSpc>
              <a:spcBef>
                <a:spcPts val="135"/>
              </a:spcBef>
            </a:pPr>
            <a:r>
              <a:rPr dirty="0" spc="-40">
                <a:solidFill>
                  <a:srgbClr val="083154"/>
                </a:solidFill>
                <a:latin typeface="Calibri"/>
                <a:cs typeface="Calibri"/>
              </a:rPr>
              <a:t>Profiling</a:t>
            </a:r>
            <a:r>
              <a:rPr dirty="0" spc="-280">
                <a:solidFill>
                  <a:srgbClr val="083154"/>
                </a:solidFill>
                <a:latin typeface="Calibri"/>
                <a:cs typeface="Calibri"/>
              </a:rPr>
              <a:t> </a:t>
            </a:r>
            <a:r>
              <a:rPr dirty="0" spc="-150">
                <a:solidFill>
                  <a:srgbClr val="0A3864"/>
                </a:solidFill>
                <a:latin typeface="Calibri"/>
                <a:cs typeface="Calibri"/>
              </a:rPr>
              <a:t>and</a:t>
            </a:r>
            <a:r>
              <a:rPr dirty="0" spc="-220">
                <a:solidFill>
                  <a:srgbClr val="0A3864"/>
                </a:solidFill>
                <a:latin typeface="Calibri"/>
                <a:cs typeface="Calibri"/>
              </a:rPr>
              <a:t> </a:t>
            </a:r>
            <a:r>
              <a:rPr dirty="0" spc="-220">
                <a:solidFill>
                  <a:srgbClr val="013160"/>
                </a:solidFill>
                <a:latin typeface="Calibri"/>
                <a:cs typeface="Calibri"/>
              </a:rPr>
              <a:t>Mapping:</a:t>
            </a:r>
            <a:r>
              <a:rPr dirty="0" spc="-90">
                <a:solidFill>
                  <a:srgbClr val="013160"/>
                </a:solidFill>
                <a:latin typeface="Calibri"/>
                <a:cs typeface="Calibri"/>
              </a:rPr>
              <a:t> </a:t>
            </a:r>
            <a:r>
              <a:rPr dirty="0" spc="-125">
                <a:solidFill>
                  <a:srgbClr val="08345B"/>
                </a:solidFill>
                <a:latin typeface="Calibri"/>
                <a:cs typeface="Calibri"/>
              </a:rPr>
              <a:t>Understanding</a:t>
            </a:r>
            <a:r>
              <a:rPr dirty="0" spc="-25">
                <a:solidFill>
                  <a:srgbClr val="08345B"/>
                </a:solidFill>
                <a:latin typeface="Calibri"/>
                <a:cs typeface="Calibri"/>
              </a:rPr>
              <a:t> </a:t>
            </a:r>
            <a:r>
              <a:rPr dirty="0" spc="-160">
                <a:solidFill>
                  <a:srgbClr val="073662"/>
                </a:solidFill>
                <a:latin typeface="Calibri"/>
                <a:cs typeface="Calibri"/>
              </a:rPr>
              <a:t>the</a:t>
            </a:r>
            <a:r>
              <a:rPr dirty="0" spc="-210">
                <a:solidFill>
                  <a:srgbClr val="073662"/>
                </a:solidFill>
                <a:latin typeface="Calibri"/>
                <a:cs typeface="Calibri"/>
              </a:rPr>
              <a:t> </a:t>
            </a:r>
            <a:r>
              <a:rPr dirty="0" spc="-155">
                <a:solidFill>
                  <a:srgbClr val="08345E"/>
                </a:solidFill>
                <a:latin typeface="Calibri"/>
                <a:cs typeface="Calibri"/>
              </a:rPr>
              <a:t>Data's</a:t>
            </a:r>
            <a:r>
              <a:rPr dirty="0" spc="-150">
                <a:solidFill>
                  <a:srgbClr val="08345E"/>
                </a:solidFill>
                <a:latin typeface="Calibri"/>
                <a:cs typeface="Calibri"/>
              </a:rPr>
              <a:t> </a:t>
            </a:r>
            <a:r>
              <a:rPr dirty="0" spc="-434">
                <a:solidFill>
                  <a:srgbClr val="033460"/>
                </a:solidFill>
                <a:latin typeface="Calibri"/>
                <a:cs typeface="Calibri"/>
              </a:rPr>
              <a:t>DNA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864665" y="1978377"/>
            <a:ext cx="15256510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470265" algn="l"/>
              </a:tabLst>
            </a:pPr>
            <a:r>
              <a:rPr dirty="0" sz="3450" spc="-165">
                <a:latin typeface="Calibri"/>
                <a:cs typeface="Calibri"/>
              </a:rPr>
              <a:t>Data</a:t>
            </a:r>
            <a:r>
              <a:rPr dirty="0" sz="3450" spc="-40">
                <a:latin typeface="Calibri"/>
                <a:cs typeface="Calibri"/>
              </a:rPr>
              <a:t> </a:t>
            </a:r>
            <a:r>
              <a:rPr dirty="0" sz="3450" spc="-80">
                <a:latin typeface="Calibri"/>
                <a:cs typeface="Calibri"/>
              </a:rPr>
              <a:t>Profiling</a:t>
            </a:r>
            <a:r>
              <a:rPr dirty="0" sz="3450" spc="-30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-</a:t>
            </a:r>
            <a:r>
              <a:rPr dirty="0" sz="3450" spc="340">
                <a:latin typeface="Calibri"/>
                <a:cs typeface="Calibri"/>
              </a:rPr>
              <a:t> </a:t>
            </a:r>
            <a:r>
              <a:rPr dirty="0" sz="3450" spc="-254">
                <a:latin typeface="Calibri"/>
                <a:cs typeface="Calibri"/>
              </a:rPr>
              <a:t>What</a:t>
            </a:r>
            <a:r>
              <a:rPr dirty="0" sz="3450" spc="-90">
                <a:latin typeface="Calibri"/>
                <a:cs typeface="Calibri"/>
              </a:rPr>
              <a:t> </a:t>
            </a:r>
            <a:r>
              <a:rPr dirty="0" sz="3450" spc="-180">
                <a:latin typeface="Calibri"/>
                <a:cs typeface="Calibri"/>
              </a:rPr>
              <a:t>Does</a:t>
            </a:r>
            <a:r>
              <a:rPr dirty="0" sz="3450" spc="10">
                <a:latin typeface="Calibri"/>
                <a:cs typeface="Calibri"/>
              </a:rPr>
              <a:t> </a:t>
            </a:r>
            <a:r>
              <a:rPr dirty="0" sz="3450" spc="-135">
                <a:latin typeface="Calibri"/>
                <a:cs typeface="Calibri"/>
              </a:rPr>
              <a:t>the</a:t>
            </a:r>
            <a:r>
              <a:rPr dirty="0" sz="3450" spc="-250">
                <a:latin typeface="Calibri"/>
                <a:cs typeface="Calibri"/>
              </a:rPr>
              <a:t> </a:t>
            </a:r>
            <a:r>
              <a:rPr dirty="0" sz="3450" spc="-140">
                <a:latin typeface="Calibri"/>
                <a:cs typeface="Calibri"/>
              </a:rPr>
              <a:t>Data</a:t>
            </a:r>
            <a:r>
              <a:rPr dirty="0" sz="3450" spc="-110">
                <a:latin typeface="Calibri"/>
                <a:cs typeface="Calibri"/>
              </a:rPr>
              <a:t> </a:t>
            </a:r>
            <a:r>
              <a:rPr dirty="0" sz="3450" spc="-100">
                <a:latin typeface="Calibri"/>
                <a:cs typeface="Calibri"/>
              </a:rPr>
              <a:t>Tell</a:t>
            </a:r>
            <a:r>
              <a:rPr dirty="0" sz="3450" spc="-300">
                <a:latin typeface="Calibri"/>
                <a:cs typeface="Calibri"/>
              </a:rPr>
              <a:t> </a:t>
            </a:r>
            <a:r>
              <a:rPr dirty="0" sz="3450" spc="-25">
                <a:latin typeface="Calibri"/>
                <a:cs typeface="Calibri"/>
              </a:rPr>
              <a:t>Us?</a:t>
            </a:r>
            <a:r>
              <a:rPr dirty="0" sz="3450">
                <a:latin typeface="Calibri"/>
                <a:cs typeface="Calibri"/>
              </a:rPr>
              <a:t>	</a:t>
            </a:r>
            <a:r>
              <a:rPr dirty="0" sz="3450" spc="-170">
                <a:latin typeface="Calibri"/>
                <a:cs typeface="Calibri"/>
              </a:rPr>
              <a:t>Data</a:t>
            </a:r>
            <a:r>
              <a:rPr dirty="0" sz="3450" spc="-95">
                <a:latin typeface="Calibri"/>
                <a:cs typeface="Calibri"/>
              </a:rPr>
              <a:t> </a:t>
            </a:r>
            <a:r>
              <a:rPr dirty="0" sz="3450" spc="-180">
                <a:latin typeface="Calibri"/>
                <a:cs typeface="Calibri"/>
              </a:rPr>
              <a:t>Mapping</a:t>
            </a:r>
            <a:r>
              <a:rPr dirty="0" sz="3450" spc="8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-Aligning</a:t>
            </a:r>
            <a:r>
              <a:rPr dirty="0" sz="3450" spc="45">
                <a:latin typeface="Calibri"/>
                <a:cs typeface="Calibri"/>
              </a:rPr>
              <a:t> </a:t>
            </a:r>
            <a:r>
              <a:rPr dirty="0" sz="3450" spc="-120">
                <a:latin typeface="Calibri"/>
                <a:cs typeface="Calibri"/>
              </a:rPr>
              <a:t>Source</a:t>
            </a:r>
            <a:r>
              <a:rPr dirty="0" sz="3450" spc="65">
                <a:latin typeface="Calibri"/>
                <a:cs typeface="Calibri"/>
              </a:rPr>
              <a:t> </a:t>
            </a:r>
            <a:r>
              <a:rPr dirty="0" sz="3450" spc="-190">
                <a:latin typeface="Calibri"/>
                <a:cs typeface="Calibri"/>
              </a:rPr>
              <a:t>to</a:t>
            </a:r>
            <a:r>
              <a:rPr dirty="0" sz="3450" spc="-35">
                <a:latin typeface="Calibri"/>
                <a:cs typeface="Calibri"/>
              </a:rPr>
              <a:t> </a:t>
            </a:r>
            <a:r>
              <a:rPr dirty="0" sz="3450" spc="-75">
                <a:latin typeface="Calibri"/>
                <a:cs typeface="Calibri"/>
              </a:rPr>
              <a:t>Target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025486" y="3188405"/>
            <a:ext cx="544576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155">
                <a:latin typeface="Calibri"/>
                <a:cs typeface="Calibri"/>
              </a:rPr>
              <a:t>Count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200">
                <a:latin typeface="Calibri"/>
                <a:cs typeface="Calibri"/>
              </a:rPr>
              <a:t>number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85">
                <a:latin typeface="Calibri"/>
                <a:cs typeface="Calibri"/>
              </a:rPr>
              <a:t>of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 spc="-185">
                <a:latin typeface="Calibri"/>
                <a:cs typeface="Calibri"/>
              </a:rPr>
              <a:t>rows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75">
                <a:latin typeface="Calibri"/>
                <a:cs typeface="Calibri"/>
              </a:rPr>
              <a:t>and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105">
                <a:latin typeface="Calibri"/>
                <a:cs typeface="Calibri"/>
              </a:rPr>
              <a:t>columns.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21846" y="4116916"/>
            <a:ext cx="5186045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195">
                <a:latin typeface="Calibri"/>
                <a:cs typeface="Calibri"/>
              </a:rPr>
              <a:t>Identify</a:t>
            </a:r>
            <a:r>
              <a:rPr dirty="0" sz="3300" spc="70">
                <a:latin typeface="Calibri"/>
                <a:cs typeface="Calibri"/>
              </a:rPr>
              <a:t> </a:t>
            </a:r>
            <a:r>
              <a:rPr dirty="0" sz="3300" spc="-215">
                <a:latin typeface="Calibri"/>
                <a:cs typeface="Calibri"/>
              </a:rPr>
              <a:t>unique</a:t>
            </a:r>
            <a:r>
              <a:rPr dirty="0" sz="3300" spc="-50">
                <a:latin typeface="Calibri"/>
                <a:cs typeface="Calibri"/>
              </a:rPr>
              <a:t> </a:t>
            </a:r>
            <a:r>
              <a:rPr dirty="0" sz="3300" spc="-190">
                <a:latin typeface="Calibri"/>
                <a:cs typeface="Calibri"/>
              </a:rPr>
              <a:t>values</a:t>
            </a:r>
            <a:r>
              <a:rPr dirty="0" sz="3300" spc="10">
                <a:latin typeface="Calibri"/>
                <a:cs typeface="Calibri"/>
              </a:rPr>
              <a:t> </a:t>
            </a:r>
            <a:r>
              <a:rPr dirty="0" sz="3300" spc="-235">
                <a:latin typeface="Calibri"/>
                <a:cs typeface="Calibri"/>
              </a:rPr>
              <a:t>per</a:t>
            </a:r>
            <a:r>
              <a:rPr dirty="0" sz="3300" spc="-114">
                <a:latin typeface="Calibri"/>
                <a:cs typeface="Calibri"/>
              </a:rPr>
              <a:t> </a:t>
            </a:r>
            <a:r>
              <a:rPr dirty="0" sz="3300" spc="-160">
                <a:latin typeface="Calibri"/>
                <a:cs typeface="Calibri"/>
              </a:rPr>
              <a:t>column.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30387" y="5023555"/>
            <a:ext cx="6993255" cy="37782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109345" marR="1405890" indent="-3810">
              <a:lnSpc>
                <a:spcPts val="3300"/>
              </a:lnSpc>
              <a:spcBef>
                <a:spcPts val="655"/>
              </a:spcBef>
            </a:pPr>
            <a:r>
              <a:rPr dirty="0" sz="3200" spc="-195">
                <a:latin typeface="Calibri"/>
                <a:cs typeface="Calibri"/>
              </a:rPr>
              <a:t>Determine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280">
                <a:latin typeface="Calibri"/>
                <a:cs typeface="Calibri"/>
              </a:rPr>
              <a:t>Min/Ivlax</a:t>
            </a:r>
            <a:r>
              <a:rPr dirty="0" sz="3200" spc="65">
                <a:latin typeface="Calibri"/>
                <a:cs typeface="Calibri"/>
              </a:rPr>
              <a:t> </a:t>
            </a:r>
            <a:r>
              <a:rPr dirty="0" sz="3200" spc="-140">
                <a:latin typeface="Calibri"/>
                <a:cs typeface="Calibri"/>
              </a:rPr>
              <a:t>values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60">
                <a:latin typeface="Calibri"/>
                <a:cs typeface="Calibri"/>
              </a:rPr>
              <a:t>for </a:t>
            </a:r>
            <a:r>
              <a:rPr dirty="0" sz="3200" spc="-155">
                <a:latin typeface="Calibri"/>
                <a:cs typeface="Calibri"/>
              </a:rPr>
              <a:t>numerical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fields.</a:t>
            </a:r>
            <a:endParaRPr sz="3200">
              <a:latin typeface="Calibri"/>
              <a:cs typeface="Calibri"/>
            </a:endParaRPr>
          </a:p>
          <a:p>
            <a:pPr marL="1106805">
              <a:lnSpc>
                <a:spcPct val="100000"/>
              </a:lnSpc>
              <a:spcBef>
                <a:spcPts val="2490"/>
              </a:spcBef>
            </a:pPr>
            <a:r>
              <a:rPr dirty="0" sz="3250" spc="-180">
                <a:latin typeface="Calibri"/>
                <a:cs typeface="Calibri"/>
              </a:rPr>
              <a:t>Analyse</a:t>
            </a:r>
            <a:r>
              <a:rPr dirty="0" sz="3250" spc="30">
                <a:latin typeface="Calibri"/>
                <a:cs typeface="Calibri"/>
              </a:rPr>
              <a:t> </a:t>
            </a:r>
            <a:r>
              <a:rPr dirty="0" sz="3250" spc="-185">
                <a:latin typeface="Calibri"/>
                <a:cs typeface="Calibri"/>
              </a:rPr>
              <a:t>the</a:t>
            </a:r>
            <a:r>
              <a:rPr dirty="0" sz="3250" spc="-215">
                <a:latin typeface="Calibri"/>
                <a:cs typeface="Calibri"/>
              </a:rPr>
              <a:t> </a:t>
            </a:r>
            <a:r>
              <a:rPr dirty="0" sz="3250" spc="-140">
                <a:latin typeface="Calibri"/>
                <a:cs typeface="Calibri"/>
              </a:rPr>
              <a:t>overall</a:t>
            </a:r>
            <a:r>
              <a:rPr dirty="0" sz="3250" spc="-240">
                <a:latin typeface="Calibri"/>
                <a:cs typeface="Calibri"/>
              </a:rPr>
              <a:t> </a:t>
            </a:r>
            <a:r>
              <a:rPr dirty="0" sz="3250" spc="-145">
                <a:latin typeface="Calibri"/>
                <a:cs typeface="Calibri"/>
              </a:rPr>
              <a:t>distribution</a:t>
            </a:r>
            <a:r>
              <a:rPr dirty="0" sz="3250" spc="75">
                <a:latin typeface="Calibri"/>
                <a:cs typeface="Calibri"/>
              </a:rPr>
              <a:t> </a:t>
            </a:r>
            <a:r>
              <a:rPr dirty="0" sz="3250" spc="-145">
                <a:latin typeface="Calibri"/>
                <a:cs typeface="Calibri"/>
              </a:rPr>
              <a:t>of</a:t>
            </a:r>
            <a:r>
              <a:rPr dirty="0" sz="3250" spc="-180">
                <a:latin typeface="Calibri"/>
                <a:cs typeface="Calibri"/>
              </a:rPr>
              <a:t> </a:t>
            </a:r>
            <a:r>
              <a:rPr dirty="0" sz="3250" spc="-114">
                <a:latin typeface="Calibri"/>
                <a:cs typeface="Calibri"/>
              </a:rPr>
              <a:t>data.</a:t>
            </a:r>
            <a:endParaRPr sz="3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325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</a:pPr>
            <a:r>
              <a:rPr dirty="0" sz="3100" spc="-10">
                <a:latin typeface="Calibri"/>
                <a:cs typeface="Calibri"/>
              </a:rPr>
              <a:t>Key</a:t>
            </a:r>
            <a:r>
              <a:rPr dirty="0" sz="3100" spc="-165">
                <a:latin typeface="Calibri"/>
                <a:cs typeface="Calibri"/>
              </a:rPr>
              <a:t> </a:t>
            </a:r>
            <a:r>
              <a:rPr dirty="0" sz="3100" spc="-50">
                <a:latin typeface="Calibri"/>
                <a:cs typeface="Calibri"/>
              </a:rPr>
              <a:t>questions</a:t>
            </a:r>
            <a:r>
              <a:rPr dirty="0" sz="3100" spc="-75">
                <a:latin typeface="Calibri"/>
                <a:cs typeface="Calibri"/>
              </a:rPr>
              <a:t> </a:t>
            </a:r>
            <a:r>
              <a:rPr dirty="0" sz="3100" spc="-90">
                <a:latin typeface="Calibri"/>
                <a:cs typeface="Calibri"/>
              </a:rPr>
              <a:t>answered</a:t>
            </a:r>
            <a:r>
              <a:rPr dirty="0" sz="3100" spc="-55">
                <a:latin typeface="Calibri"/>
                <a:cs typeface="Calibri"/>
              </a:rPr>
              <a:t> </a:t>
            </a:r>
            <a:r>
              <a:rPr dirty="0" sz="3100" spc="-70">
                <a:latin typeface="Calibri"/>
                <a:cs typeface="Calibri"/>
              </a:rPr>
              <a:t>by</a:t>
            </a:r>
            <a:r>
              <a:rPr dirty="0" sz="3100" spc="-13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profiling:</a:t>
            </a:r>
            <a:endParaRPr sz="3100">
              <a:latin typeface="Calibri"/>
              <a:cs typeface="Calibri"/>
            </a:endParaRPr>
          </a:p>
          <a:p>
            <a:pPr marL="14604" marR="1094105" indent="-2540">
              <a:lnSpc>
                <a:spcPts val="3300"/>
              </a:lnSpc>
              <a:spcBef>
                <a:spcPts val="1440"/>
              </a:spcBef>
            </a:pPr>
            <a:r>
              <a:rPr dirty="0" sz="3250" spc="-30">
                <a:latin typeface="Calibri"/>
                <a:cs typeface="Calibri"/>
              </a:rPr>
              <a:t>Is</a:t>
            </a:r>
            <a:r>
              <a:rPr dirty="0" sz="3250" spc="-195">
                <a:latin typeface="Calibri"/>
                <a:cs typeface="Calibri"/>
              </a:rPr>
              <a:t> </a:t>
            </a:r>
            <a:r>
              <a:rPr dirty="0" sz="3250" spc="-215">
                <a:latin typeface="Calibri"/>
                <a:cs typeface="Calibri"/>
              </a:rPr>
              <a:t>the</a:t>
            </a:r>
            <a:r>
              <a:rPr dirty="0" sz="3250" spc="-125">
                <a:latin typeface="Calibri"/>
                <a:cs typeface="Calibri"/>
              </a:rPr>
              <a:t> </a:t>
            </a:r>
            <a:r>
              <a:rPr dirty="0" sz="3250" spc="-185">
                <a:latin typeface="Calibri"/>
                <a:cs typeface="Calibri"/>
              </a:rPr>
              <a:t>data</a:t>
            </a:r>
            <a:r>
              <a:rPr dirty="0" sz="3250" spc="-130">
                <a:latin typeface="Calibri"/>
                <a:cs typeface="Calibri"/>
              </a:rPr>
              <a:t> </a:t>
            </a:r>
            <a:r>
              <a:rPr dirty="0" sz="3250" spc="-180">
                <a:latin typeface="Calibri"/>
                <a:cs typeface="Calibri"/>
              </a:rPr>
              <a:t>usable?</a:t>
            </a:r>
            <a:r>
              <a:rPr dirty="0" sz="3250" spc="15">
                <a:latin typeface="Calibri"/>
                <a:cs typeface="Calibri"/>
              </a:rPr>
              <a:t> </a:t>
            </a:r>
            <a:r>
              <a:rPr dirty="0" sz="3250" spc="-30">
                <a:latin typeface="Calibri"/>
                <a:cs typeface="Calibri"/>
              </a:rPr>
              <a:t>Is</a:t>
            </a:r>
            <a:r>
              <a:rPr dirty="0" sz="3250" spc="-275">
                <a:latin typeface="Calibri"/>
                <a:cs typeface="Calibri"/>
              </a:rPr>
              <a:t> </a:t>
            </a:r>
            <a:r>
              <a:rPr dirty="0" sz="3250" spc="-150">
                <a:latin typeface="Calibri"/>
                <a:cs typeface="Calibri"/>
              </a:rPr>
              <a:t>anything</a:t>
            </a:r>
            <a:r>
              <a:rPr dirty="0" sz="3250">
                <a:latin typeface="Calibri"/>
                <a:cs typeface="Calibri"/>
              </a:rPr>
              <a:t> </a:t>
            </a:r>
            <a:r>
              <a:rPr dirty="0" sz="3250" spc="-145">
                <a:latin typeface="Calibri"/>
                <a:cs typeface="Calibri"/>
              </a:rPr>
              <a:t>missing? </a:t>
            </a:r>
            <a:r>
              <a:rPr dirty="0" sz="3250" spc="-225">
                <a:latin typeface="Calibri"/>
                <a:cs typeface="Calibri"/>
              </a:rPr>
              <a:t>Are</a:t>
            </a:r>
            <a:r>
              <a:rPr dirty="0" sz="3250" spc="-110">
                <a:latin typeface="Calibri"/>
                <a:cs typeface="Calibri"/>
              </a:rPr>
              <a:t> </a:t>
            </a:r>
            <a:r>
              <a:rPr dirty="0" sz="3250" spc="-225">
                <a:latin typeface="Calibri"/>
                <a:cs typeface="Calibri"/>
              </a:rPr>
              <a:t>there</a:t>
            </a:r>
            <a:r>
              <a:rPr dirty="0" sz="3250" spc="-20">
                <a:latin typeface="Calibri"/>
                <a:cs typeface="Calibri"/>
              </a:rPr>
              <a:t> </a:t>
            </a:r>
            <a:r>
              <a:rPr dirty="0" sz="3250" spc="-165">
                <a:latin typeface="Calibri"/>
                <a:cs typeface="Calibri"/>
              </a:rPr>
              <a:t>abnormal</a:t>
            </a:r>
            <a:r>
              <a:rPr dirty="0" sz="3250" spc="-114">
                <a:latin typeface="Calibri"/>
                <a:cs typeface="Calibri"/>
              </a:rPr>
              <a:t> </a:t>
            </a:r>
            <a:r>
              <a:rPr dirty="0" sz="3250" spc="-30">
                <a:latin typeface="Calibri"/>
                <a:cs typeface="Calibri"/>
              </a:rPr>
              <a:t>values?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312388" y="3008136"/>
            <a:ext cx="7411084" cy="147193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24130" marR="5080" indent="-12065">
              <a:lnSpc>
                <a:spcPct val="98000"/>
              </a:lnSpc>
              <a:spcBef>
                <a:spcPts val="190"/>
              </a:spcBef>
            </a:pPr>
            <a:r>
              <a:rPr dirty="0" sz="3250" spc="-125">
                <a:latin typeface="Calibri"/>
                <a:cs typeface="Calibri"/>
              </a:rPr>
              <a:t>Purpose:</a:t>
            </a:r>
            <a:r>
              <a:rPr dirty="0" sz="3250" spc="-10">
                <a:latin typeface="Calibri"/>
                <a:cs typeface="Calibri"/>
              </a:rPr>
              <a:t> </a:t>
            </a:r>
            <a:r>
              <a:rPr dirty="0" sz="3250" spc="-175">
                <a:latin typeface="Calibri"/>
                <a:cs typeface="Calibri"/>
              </a:rPr>
              <a:t>Ensures</a:t>
            </a:r>
            <a:r>
              <a:rPr dirty="0" sz="3250" spc="-80">
                <a:latin typeface="Calibri"/>
                <a:cs typeface="Calibri"/>
              </a:rPr>
              <a:t> </a:t>
            </a:r>
            <a:r>
              <a:rPr dirty="0" sz="3250" spc="-155">
                <a:latin typeface="Calibri"/>
                <a:cs typeface="Calibri"/>
              </a:rPr>
              <a:t>consistency</a:t>
            </a:r>
            <a:r>
              <a:rPr dirty="0" sz="3250" spc="100">
                <a:latin typeface="Calibri"/>
                <a:cs typeface="Calibri"/>
              </a:rPr>
              <a:t> </a:t>
            </a:r>
            <a:r>
              <a:rPr dirty="0" sz="3250" spc="-215">
                <a:latin typeface="Calibri"/>
                <a:cs typeface="Calibri"/>
              </a:rPr>
              <a:t>before</a:t>
            </a:r>
            <a:r>
              <a:rPr dirty="0" sz="3250" spc="-90">
                <a:latin typeface="Calibri"/>
                <a:cs typeface="Calibri"/>
              </a:rPr>
              <a:t> </a:t>
            </a:r>
            <a:r>
              <a:rPr dirty="0" sz="3250" spc="-135">
                <a:latin typeface="Calibri"/>
                <a:cs typeface="Calibri"/>
              </a:rPr>
              <a:t>loading</a:t>
            </a:r>
            <a:r>
              <a:rPr dirty="0" sz="3250" spc="-40">
                <a:latin typeface="Calibri"/>
                <a:cs typeface="Calibri"/>
              </a:rPr>
              <a:t> </a:t>
            </a:r>
            <a:r>
              <a:rPr dirty="0" sz="3250" spc="-114">
                <a:latin typeface="Calibri"/>
                <a:cs typeface="Calibri"/>
              </a:rPr>
              <a:t>into </a:t>
            </a:r>
            <a:r>
              <a:rPr dirty="0" sz="3250" spc="-185">
                <a:latin typeface="Calibri"/>
                <a:cs typeface="Calibri"/>
              </a:rPr>
              <a:t>the</a:t>
            </a:r>
            <a:r>
              <a:rPr dirty="0" sz="3250" spc="-229">
                <a:latin typeface="Calibri"/>
                <a:cs typeface="Calibri"/>
              </a:rPr>
              <a:t> </a:t>
            </a:r>
            <a:r>
              <a:rPr dirty="0" sz="3250" spc="-180">
                <a:latin typeface="Calibri"/>
                <a:cs typeface="Calibri"/>
              </a:rPr>
              <a:t>database</a:t>
            </a:r>
            <a:r>
              <a:rPr dirty="0" sz="3250" spc="-80">
                <a:latin typeface="Calibri"/>
                <a:cs typeface="Calibri"/>
              </a:rPr>
              <a:t> </a:t>
            </a:r>
            <a:r>
              <a:rPr dirty="0" sz="3250" spc="-155">
                <a:latin typeface="Calibri"/>
                <a:cs typeface="Calibri"/>
              </a:rPr>
              <a:t>by</a:t>
            </a:r>
            <a:r>
              <a:rPr dirty="0" sz="3250" spc="-125">
                <a:latin typeface="Calibri"/>
                <a:cs typeface="Calibri"/>
              </a:rPr>
              <a:t> </a:t>
            </a:r>
            <a:r>
              <a:rPr dirty="0" sz="3250" spc="-114">
                <a:latin typeface="Calibri"/>
                <a:cs typeface="Calibri"/>
              </a:rPr>
              <a:t>aligning</a:t>
            </a:r>
            <a:r>
              <a:rPr dirty="0" sz="3250" spc="35">
                <a:latin typeface="Calibri"/>
                <a:cs typeface="Calibri"/>
              </a:rPr>
              <a:t> </a:t>
            </a:r>
            <a:r>
              <a:rPr dirty="0" sz="3250" spc="-190">
                <a:latin typeface="Calibri"/>
                <a:cs typeface="Calibri"/>
              </a:rPr>
              <a:t>source</a:t>
            </a:r>
            <a:r>
              <a:rPr dirty="0" sz="3250" spc="-114">
                <a:latin typeface="Calibri"/>
                <a:cs typeface="Calibri"/>
              </a:rPr>
              <a:t> </a:t>
            </a:r>
            <a:r>
              <a:rPr dirty="0" sz="3250" spc="-185">
                <a:latin typeface="Calibri"/>
                <a:cs typeface="Calibri"/>
              </a:rPr>
              <a:t>column</a:t>
            </a:r>
            <a:r>
              <a:rPr dirty="0" sz="3250" spc="-5">
                <a:latin typeface="Calibri"/>
                <a:cs typeface="Calibri"/>
              </a:rPr>
              <a:t> </a:t>
            </a:r>
            <a:r>
              <a:rPr dirty="0" sz="3250" spc="-10">
                <a:latin typeface="Calibri"/>
                <a:cs typeface="Calibri"/>
              </a:rPr>
              <a:t>names </a:t>
            </a:r>
            <a:r>
              <a:rPr dirty="0" sz="3100" spc="-120">
                <a:latin typeface="Calibri"/>
                <a:cs typeface="Calibri"/>
              </a:rPr>
              <a:t>with</a:t>
            </a:r>
            <a:r>
              <a:rPr dirty="0" sz="3100" spc="-160">
                <a:latin typeface="Calibri"/>
                <a:cs typeface="Calibri"/>
              </a:rPr>
              <a:t> </a:t>
            </a:r>
            <a:r>
              <a:rPr dirty="0" sz="3100" spc="-125">
                <a:latin typeface="Calibri"/>
                <a:cs typeface="Calibri"/>
              </a:rPr>
              <a:t>the</a:t>
            </a:r>
            <a:r>
              <a:rPr dirty="0" sz="3100" spc="-75">
                <a:latin typeface="Calibri"/>
                <a:cs typeface="Calibri"/>
              </a:rPr>
              <a:t> </a:t>
            </a:r>
            <a:r>
              <a:rPr dirty="0" sz="3100" spc="-90">
                <a:latin typeface="Calibri"/>
                <a:cs typeface="Calibri"/>
              </a:rPr>
              <a:t>standardised</a:t>
            </a:r>
            <a:r>
              <a:rPr dirty="0" sz="3100" spc="65">
                <a:latin typeface="Calibri"/>
                <a:cs typeface="Calibri"/>
              </a:rPr>
              <a:t> </a:t>
            </a:r>
            <a:r>
              <a:rPr dirty="0" sz="3100" spc="-145">
                <a:latin typeface="Calibri"/>
                <a:cs typeface="Calibri"/>
              </a:rPr>
              <a:t>target</a:t>
            </a:r>
            <a:r>
              <a:rPr dirty="0" sz="3100" spc="-30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schema.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4343400"/>
            <a:ext cx="4991100" cy="4724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5700" y="4343400"/>
            <a:ext cx="5003800" cy="4724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1600" y="4343400"/>
            <a:ext cx="4991100" cy="47244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05200" y="3098800"/>
            <a:ext cx="10464800" cy="7366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66900" y="2273300"/>
            <a:ext cx="13716000" cy="5842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4377" rIns="0" bIns="0" rtlCol="0" vert="horz">
            <a:spAutoFit/>
          </a:bodyPr>
          <a:lstStyle/>
          <a:p>
            <a:pPr marL="287655">
              <a:lnSpc>
                <a:spcPct val="100000"/>
              </a:lnSpc>
              <a:spcBef>
                <a:spcPts val="105"/>
              </a:spcBef>
            </a:pPr>
            <a:r>
              <a:rPr dirty="0" sz="5200" spc="-90">
                <a:solidFill>
                  <a:srgbClr val="053860"/>
                </a:solidFill>
                <a:latin typeface="Calibri"/>
                <a:cs typeface="Calibri"/>
              </a:rPr>
              <a:t>The</a:t>
            </a:r>
            <a:r>
              <a:rPr dirty="0" sz="5200" spc="-225">
                <a:solidFill>
                  <a:srgbClr val="053860"/>
                </a:solidFill>
                <a:latin typeface="Calibri"/>
                <a:cs typeface="Calibri"/>
              </a:rPr>
              <a:t> </a:t>
            </a:r>
            <a:r>
              <a:rPr dirty="0" sz="5200" spc="-20">
                <a:solidFill>
                  <a:srgbClr val="013356"/>
                </a:solidFill>
                <a:latin typeface="Calibri"/>
                <a:cs typeface="Calibri"/>
              </a:rPr>
              <a:t>Quality</a:t>
            </a:r>
            <a:r>
              <a:rPr dirty="0" sz="5200" spc="-275">
                <a:solidFill>
                  <a:srgbClr val="013356"/>
                </a:solidFill>
                <a:latin typeface="Calibri"/>
                <a:cs typeface="Calibri"/>
              </a:rPr>
              <a:t> </a:t>
            </a:r>
            <a:r>
              <a:rPr dirty="0" sz="5200" spc="-140">
                <a:solidFill>
                  <a:srgbClr val="033659"/>
                </a:solidFill>
                <a:latin typeface="Calibri"/>
                <a:cs typeface="Calibri"/>
              </a:rPr>
              <a:t>Gate:</a:t>
            </a:r>
            <a:r>
              <a:rPr dirty="0" sz="5200" spc="-155">
                <a:solidFill>
                  <a:srgbClr val="033659"/>
                </a:solidFill>
                <a:latin typeface="Calibri"/>
                <a:cs typeface="Calibri"/>
              </a:rPr>
              <a:t> </a:t>
            </a:r>
            <a:r>
              <a:rPr dirty="0" sz="5200" spc="-100">
                <a:solidFill>
                  <a:srgbClr val="03385E"/>
                </a:solidFill>
                <a:latin typeface="Calibri"/>
                <a:cs typeface="Calibri"/>
              </a:rPr>
              <a:t>A</a:t>
            </a:r>
            <a:r>
              <a:rPr dirty="0" sz="5200" spc="-260">
                <a:solidFill>
                  <a:srgbClr val="03385E"/>
                </a:solidFill>
                <a:latin typeface="Calibri"/>
                <a:cs typeface="Calibri"/>
              </a:rPr>
              <a:t> </a:t>
            </a:r>
            <a:r>
              <a:rPr dirty="0" sz="5200" spc="-55">
                <a:solidFill>
                  <a:srgbClr val="03345B"/>
                </a:solidFill>
                <a:latin typeface="Calibri"/>
                <a:cs typeface="Calibri"/>
              </a:rPr>
              <a:t>Zero-</a:t>
            </a:r>
            <a:r>
              <a:rPr dirty="0" sz="5200" spc="-60">
                <a:solidFill>
                  <a:srgbClr val="03345B"/>
                </a:solidFill>
                <a:latin typeface="Calibri"/>
                <a:cs typeface="Calibri"/>
              </a:rPr>
              <a:t>Tolerance</a:t>
            </a:r>
            <a:r>
              <a:rPr dirty="0" sz="5200" spc="-340">
                <a:solidFill>
                  <a:srgbClr val="03345B"/>
                </a:solidFill>
                <a:latin typeface="Calibri"/>
                <a:cs typeface="Calibri"/>
              </a:rPr>
              <a:t> </a:t>
            </a:r>
            <a:r>
              <a:rPr dirty="0" sz="5200" spc="-70">
                <a:solidFill>
                  <a:srgbClr val="01345B"/>
                </a:solidFill>
                <a:latin typeface="Calibri"/>
                <a:cs typeface="Calibri"/>
              </a:rPr>
              <a:t>Approach</a:t>
            </a:r>
            <a:r>
              <a:rPr dirty="0" sz="5200" spc="-10">
                <a:solidFill>
                  <a:srgbClr val="01345B"/>
                </a:solidFill>
                <a:latin typeface="Calibri"/>
                <a:cs typeface="Calibri"/>
              </a:rPr>
              <a:t> </a:t>
            </a:r>
            <a:r>
              <a:rPr dirty="0" sz="5200" spc="-100">
                <a:solidFill>
                  <a:srgbClr val="013456"/>
                </a:solidFill>
                <a:latin typeface="Calibri"/>
                <a:cs typeface="Calibri"/>
              </a:rPr>
              <a:t>to</a:t>
            </a:r>
            <a:r>
              <a:rPr dirty="0" sz="5200" spc="-340">
                <a:solidFill>
                  <a:srgbClr val="013456"/>
                </a:solidFill>
                <a:latin typeface="Calibri"/>
                <a:cs typeface="Calibri"/>
              </a:rPr>
              <a:t> </a:t>
            </a:r>
            <a:r>
              <a:rPr dirty="0" sz="5200" spc="-50">
                <a:solidFill>
                  <a:srgbClr val="053359"/>
                </a:solidFill>
                <a:latin typeface="Calibri"/>
                <a:cs typeface="Calibri"/>
              </a:rPr>
              <a:t>Data</a:t>
            </a:r>
            <a:r>
              <a:rPr dirty="0" sz="5200" spc="-240">
                <a:solidFill>
                  <a:srgbClr val="053359"/>
                </a:solidFill>
                <a:latin typeface="Calibri"/>
                <a:cs typeface="Calibri"/>
              </a:rPr>
              <a:t> </a:t>
            </a:r>
            <a:r>
              <a:rPr dirty="0" sz="5200" spc="-10">
                <a:solidFill>
                  <a:srgbClr val="053456"/>
                </a:solidFill>
                <a:latin typeface="Calibri"/>
                <a:cs typeface="Calibri"/>
              </a:rPr>
              <a:t>Issues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52274" y="6818841"/>
            <a:ext cx="4566285" cy="2317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7355">
              <a:lnSpc>
                <a:spcPct val="100000"/>
              </a:lnSpc>
              <a:spcBef>
                <a:spcPts val="105"/>
              </a:spcBef>
            </a:pPr>
            <a:r>
              <a:rPr dirty="0" sz="3950" spc="-110">
                <a:solidFill>
                  <a:srgbClr val="0C0C0C"/>
                </a:solidFill>
                <a:latin typeface="Calibri"/>
                <a:cs typeface="Calibri"/>
              </a:rPr>
              <a:t>MissingVa!ues</a:t>
            </a:r>
            <a:r>
              <a:rPr dirty="0" sz="3950" spc="-114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3950" spc="-125">
                <a:solidFill>
                  <a:srgbClr val="131313"/>
                </a:solidFill>
                <a:latin typeface="Calibri"/>
                <a:cs typeface="Calibri"/>
              </a:rPr>
              <a:t>(Nu!ls)</a:t>
            </a:r>
            <a:endParaRPr sz="3950">
              <a:latin typeface="Calibri"/>
              <a:cs typeface="Calibri"/>
            </a:endParaRPr>
          </a:p>
          <a:p>
            <a:pPr marL="12700">
              <a:lnSpc>
                <a:spcPts val="2715"/>
              </a:lnSpc>
              <a:spcBef>
                <a:spcPts val="1810"/>
              </a:spcBef>
              <a:tabLst>
                <a:tab pos="431165" algn="l"/>
              </a:tabLst>
            </a:pPr>
            <a:r>
              <a:rPr dirty="0" sz="2400" spc="-50">
                <a:solidFill>
                  <a:srgbClr val="003D69"/>
                </a:solidFill>
                <a:latin typeface="Calibri"/>
                <a:cs typeface="Calibri"/>
              </a:rPr>
              <a:t>@</a:t>
            </a:r>
            <a:r>
              <a:rPr dirty="0" sz="2400">
                <a:solidFill>
                  <a:srgbClr val="003D69"/>
                </a:solidFill>
                <a:latin typeface="Calibri"/>
                <a:cs typeface="Calibri"/>
              </a:rPr>
              <a:t>	</a:t>
            </a:r>
            <a:r>
              <a:rPr dirty="0" sz="2400" spc="-100">
                <a:latin typeface="Calibri"/>
                <a:cs typeface="Calibri"/>
              </a:rPr>
              <a:t>Identify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 spc="-135">
                <a:latin typeface="Calibri"/>
                <a:cs typeface="Calibri"/>
              </a:rPr>
              <a:t>empty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55">
                <a:latin typeface="Calibri"/>
                <a:cs typeface="Calibri"/>
              </a:rPr>
              <a:t>cells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60">
                <a:latin typeface="Calibri"/>
                <a:cs typeface="Calibri"/>
              </a:rPr>
              <a:t>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mandatory</a:t>
            </a:r>
            <a:endParaRPr sz="2400">
              <a:latin typeface="Calibri"/>
              <a:cs typeface="Calibri"/>
            </a:endParaRPr>
          </a:p>
          <a:p>
            <a:pPr marL="438784">
              <a:lnSpc>
                <a:spcPts val="2655"/>
              </a:lnSpc>
            </a:pPr>
            <a:r>
              <a:rPr dirty="0" sz="2350" spc="-65">
                <a:latin typeface="Calibri"/>
                <a:cs typeface="Calibri"/>
              </a:rPr>
              <a:t>fields</a:t>
            </a:r>
            <a:r>
              <a:rPr dirty="0" sz="2350" spc="35">
                <a:latin typeface="Calibri"/>
                <a:cs typeface="Calibri"/>
              </a:rPr>
              <a:t> </a:t>
            </a:r>
            <a:r>
              <a:rPr dirty="0" sz="2350" spc="-100">
                <a:latin typeface="Calibri"/>
                <a:cs typeface="Calibri"/>
              </a:rPr>
              <a:t>(State,</a:t>
            </a:r>
            <a:r>
              <a:rPr dirty="0" sz="2350" spc="-25">
                <a:latin typeface="Calibri"/>
                <a:cs typeface="Calibri"/>
              </a:rPr>
              <a:t> </a:t>
            </a:r>
            <a:r>
              <a:rPr dirty="0" sz="2350" spc="-60">
                <a:latin typeface="Calibri"/>
                <a:cs typeface="Calibri"/>
              </a:rPr>
              <a:t>City,</a:t>
            </a:r>
            <a:r>
              <a:rPr dirty="0" sz="2350" spc="-120">
                <a:latin typeface="Calibri"/>
                <a:cs typeface="Calibri"/>
              </a:rPr>
              <a:t> </a:t>
            </a:r>
            <a:r>
              <a:rPr dirty="0" sz="2350" spc="-40">
                <a:latin typeface="Calibri"/>
                <a:cs typeface="Calibri"/>
              </a:rPr>
              <a:t>Order_Date).</a:t>
            </a:r>
            <a:endParaRPr sz="2350">
              <a:latin typeface="Calibri"/>
              <a:cs typeface="Calibri"/>
            </a:endParaRPr>
          </a:p>
          <a:p>
            <a:pPr marL="434340" marR="51435" indent="-422275">
              <a:lnSpc>
                <a:spcPts val="2500"/>
              </a:lnSpc>
              <a:spcBef>
                <a:spcPts val="1130"/>
              </a:spcBef>
              <a:tabLst>
                <a:tab pos="431165" algn="l"/>
              </a:tabLst>
            </a:pPr>
            <a:r>
              <a:rPr dirty="0" sz="2400" spc="-50">
                <a:solidFill>
                  <a:srgbClr val="003B64"/>
                </a:solidFill>
                <a:latin typeface="Calibri"/>
                <a:cs typeface="Calibri"/>
              </a:rPr>
              <a:t>@</a:t>
            </a:r>
            <a:r>
              <a:rPr dirty="0" sz="2400">
                <a:solidFill>
                  <a:srgbClr val="003B64"/>
                </a:solidFill>
                <a:latin typeface="Calibri"/>
                <a:cs typeface="Calibri"/>
              </a:rPr>
              <a:t>	</a:t>
            </a:r>
            <a:r>
              <a:rPr dirty="0" sz="2400" spc="-105">
                <a:latin typeface="Calibri"/>
                <a:cs typeface="Calibri"/>
              </a:rPr>
              <a:t>Decide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 spc="-150">
                <a:latin typeface="Calibri"/>
                <a:cs typeface="Calibri"/>
              </a:rPr>
              <a:t>whether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 spc="-155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fill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135">
                <a:latin typeface="Calibri"/>
                <a:cs typeface="Calibri"/>
              </a:rPr>
              <a:t>with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25">
                <a:latin typeface="Calibri"/>
                <a:cs typeface="Calibri"/>
              </a:rPr>
              <a:t> </a:t>
            </a:r>
            <a:r>
              <a:rPr dirty="0" sz="2400" spc="-90">
                <a:latin typeface="Calibri"/>
                <a:cs typeface="Calibri"/>
              </a:rPr>
              <a:t>default, </a:t>
            </a:r>
            <a:r>
              <a:rPr dirty="0" sz="2400" spc="-140">
                <a:latin typeface="Calibri"/>
                <a:cs typeface="Calibri"/>
              </a:rPr>
              <a:t>remove</a:t>
            </a:r>
            <a:r>
              <a:rPr dirty="0" sz="2400" spc="100">
                <a:latin typeface="Calibri"/>
                <a:cs typeface="Calibri"/>
              </a:rPr>
              <a:t> </a:t>
            </a:r>
            <a:r>
              <a:rPr dirty="0" sz="2400" spc="-14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30">
                <a:latin typeface="Calibri"/>
                <a:cs typeface="Calibri"/>
              </a:rPr>
              <a:t>record,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55">
                <a:latin typeface="Calibri"/>
                <a:cs typeface="Calibri"/>
              </a:rPr>
              <a:t>or</a:t>
            </a:r>
            <a:r>
              <a:rPr dirty="0" sz="2400" spc="-220">
                <a:latin typeface="Calibri"/>
                <a:cs typeface="Calibri"/>
              </a:rPr>
              <a:t> </a:t>
            </a:r>
            <a:r>
              <a:rPr dirty="0" sz="2400" spc="-120">
                <a:latin typeface="Calibri"/>
                <a:cs typeface="Calibri"/>
              </a:rPr>
              <a:t>permit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NULL.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97418" y="6818841"/>
            <a:ext cx="4202430" cy="18586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7335">
              <a:lnSpc>
                <a:spcPct val="100000"/>
              </a:lnSpc>
              <a:spcBef>
                <a:spcPts val="105"/>
              </a:spcBef>
            </a:pPr>
            <a:r>
              <a:rPr dirty="0" sz="3950" spc="-105">
                <a:latin typeface="Calibri"/>
                <a:cs typeface="Calibri"/>
              </a:rPr>
              <a:t>Blank/Empty</a:t>
            </a:r>
            <a:r>
              <a:rPr dirty="0" sz="3950" spc="-30">
                <a:latin typeface="Calibri"/>
                <a:cs typeface="Calibri"/>
              </a:rPr>
              <a:t> </a:t>
            </a:r>
            <a:r>
              <a:rPr dirty="0" sz="3950" spc="-50">
                <a:solidFill>
                  <a:srgbClr val="0E0E0E"/>
                </a:solidFill>
                <a:latin typeface="Calibri"/>
                <a:cs typeface="Calibri"/>
              </a:rPr>
              <a:t>Strings</a:t>
            </a:r>
            <a:endParaRPr sz="3950">
              <a:latin typeface="Calibri"/>
              <a:cs typeface="Calibri"/>
            </a:endParaRPr>
          </a:p>
          <a:p>
            <a:pPr marL="12700" marR="71755" indent="4445">
              <a:lnSpc>
                <a:spcPts val="2500"/>
              </a:lnSpc>
              <a:spcBef>
                <a:spcPts val="2210"/>
              </a:spcBef>
            </a:pPr>
            <a:r>
              <a:rPr dirty="0" sz="2400" spc="-140">
                <a:latin typeface="Calibri"/>
                <a:cs typeface="Calibri"/>
              </a:rPr>
              <a:t>Detect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114">
                <a:latin typeface="Calibri"/>
                <a:cs typeface="Calibri"/>
              </a:rPr>
              <a:t>records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75">
                <a:latin typeface="Calibri"/>
                <a:cs typeface="Calibri"/>
              </a:rPr>
              <a:t>where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45">
                <a:latin typeface="Calibri"/>
                <a:cs typeface="Calibri"/>
              </a:rPr>
              <a:t>crucial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fields </a:t>
            </a:r>
            <a:r>
              <a:rPr dirty="0" sz="2350" spc="-75">
                <a:latin typeface="Calibri"/>
                <a:cs typeface="Calibri"/>
              </a:rPr>
              <a:t>contain</a:t>
            </a:r>
            <a:r>
              <a:rPr dirty="0" sz="2350" spc="60">
                <a:latin typeface="Calibri"/>
                <a:cs typeface="Calibri"/>
              </a:rPr>
              <a:t> </a:t>
            </a:r>
            <a:r>
              <a:rPr dirty="0" sz="2350" spc="-130">
                <a:latin typeface="Calibri"/>
                <a:cs typeface="Calibri"/>
              </a:rPr>
              <a:t>empty</a:t>
            </a:r>
            <a:r>
              <a:rPr dirty="0" sz="2350">
                <a:latin typeface="Calibri"/>
                <a:cs typeface="Calibri"/>
              </a:rPr>
              <a:t> </a:t>
            </a:r>
            <a:r>
              <a:rPr dirty="0" sz="2350" spc="-90">
                <a:latin typeface="Calibri"/>
                <a:cs typeface="Calibri"/>
              </a:rPr>
              <a:t>text</a:t>
            </a:r>
            <a:r>
              <a:rPr dirty="0" sz="2350" spc="-105">
                <a:latin typeface="Calibri"/>
                <a:cs typeface="Calibri"/>
              </a:rPr>
              <a:t> </a:t>
            </a:r>
            <a:r>
              <a:rPr dirty="0" sz="2350" spc="-110">
                <a:latin typeface="Calibri"/>
                <a:cs typeface="Calibri"/>
              </a:rPr>
              <a:t>rather</a:t>
            </a:r>
            <a:r>
              <a:rPr dirty="0" sz="2350" spc="-70">
                <a:latin typeface="Calibri"/>
                <a:cs typeface="Calibri"/>
              </a:rPr>
              <a:t> </a:t>
            </a:r>
            <a:r>
              <a:rPr dirty="0" sz="2350" spc="-90">
                <a:latin typeface="Calibri"/>
                <a:cs typeface="Calibri"/>
              </a:rPr>
              <a:t>than</a:t>
            </a:r>
            <a:r>
              <a:rPr dirty="0" sz="2350" spc="-80">
                <a:latin typeface="Calibri"/>
                <a:cs typeface="Calibri"/>
              </a:rPr>
              <a:t> </a:t>
            </a:r>
            <a:r>
              <a:rPr dirty="0" sz="2350" spc="-20">
                <a:latin typeface="Calibri"/>
                <a:cs typeface="Calibri"/>
              </a:rPr>
              <a:t>NULL </a:t>
            </a:r>
            <a:r>
              <a:rPr dirty="0" sz="2350" spc="-10">
                <a:latin typeface="Calibri"/>
                <a:cs typeface="Calibri"/>
              </a:rPr>
              <a:t>values.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933880" y="6475324"/>
            <a:ext cx="3958590" cy="2209800"/>
          </a:xfrm>
          <a:prstGeom prst="rect">
            <a:avLst/>
          </a:prstGeom>
        </p:spPr>
        <p:txBody>
          <a:bodyPr wrap="square" lIns="0" tIns="356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10"/>
              </a:spcBef>
            </a:pPr>
            <a:r>
              <a:rPr dirty="0" sz="3950" spc="-114">
                <a:solidFill>
                  <a:srgbClr val="0F0F0F"/>
                </a:solidFill>
                <a:latin typeface="Calibri"/>
                <a:cs typeface="Calibri"/>
              </a:rPr>
              <a:t>Duplicate</a:t>
            </a:r>
            <a:r>
              <a:rPr dirty="0" sz="3950" spc="-6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3950" spc="-10">
                <a:solidFill>
                  <a:srgbClr val="111111"/>
                </a:solidFill>
                <a:latin typeface="Calibri"/>
                <a:cs typeface="Calibri"/>
              </a:rPr>
              <a:t>Records</a:t>
            </a:r>
            <a:endParaRPr sz="3950">
              <a:latin typeface="Calibri"/>
              <a:cs typeface="Calibri"/>
            </a:endParaRPr>
          </a:p>
          <a:p>
            <a:pPr marL="14604" marR="5080">
              <a:lnSpc>
                <a:spcPct val="88300"/>
              </a:lnSpc>
              <a:spcBef>
                <a:spcPts val="2065"/>
              </a:spcBef>
            </a:pPr>
            <a:r>
              <a:rPr dirty="0" sz="2500" spc="-180">
                <a:latin typeface="Calibri"/>
                <a:cs typeface="Calibri"/>
              </a:rPr>
              <a:t>Implement</a:t>
            </a:r>
            <a:r>
              <a:rPr dirty="0" sz="2500" spc="85">
                <a:latin typeface="Calibri"/>
                <a:cs typeface="Calibri"/>
              </a:rPr>
              <a:t> </a:t>
            </a:r>
            <a:r>
              <a:rPr dirty="0" sz="2500" spc="-150">
                <a:latin typeface="Calibri"/>
                <a:cs typeface="Calibri"/>
              </a:rPr>
              <a:t>checks</a:t>
            </a:r>
            <a:r>
              <a:rPr dirty="0" sz="2500">
                <a:latin typeface="Calibri"/>
                <a:cs typeface="Calibri"/>
              </a:rPr>
              <a:t> </a:t>
            </a:r>
            <a:r>
              <a:rPr dirty="0" sz="2500" spc="-140">
                <a:latin typeface="Calibri"/>
                <a:cs typeface="Calibri"/>
              </a:rPr>
              <a:t>to</a:t>
            </a:r>
            <a:r>
              <a:rPr dirty="0" sz="2500" spc="-114">
                <a:latin typeface="Calibri"/>
                <a:cs typeface="Calibri"/>
              </a:rPr>
              <a:t> </a:t>
            </a:r>
            <a:r>
              <a:rPr dirty="0" sz="2500" spc="-185">
                <a:latin typeface="Calibri"/>
                <a:cs typeface="Calibri"/>
              </a:rPr>
              <a:t>detect</a:t>
            </a:r>
            <a:r>
              <a:rPr dirty="0" sz="2500" spc="30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and </a:t>
            </a:r>
            <a:r>
              <a:rPr dirty="0" sz="2350" spc="-130">
                <a:latin typeface="Calibri"/>
                <a:cs typeface="Calibri"/>
              </a:rPr>
              <a:t>remove</a:t>
            </a:r>
            <a:r>
              <a:rPr dirty="0" sz="2350" spc="15">
                <a:latin typeface="Calibri"/>
                <a:cs typeface="Calibri"/>
              </a:rPr>
              <a:t> </a:t>
            </a:r>
            <a:r>
              <a:rPr dirty="0" sz="2350" spc="-75">
                <a:latin typeface="Calibri"/>
                <a:cs typeface="Calibri"/>
              </a:rPr>
              <a:t>duplicate</a:t>
            </a:r>
            <a:r>
              <a:rPr dirty="0" sz="2350" spc="15">
                <a:latin typeface="Calibri"/>
                <a:cs typeface="Calibri"/>
              </a:rPr>
              <a:t> </a:t>
            </a:r>
            <a:r>
              <a:rPr dirty="0" sz="2350" spc="-80">
                <a:latin typeface="Calibri"/>
                <a:cs typeface="Calibri"/>
              </a:rPr>
              <a:t>entries</a:t>
            </a:r>
            <a:r>
              <a:rPr dirty="0" sz="2350" spc="10">
                <a:latin typeface="Calibri"/>
                <a:cs typeface="Calibri"/>
              </a:rPr>
              <a:t> </a:t>
            </a:r>
            <a:r>
              <a:rPr dirty="0" sz="2350" spc="-130">
                <a:latin typeface="Calibri"/>
                <a:cs typeface="Calibri"/>
              </a:rPr>
              <a:t>to</a:t>
            </a:r>
            <a:r>
              <a:rPr dirty="0" sz="2350" spc="-90">
                <a:latin typeface="Calibri"/>
                <a:cs typeface="Calibri"/>
              </a:rPr>
              <a:t> </a:t>
            </a:r>
            <a:r>
              <a:rPr dirty="0" sz="2350" spc="-70">
                <a:latin typeface="Calibri"/>
                <a:cs typeface="Calibri"/>
              </a:rPr>
              <a:t>ensure </a:t>
            </a:r>
            <a:r>
              <a:rPr dirty="0" sz="2400" spc="-105">
                <a:latin typeface="Calibri"/>
                <a:cs typeface="Calibri"/>
              </a:rPr>
              <a:t>data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integrity.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3606800"/>
            <a:ext cx="15455900" cy="3352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3086100"/>
            <a:ext cx="4559300" cy="4572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64300" y="3086100"/>
            <a:ext cx="4546600" cy="4445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25300" y="3086100"/>
            <a:ext cx="4559300" cy="4445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954616" y="3632200"/>
            <a:ext cx="0" cy="3361690"/>
          </a:xfrm>
          <a:custGeom>
            <a:avLst/>
            <a:gdLst/>
            <a:ahLst/>
            <a:cxnLst/>
            <a:rect l="l" t="t" r="r" b="b"/>
            <a:pathLst>
              <a:path w="0" h="3361690">
                <a:moveTo>
                  <a:pt x="0" y="33612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83B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526616" y="5524500"/>
            <a:ext cx="0" cy="1469390"/>
          </a:xfrm>
          <a:custGeom>
            <a:avLst/>
            <a:gdLst/>
            <a:ahLst/>
            <a:cxnLst/>
            <a:rect l="l" t="t" r="r" b="b"/>
            <a:pathLst>
              <a:path w="0" h="1469390">
                <a:moveTo>
                  <a:pt x="0" y="14689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83B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44033" y="3642783"/>
            <a:ext cx="4593590" cy="0"/>
          </a:xfrm>
          <a:custGeom>
            <a:avLst/>
            <a:gdLst/>
            <a:ahLst/>
            <a:cxnLst/>
            <a:rect l="l" t="t" r="r" b="b"/>
            <a:pathLst>
              <a:path w="4593590" h="0">
                <a:moveTo>
                  <a:pt x="0" y="0"/>
                </a:moveTo>
                <a:lnTo>
                  <a:pt x="4593166" y="0"/>
                </a:lnTo>
              </a:path>
            </a:pathLst>
          </a:custGeom>
          <a:ln w="21166">
            <a:solidFill>
              <a:srgbClr val="183B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944033" y="6982883"/>
            <a:ext cx="4593590" cy="0"/>
          </a:xfrm>
          <a:custGeom>
            <a:avLst/>
            <a:gdLst/>
            <a:ahLst/>
            <a:cxnLst/>
            <a:rect l="l" t="t" r="r" b="b"/>
            <a:pathLst>
              <a:path w="4593590" h="0">
                <a:moveTo>
                  <a:pt x="0" y="0"/>
                </a:moveTo>
                <a:lnTo>
                  <a:pt x="4593166" y="0"/>
                </a:lnTo>
              </a:path>
            </a:pathLst>
          </a:custGeom>
          <a:ln w="21166">
            <a:solidFill>
              <a:srgbClr val="183B5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53597" y="480130"/>
            <a:ext cx="12095480" cy="1820545"/>
          </a:xfrm>
          <a:prstGeom prst="rect"/>
        </p:spPr>
        <p:txBody>
          <a:bodyPr wrap="square" lIns="0" tIns="149860" rIns="0" bIns="0" rtlCol="0" vert="horz">
            <a:spAutoFit/>
          </a:bodyPr>
          <a:lstStyle/>
          <a:p>
            <a:pPr marL="12700" marR="5080" indent="7620">
              <a:lnSpc>
                <a:spcPts val="6550"/>
              </a:lnSpc>
              <a:spcBef>
                <a:spcPts val="1180"/>
              </a:spcBef>
            </a:pPr>
            <a:r>
              <a:rPr dirty="0" sz="6300">
                <a:solidFill>
                  <a:srgbClr val="262626"/>
                </a:solidFill>
                <a:latin typeface="Times New Roman"/>
                <a:cs typeface="Times New Roman"/>
              </a:rPr>
              <a:t>Centralising</a:t>
            </a:r>
            <a:r>
              <a:rPr dirty="0" sz="6300" spc="5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6300" spc="195">
                <a:solidFill>
                  <a:srgbClr val="2F2F2F"/>
                </a:solidFill>
                <a:latin typeface="Times New Roman"/>
                <a:cs typeface="Times New Roman"/>
              </a:rPr>
              <a:t>a</a:t>
            </a:r>
            <a:r>
              <a:rPr dirty="0" sz="6300" spc="-55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6300" spc="-95">
                <a:solidFill>
                  <a:srgbClr val="2A2A2A"/>
                </a:solidFill>
                <a:latin typeface="Times New Roman"/>
                <a:cs typeface="Times New Roman"/>
              </a:rPr>
              <a:t>Single</a:t>
            </a:r>
            <a:r>
              <a:rPr dirty="0" sz="6300" spc="-315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6300">
                <a:solidFill>
                  <a:srgbClr val="262626"/>
                </a:solidFill>
                <a:latin typeface="Times New Roman"/>
                <a:cs typeface="Times New Roman"/>
              </a:rPr>
              <a:t>Source</a:t>
            </a:r>
            <a:r>
              <a:rPr dirty="0" sz="6300" spc="-24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6300" spc="-125">
                <a:solidFill>
                  <a:srgbClr val="2D2D2D"/>
                </a:solidFill>
                <a:latin typeface="Times New Roman"/>
                <a:cs typeface="Times New Roman"/>
              </a:rPr>
              <a:t>of</a:t>
            </a:r>
            <a:r>
              <a:rPr dirty="0" sz="6300" spc="-175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dirty="0" sz="6300" spc="55">
                <a:solidFill>
                  <a:srgbClr val="2B2B2B"/>
                </a:solidFill>
                <a:latin typeface="Times New Roman"/>
                <a:cs typeface="Times New Roman"/>
              </a:rPr>
              <a:t>Truth: </a:t>
            </a:r>
            <a:r>
              <a:rPr dirty="0" sz="6300">
                <a:solidFill>
                  <a:srgbClr val="2A2A2A"/>
                </a:solidFill>
                <a:latin typeface="Times New Roman"/>
                <a:cs typeface="Times New Roman"/>
              </a:rPr>
              <a:t>The</a:t>
            </a:r>
            <a:r>
              <a:rPr dirty="0" sz="6300" spc="-345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dirty="0" sz="6300" spc="-545">
                <a:solidFill>
                  <a:srgbClr val="282828"/>
                </a:solidFill>
                <a:latin typeface="Times New Roman"/>
                <a:cs typeface="Times New Roman"/>
              </a:rPr>
              <a:t>ETL</a:t>
            </a:r>
            <a:r>
              <a:rPr dirty="0" sz="6300" spc="-10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6300" spc="-10">
                <a:solidFill>
                  <a:srgbClr val="242424"/>
                </a:solidFill>
                <a:latin typeface="Times New Roman"/>
                <a:cs typeface="Times New Roman"/>
              </a:rPr>
              <a:t>Process</a:t>
            </a:r>
            <a:endParaRPr sz="63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995935" y="3654072"/>
            <a:ext cx="2143760" cy="2194560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775"/>
              </a:spcBef>
            </a:pPr>
            <a:r>
              <a:rPr dirty="0" sz="3300" spc="-10">
                <a:solidFill>
                  <a:srgbClr val="232323"/>
                </a:solidFill>
                <a:latin typeface="Calibri"/>
                <a:cs typeface="Calibri"/>
              </a:rPr>
              <a:t>EXTRACT</a:t>
            </a:r>
            <a:endParaRPr sz="3300">
              <a:latin typeface="Calibri"/>
              <a:cs typeface="Calibri"/>
            </a:endParaRPr>
          </a:p>
          <a:p>
            <a:pPr marL="12700" marR="5080" indent="15240">
              <a:lnSpc>
                <a:spcPts val="2400"/>
              </a:lnSpc>
              <a:spcBef>
                <a:spcPts val="1820"/>
              </a:spcBef>
            </a:pPr>
            <a:r>
              <a:rPr dirty="0" sz="2500" spc="-145">
                <a:latin typeface="Calibri"/>
                <a:cs typeface="Calibri"/>
              </a:rPr>
              <a:t>Sourcing</a:t>
            </a:r>
            <a:r>
              <a:rPr dirty="0" sz="2500" spc="-20">
                <a:latin typeface="Calibri"/>
                <a:cs typeface="Calibri"/>
              </a:rPr>
              <a:t> </a:t>
            </a:r>
            <a:r>
              <a:rPr dirty="0" sz="2500" spc="-190">
                <a:latin typeface="Calibri"/>
                <a:cs typeface="Calibri"/>
              </a:rPr>
              <a:t>raw</a:t>
            </a:r>
            <a:r>
              <a:rPr dirty="0" sz="2500" spc="-105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data </a:t>
            </a:r>
            <a:r>
              <a:rPr dirty="0" sz="2500" spc="-210">
                <a:latin typeface="Calibri"/>
                <a:cs typeface="Calibri"/>
              </a:rPr>
              <a:t>from</a:t>
            </a:r>
            <a:r>
              <a:rPr dirty="0" sz="2500" spc="-35">
                <a:latin typeface="Calibri"/>
                <a:cs typeface="Calibri"/>
              </a:rPr>
              <a:t> </a:t>
            </a:r>
            <a:r>
              <a:rPr dirty="0" sz="2500" spc="-160">
                <a:latin typeface="Calibri"/>
                <a:cs typeface="Calibri"/>
              </a:rPr>
              <a:t>the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initial </a:t>
            </a:r>
            <a:r>
              <a:rPr dirty="0" sz="2500" spc="-125">
                <a:latin typeface="Calibri"/>
                <a:cs typeface="Calibri"/>
              </a:rPr>
              <a:t>Excel</a:t>
            </a:r>
            <a:r>
              <a:rPr dirty="0" sz="2500" spc="-30">
                <a:latin typeface="Calibri"/>
                <a:cs typeface="Calibri"/>
              </a:rPr>
              <a:t> </a:t>
            </a:r>
            <a:r>
              <a:rPr dirty="0" sz="2500" spc="-135">
                <a:latin typeface="Calibri"/>
                <a:cs typeface="Calibri"/>
              </a:rPr>
              <a:t>files</a:t>
            </a:r>
            <a:r>
              <a:rPr dirty="0" sz="2500" spc="-25">
                <a:latin typeface="Calibri"/>
                <a:cs typeface="Calibri"/>
              </a:rPr>
              <a:t> </a:t>
            </a:r>
            <a:r>
              <a:rPr dirty="0" sz="2500" spc="-155">
                <a:latin typeface="Calibri"/>
                <a:cs typeface="Calibri"/>
              </a:rPr>
              <a:t>received </a:t>
            </a:r>
            <a:r>
              <a:rPr dirty="0" sz="2500" spc="-85">
                <a:latin typeface="Calibri"/>
                <a:cs typeface="Calibri"/>
              </a:rPr>
              <a:t>via</a:t>
            </a:r>
            <a:r>
              <a:rPr dirty="0" sz="2500" spc="-19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email.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427498" y="3636009"/>
            <a:ext cx="2186305" cy="2821940"/>
          </a:xfrm>
          <a:prstGeom prst="rect">
            <a:avLst/>
          </a:prstGeom>
        </p:spPr>
        <p:txBody>
          <a:bodyPr wrap="square" lIns="0" tIns="24384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920"/>
              </a:spcBef>
            </a:pPr>
            <a:r>
              <a:rPr dirty="0" sz="3300" spc="-40">
                <a:solidFill>
                  <a:srgbClr val="1F1F1F"/>
                </a:solidFill>
                <a:latin typeface="Calibri"/>
                <a:cs typeface="Calibri"/>
              </a:rPr>
              <a:t>TRANSFORM</a:t>
            </a:r>
            <a:endParaRPr sz="3300">
              <a:latin typeface="Calibri"/>
              <a:cs typeface="Calibri"/>
            </a:endParaRPr>
          </a:p>
          <a:p>
            <a:pPr marL="15875" marR="26670" indent="-3810">
              <a:lnSpc>
                <a:spcPct val="81700"/>
              </a:lnSpc>
              <a:spcBef>
                <a:spcPts val="1864"/>
              </a:spcBef>
            </a:pPr>
            <a:r>
              <a:rPr dirty="0" sz="2400" spc="-80">
                <a:latin typeface="Calibri"/>
                <a:cs typeface="Calibri"/>
              </a:rPr>
              <a:t>Applying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al </a:t>
            </a:r>
            <a:r>
              <a:rPr dirty="0" sz="2500" spc="-40">
                <a:latin typeface="Calibri"/>
                <a:cs typeface="Calibri"/>
              </a:rPr>
              <a:t>validation, </a:t>
            </a:r>
            <a:r>
              <a:rPr dirty="0" sz="2400" spc="-70">
                <a:latin typeface="Calibri"/>
                <a:cs typeface="Calibri"/>
              </a:rPr>
              <a:t>cleaning,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60">
                <a:latin typeface="Calibri"/>
                <a:cs typeface="Calibri"/>
              </a:rPr>
              <a:t>profiling, </a:t>
            </a:r>
            <a:r>
              <a:rPr dirty="0" sz="2500" spc="-165">
                <a:latin typeface="Calibri"/>
                <a:cs typeface="Calibri"/>
              </a:rPr>
              <a:t>and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 spc="-160">
                <a:latin typeface="Calibri"/>
                <a:cs typeface="Calibri"/>
              </a:rPr>
              <a:t>mapping</a:t>
            </a:r>
            <a:r>
              <a:rPr dirty="0" sz="2500" spc="80">
                <a:latin typeface="Calibri"/>
                <a:cs typeface="Calibri"/>
              </a:rPr>
              <a:t> </a:t>
            </a:r>
            <a:r>
              <a:rPr dirty="0" sz="2500" spc="-100">
                <a:latin typeface="Calibri"/>
                <a:cs typeface="Calibri"/>
              </a:rPr>
              <a:t>rules </a:t>
            </a:r>
            <a:r>
              <a:rPr dirty="0" sz="2350" spc="-125">
                <a:latin typeface="Calibri"/>
                <a:cs typeface="Calibri"/>
              </a:rPr>
              <a:t>from</a:t>
            </a:r>
            <a:r>
              <a:rPr dirty="0" sz="2350" spc="-5">
                <a:latin typeface="Calibri"/>
                <a:cs typeface="Calibri"/>
              </a:rPr>
              <a:t> </a:t>
            </a:r>
            <a:r>
              <a:rPr dirty="0" sz="2350" spc="-85">
                <a:latin typeface="Calibri"/>
                <a:cs typeface="Calibri"/>
              </a:rPr>
              <a:t>the</a:t>
            </a:r>
            <a:r>
              <a:rPr dirty="0" sz="2350" spc="-13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previous </a:t>
            </a:r>
            <a:r>
              <a:rPr dirty="0" sz="2500" spc="-10">
                <a:latin typeface="Calibri"/>
                <a:cs typeface="Calibri"/>
              </a:rPr>
              <a:t>steps.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889316" y="3642783"/>
            <a:ext cx="4572000" cy="3340100"/>
          </a:xfrm>
          <a:prstGeom prst="rect">
            <a:avLst/>
          </a:prstGeom>
          <a:ln w="29633">
            <a:solidFill>
              <a:srgbClr val="183B57"/>
            </a:solidFill>
          </a:ln>
        </p:spPr>
        <p:txBody>
          <a:bodyPr wrap="square" lIns="0" tIns="249554" rIns="0" bIns="0" rtlCol="0" vert="horz">
            <a:spAutoFit/>
          </a:bodyPr>
          <a:lstStyle/>
          <a:p>
            <a:pPr marL="1995805">
              <a:lnSpc>
                <a:spcPct val="100000"/>
              </a:lnSpc>
              <a:spcBef>
                <a:spcPts val="1964"/>
              </a:spcBef>
            </a:pPr>
            <a:r>
              <a:rPr dirty="0" sz="3200" spc="-20">
                <a:solidFill>
                  <a:srgbClr val="282828"/>
                </a:solidFill>
                <a:latin typeface="Calibri"/>
                <a:cs typeface="Calibri"/>
              </a:rPr>
              <a:t>LOAD</a:t>
            </a:r>
            <a:endParaRPr sz="3200">
              <a:latin typeface="Calibri"/>
              <a:cs typeface="Calibri"/>
            </a:endParaRPr>
          </a:p>
          <a:p>
            <a:pPr marL="2002155" marR="274320" indent="1905">
              <a:lnSpc>
                <a:spcPts val="2400"/>
              </a:lnSpc>
              <a:spcBef>
                <a:spcPts val="1540"/>
              </a:spcBef>
            </a:pPr>
            <a:r>
              <a:rPr dirty="0" sz="2350" spc="-60">
                <a:latin typeface="Calibri"/>
                <a:cs typeface="Calibri"/>
              </a:rPr>
              <a:t>Importing</a:t>
            </a:r>
            <a:r>
              <a:rPr dirty="0" sz="2350" spc="-15">
                <a:latin typeface="Calibri"/>
                <a:cs typeface="Calibri"/>
              </a:rPr>
              <a:t> </a:t>
            </a:r>
            <a:r>
              <a:rPr dirty="0" sz="2350" spc="-114">
                <a:latin typeface="Calibri"/>
                <a:cs typeface="Calibri"/>
              </a:rPr>
              <a:t>the</a:t>
            </a:r>
            <a:r>
              <a:rPr dirty="0" sz="2350" spc="-20">
                <a:latin typeface="Calibri"/>
                <a:cs typeface="Calibri"/>
              </a:rPr>
              <a:t> fully </a:t>
            </a:r>
            <a:r>
              <a:rPr dirty="0" sz="2350" spc="-55">
                <a:latin typeface="Calibri"/>
                <a:cs typeface="Calibri"/>
              </a:rPr>
              <a:t>cleaned</a:t>
            </a:r>
            <a:r>
              <a:rPr dirty="0" sz="2350" spc="-80">
                <a:latin typeface="Calibri"/>
                <a:cs typeface="Calibri"/>
              </a:rPr>
              <a:t> </a:t>
            </a:r>
            <a:r>
              <a:rPr dirty="0" sz="2350" spc="-25">
                <a:latin typeface="Calibri"/>
                <a:cs typeface="Calibri"/>
              </a:rPr>
              <a:t>and </a:t>
            </a:r>
            <a:r>
              <a:rPr dirty="0" sz="2400" spc="-105">
                <a:latin typeface="Calibri"/>
                <a:cs typeface="Calibri"/>
              </a:rPr>
              <a:t>structured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105">
                <a:latin typeface="Calibri"/>
                <a:cs typeface="Calibri"/>
              </a:rPr>
              <a:t>data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into </a:t>
            </a:r>
            <a:r>
              <a:rPr dirty="0" sz="2400" spc="-120">
                <a:latin typeface="Calibri"/>
                <a:cs typeface="Calibri"/>
              </a:rPr>
              <a:t>target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45">
                <a:latin typeface="Calibri"/>
                <a:cs typeface="Calibri"/>
              </a:rPr>
              <a:t>SQL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95">
                <a:latin typeface="Calibri"/>
                <a:cs typeface="Calibri"/>
              </a:rPr>
              <a:t>database </a:t>
            </a:r>
            <a:r>
              <a:rPr dirty="0" sz="2400" spc="-85">
                <a:latin typeface="Calibri"/>
                <a:cs typeface="Calibri"/>
              </a:rPr>
              <a:t>tables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(e.g., </a:t>
            </a:r>
            <a:r>
              <a:rPr dirty="0" sz="2350" spc="-20">
                <a:latin typeface="Calibri"/>
                <a:cs typeface="Calibri"/>
              </a:rPr>
              <a:t>Order_Name, </a:t>
            </a:r>
            <a:r>
              <a:rPr dirty="0" sz="2350" spc="-65">
                <a:latin typeface="Calibri"/>
                <a:cs typeface="Calibri"/>
              </a:rPr>
              <a:t>Food_items,</a:t>
            </a:r>
            <a:r>
              <a:rPr dirty="0" sz="2350" spc="-3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Sales).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67316" y="7617883"/>
            <a:ext cx="15481300" cy="1549400"/>
          </a:xfrm>
          <a:prstGeom prst="rect">
            <a:avLst/>
          </a:prstGeom>
          <a:ln w="12700">
            <a:solidFill>
              <a:srgbClr val="AF8738"/>
            </a:solidFill>
          </a:ln>
        </p:spPr>
        <p:txBody>
          <a:bodyPr wrap="square" lIns="0" tIns="224154" rIns="0" bIns="0" rtlCol="0" vert="horz">
            <a:spAutoFit/>
          </a:bodyPr>
          <a:lstStyle/>
          <a:p>
            <a:pPr marL="478155">
              <a:lnSpc>
                <a:spcPts val="3865"/>
              </a:lnSpc>
              <a:spcBef>
                <a:spcPts val="1764"/>
              </a:spcBef>
              <a:tabLst>
                <a:tab pos="2136140" algn="l"/>
                <a:tab pos="3905885" algn="l"/>
              </a:tabLst>
            </a:pPr>
            <a:r>
              <a:rPr dirty="0" sz="3400" spc="-10">
                <a:solidFill>
                  <a:srgbClr val="B38938"/>
                </a:solidFill>
                <a:latin typeface="Calibri"/>
                <a:cs typeface="Calibri"/>
              </a:rPr>
              <a:t>Strategic</a:t>
            </a:r>
            <a:r>
              <a:rPr dirty="0" sz="3400">
                <a:solidFill>
                  <a:srgbClr val="B38938"/>
                </a:solidFill>
                <a:latin typeface="Calibri"/>
                <a:cs typeface="Calibri"/>
              </a:rPr>
              <a:t>	</a:t>
            </a:r>
            <a:r>
              <a:rPr dirty="0" sz="3400" spc="-10">
                <a:solidFill>
                  <a:srgbClr val="B88C33"/>
                </a:solidFill>
                <a:latin typeface="Calibri"/>
                <a:cs typeface="Calibri"/>
              </a:rPr>
              <a:t>fJutromc</a:t>
            </a:r>
            <a:r>
              <a:rPr dirty="0" sz="3400">
                <a:solidFill>
                  <a:srgbClr val="B88C33"/>
                </a:solidFill>
                <a:latin typeface="Calibri"/>
                <a:cs typeface="Calibri"/>
              </a:rPr>
              <a:t>	</a:t>
            </a:r>
            <a:r>
              <a:rPr dirty="0" sz="3400" spc="-90">
                <a:latin typeface="Calibri"/>
                <a:cs typeface="Calibri"/>
              </a:rPr>
              <a:t>The</a:t>
            </a:r>
            <a:r>
              <a:rPr dirty="0" sz="3400" spc="-110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ETL</a:t>
            </a:r>
            <a:r>
              <a:rPr dirty="0" sz="3400" spc="-185">
                <a:latin typeface="Calibri"/>
                <a:cs typeface="Calibri"/>
              </a:rPr>
              <a:t> </a:t>
            </a:r>
            <a:r>
              <a:rPr dirty="0" sz="3400" spc="-85">
                <a:latin typeface="Calibri"/>
                <a:cs typeface="Calibri"/>
              </a:rPr>
              <a:t>process</a:t>
            </a:r>
            <a:r>
              <a:rPr dirty="0" sz="3400" spc="-55">
                <a:latin typeface="Calibri"/>
                <a:cs typeface="Calibri"/>
              </a:rPr>
              <a:t> </a:t>
            </a:r>
            <a:r>
              <a:rPr dirty="0" sz="3400" spc="-90">
                <a:latin typeface="Calibri"/>
                <a:cs typeface="Calibri"/>
              </a:rPr>
              <a:t>creates</a:t>
            </a:r>
            <a:r>
              <a:rPr dirty="0" sz="3400" spc="-40">
                <a:latin typeface="Calibri"/>
                <a:cs typeface="Calibri"/>
              </a:rPr>
              <a:t> </a:t>
            </a:r>
            <a:r>
              <a:rPr dirty="0" sz="3400" spc="-70">
                <a:latin typeface="Calibri"/>
                <a:cs typeface="Calibri"/>
              </a:rPr>
              <a:t>a</a:t>
            </a:r>
            <a:r>
              <a:rPr dirty="0" sz="3400" spc="-135">
                <a:latin typeface="Calibri"/>
                <a:cs typeface="Calibri"/>
              </a:rPr>
              <a:t> </a:t>
            </a:r>
            <a:r>
              <a:rPr dirty="0" sz="3400" spc="-65">
                <a:latin typeface="Calibri"/>
                <a:cs typeface="Calibri"/>
              </a:rPr>
              <a:t>centralized</a:t>
            </a:r>
            <a:r>
              <a:rPr dirty="0" sz="3400" spc="114">
                <a:latin typeface="Calibri"/>
                <a:cs typeface="Calibri"/>
              </a:rPr>
              <a:t> </a:t>
            </a:r>
            <a:r>
              <a:rPr dirty="0" sz="3400" spc="-105">
                <a:latin typeface="Calibri"/>
                <a:cs typeface="Calibri"/>
              </a:rPr>
              <a:t>and</a:t>
            </a:r>
            <a:r>
              <a:rPr dirty="0" sz="3400" spc="-85">
                <a:latin typeface="Calibri"/>
                <a:cs typeface="Calibri"/>
              </a:rPr>
              <a:t> </a:t>
            </a:r>
            <a:r>
              <a:rPr dirty="0" sz="3400">
                <a:latin typeface="Calibri"/>
                <a:cs typeface="Calibri"/>
              </a:rPr>
              <a:t>trusted</a:t>
            </a:r>
            <a:r>
              <a:rPr dirty="0" sz="3400" spc="-90">
                <a:latin typeface="Calibri"/>
                <a:cs typeface="Calibri"/>
              </a:rPr>
              <a:t> data</a:t>
            </a:r>
            <a:r>
              <a:rPr dirty="0" sz="3400" spc="-80">
                <a:latin typeface="Calibri"/>
                <a:cs typeface="Calibri"/>
              </a:rPr>
              <a:t> </a:t>
            </a:r>
            <a:r>
              <a:rPr dirty="0" sz="3400" spc="-10">
                <a:latin typeface="Calibri"/>
                <a:cs typeface="Calibri"/>
              </a:rPr>
              <a:t>repository.</a:t>
            </a:r>
            <a:endParaRPr sz="3400">
              <a:latin typeface="Calibri"/>
              <a:cs typeface="Calibri"/>
            </a:endParaRPr>
          </a:p>
          <a:p>
            <a:pPr marL="476884">
              <a:lnSpc>
                <a:spcPts val="3925"/>
              </a:lnSpc>
            </a:pPr>
            <a:r>
              <a:rPr dirty="0" sz="3450" spc="-60">
                <a:latin typeface="Calibri"/>
                <a:cs typeface="Calibri"/>
              </a:rPr>
              <a:t>This</a:t>
            </a:r>
            <a:r>
              <a:rPr dirty="0" sz="3450" spc="-13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is</a:t>
            </a:r>
            <a:r>
              <a:rPr dirty="0" sz="3450" spc="-195">
                <a:latin typeface="Calibri"/>
                <a:cs typeface="Calibri"/>
              </a:rPr>
              <a:t> </a:t>
            </a:r>
            <a:r>
              <a:rPr dirty="0" sz="3450" spc="-135">
                <a:latin typeface="Calibri"/>
                <a:cs typeface="Calibri"/>
              </a:rPr>
              <a:t>the</a:t>
            </a:r>
            <a:r>
              <a:rPr dirty="0" sz="3450" spc="-200">
                <a:latin typeface="Calibri"/>
                <a:cs typeface="Calibri"/>
              </a:rPr>
              <a:t> </a:t>
            </a:r>
            <a:r>
              <a:rPr dirty="0" sz="3450" spc="-50">
                <a:latin typeface="Calibri"/>
                <a:cs typeface="Calibri"/>
              </a:rPr>
              <a:t>singte</a:t>
            </a:r>
            <a:r>
              <a:rPr dirty="0" sz="3450" spc="-145">
                <a:latin typeface="Calibri"/>
                <a:cs typeface="Calibri"/>
              </a:rPr>
              <a:t> </a:t>
            </a:r>
            <a:r>
              <a:rPr dirty="0" sz="3450" spc="-55">
                <a:latin typeface="Calibri"/>
                <a:cs typeface="Calibri"/>
              </a:rPr>
              <a:t>source</a:t>
            </a:r>
            <a:r>
              <a:rPr dirty="0" sz="3450" spc="-135">
                <a:latin typeface="Calibri"/>
                <a:cs typeface="Calibri"/>
              </a:rPr>
              <a:t> </a:t>
            </a:r>
            <a:r>
              <a:rPr dirty="0" sz="3450" spc="-25">
                <a:latin typeface="Calibri"/>
                <a:cs typeface="Calibri"/>
              </a:rPr>
              <a:t>of</a:t>
            </a:r>
            <a:r>
              <a:rPr dirty="0" sz="3450" spc="-245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truth</a:t>
            </a:r>
            <a:r>
              <a:rPr dirty="0" sz="3450" spc="-195">
                <a:latin typeface="Calibri"/>
                <a:cs typeface="Calibri"/>
              </a:rPr>
              <a:t> </a:t>
            </a:r>
            <a:r>
              <a:rPr dirty="0" sz="3450" spc="-135">
                <a:latin typeface="Calibri"/>
                <a:cs typeface="Calibri"/>
              </a:rPr>
              <a:t>for</a:t>
            </a:r>
            <a:r>
              <a:rPr dirty="0" sz="3450" spc="-105">
                <a:latin typeface="Calibri"/>
                <a:cs typeface="Calibri"/>
              </a:rPr>
              <a:t> </a:t>
            </a:r>
            <a:r>
              <a:rPr dirty="0" sz="3450" spc="-10">
                <a:latin typeface="Calibri"/>
                <a:cs typeface="Calibri"/>
              </a:rPr>
              <a:t>all</a:t>
            </a:r>
            <a:r>
              <a:rPr dirty="0" sz="3450" spc="-215">
                <a:latin typeface="Calibri"/>
                <a:cs typeface="Calibri"/>
              </a:rPr>
              <a:t> </a:t>
            </a:r>
            <a:r>
              <a:rPr dirty="0" sz="3450" spc="-110">
                <a:latin typeface="Calibri"/>
                <a:cs typeface="Calibri"/>
              </a:rPr>
              <a:t>subsequent</a:t>
            </a:r>
            <a:r>
              <a:rPr dirty="0" sz="3450" spc="-85">
                <a:latin typeface="Calibri"/>
                <a:cs typeface="Calibri"/>
              </a:rPr>
              <a:t> </a:t>
            </a:r>
            <a:r>
              <a:rPr dirty="0" sz="3450" spc="-50">
                <a:latin typeface="Calibri"/>
                <a:cs typeface="Calibri"/>
              </a:rPr>
              <a:t>analysis</a:t>
            </a:r>
            <a:r>
              <a:rPr dirty="0" sz="3450" spc="-15">
                <a:latin typeface="Calibri"/>
                <a:cs typeface="Calibri"/>
              </a:rPr>
              <a:t> </a:t>
            </a:r>
            <a:r>
              <a:rPr dirty="0" sz="3450" spc="-110">
                <a:latin typeface="Calibri"/>
                <a:cs typeface="Calibri"/>
              </a:rPr>
              <a:t>and</a:t>
            </a:r>
            <a:r>
              <a:rPr dirty="0" sz="3450" spc="-180">
                <a:latin typeface="Calibri"/>
                <a:cs typeface="Calibri"/>
              </a:rPr>
              <a:t> </a:t>
            </a:r>
            <a:r>
              <a:rPr dirty="0" sz="3450">
                <a:latin typeface="Calibri"/>
                <a:cs typeface="Calibri"/>
              </a:rPr>
              <a:t>business</a:t>
            </a:r>
            <a:r>
              <a:rPr dirty="0" sz="3450" spc="-45">
                <a:latin typeface="Calibri"/>
                <a:cs typeface="Calibri"/>
              </a:rPr>
              <a:t> </a:t>
            </a:r>
            <a:r>
              <a:rPr dirty="0" sz="3450" spc="-10">
                <a:latin typeface="Calibri"/>
                <a:cs typeface="Calibri"/>
              </a:rPr>
              <a:t>intelligence.</a:t>
            </a:r>
            <a:endParaRPr sz="3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6896100"/>
            <a:ext cx="927100" cy="901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0300" y="5207000"/>
            <a:ext cx="1422400" cy="15367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11200" y="5219700"/>
            <a:ext cx="977900" cy="1460500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0981266" y="7827433"/>
          <a:ext cx="2485390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700"/>
                <a:gridCol w="2002155"/>
              </a:tblGrid>
              <a:tr h="481965">
                <a:tc gridSpan="2">
                  <a:txBody>
                    <a:bodyPr/>
                    <a:lstStyle/>
                    <a:p>
                      <a:pPr marL="7219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050" spc="-10">
                          <a:latin typeface="Calibri"/>
                          <a:cs typeface="Calibri"/>
                        </a:rPr>
                        <a:t>dim_dish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Dish_Name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7831666" y="5922433"/>
          <a:ext cx="2209800" cy="147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955"/>
                <a:gridCol w="1718310"/>
              </a:tblGrid>
              <a:tr h="558800">
                <a:tc gridSpan="2"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950" spc="-10">
                          <a:latin typeface="Calibri"/>
                          <a:cs typeface="Calibri"/>
                        </a:rPr>
                        <a:t>dim_Iocation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65405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1440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6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@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State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14376400" y="5922433"/>
          <a:ext cx="2218690" cy="1041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955"/>
                <a:gridCol w="1727200"/>
              </a:tblGrid>
              <a:tr h="558800">
                <a:tc gridSpan="2"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dim_category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2365"/>
                        </a:lnSpc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Cuisine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7831666" y="2569632"/>
          <a:ext cx="2222500" cy="180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955"/>
                <a:gridCol w="1731010"/>
              </a:tblGrid>
              <a:tr h="495300">
                <a:tc gridSpan="2">
                  <a:txBody>
                    <a:bodyPr/>
                    <a:lstStyle/>
                    <a:p>
                      <a:pPr marL="5822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2050" spc="-10">
                          <a:latin typeface="Calibri"/>
                          <a:cs typeface="Calibri"/>
                        </a:rPr>
                        <a:t>dim_date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081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850" spc="-50">
                          <a:solidFill>
                            <a:srgbClr val="0C0C0C"/>
                          </a:solidFill>
                          <a:latin typeface="Calibri"/>
                          <a:cs typeface="Calibri"/>
                        </a:rPr>
                        <a:t>@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850" spc="-20">
                          <a:solidFill>
                            <a:srgbClr val="0E0E0E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1850">
                        <a:latin typeface="Calibri"/>
                        <a:cs typeface="Calibri"/>
                      </a:endParaRPr>
                    </a:p>
                    <a:p>
                      <a:pPr marL="135890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dirty="0" sz="1700" spc="-10">
                          <a:latin typeface="Calibri"/>
                          <a:cs typeface="Calibri"/>
                        </a:rPr>
                        <a:t>Ivlonth</a:t>
                      </a:r>
                      <a:endParaRPr sz="1700">
                        <a:latin typeface="Calibri"/>
                        <a:cs typeface="Calibri"/>
                      </a:endParaRPr>
                    </a:p>
                    <a:p>
                      <a:pPr marL="144145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650" spc="-10">
                          <a:latin typeface="Calibri"/>
                          <a:cs typeface="Calibri"/>
                        </a:rPr>
                        <a:t>quarter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14604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/>
          <p:nvPr/>
        </p:nvSpPr>
        <p:spPr>
          <a:xfrm>
            <a:off x="11099800" y="3236383"/>
            <a:ext cx="537845" cy="0"/>
          </a:xfrm>
          <a:custGeom>
            <a:avLst/>
            <a:gdLst/>
            <a:ahLst/>
            <a:cxnLst/>
            <a:rect l="l" t="t" r="r" b="b"/>
            <a:pathLst>
              <a:path w="537845" h="0">
                <a:moveTo>
                  <a:pt x="0" y="0"/>
                </a:moveTo>
                <a:lnTo>
                  <a:pt x="537633" y="0"/>
                </a:lnTo>
              </a:path>
            </a:pathLst>
          </a:custGeom>
          <a:ln w="4233">
            <a:solidFill>
              <a:srgbClr val="A0874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1658600" y="3234267"/>
            <a:ext cx="715645" cy="4445"/>
            <a:chOff x="11658600" y="3234267"/>
            <a:chExt cx="715645" cy="4445"/>
          </a:xfrm>
        </p:grpSpPr>
        <p:sp>
          <p:nvSpPr>
            <p:cNvPr id="11" name="object 11" descr=""/>
            <p:cNvSpPr/>
            <p:nvPr/>
          </p:nvSpPr>
          <p:spPr>
            <a:xfrm>
              <a:off x="11976100" y="3236383"/>
              <a:ext cx="398145" cy="0"/>
            </a:xfrm>
            <a:custGeom>
              <a:avLst/>
              <a:gdLst/>
              <a:ahLst/>
              <a:cxnLst/>
              <a:rect l="l" t="t" r="r" b="b"/>
              <a:pathLst>
                <a:path w="398145" h="0">
                  <a:moveTo>
                    <a:pt x="0" y="0"/>
                  </a:moveTo>
                  <a:lnTo>
                    <a:pt x="397933" y="0"/>
                  </a:lnTo>
                </a:path>
              </a:pathLst>
            </a:custGeom>
            <a:ln w="4233">
              <a:solidFill>
                <a:srgbClr val="A087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658600" y="3236383"/>
              <a:ext cx="296545" cy="0"/>
            </a:xfrm>
            <a:custGeom>
              <a:avLst/>
              <a:gdLst/>
              <a:ahLst/>
              <a:cxnLst/>
              <a:rect l="l" t="t" r="r" b="b"/>
              <a:pathLst>
                <a:path w="296545" h="0">
                  <a:moveTo>
                    <a:pt x="0" y="0"/>
                  </a:moveTo>
                  <a:lnTo>
                    <a:pt x="296333" y="0"/>
                  </a:lnTo>
                </a:path>
              </a:pathLst>
            </a:custGeom>
            <a:ln w="4233">
              <a:solidFill>
                <a:srgbClr val="A087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0300" y="3238500"/>
            <a:ext cx="1003300" cy="17907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411200" y="3238500"/>
            <a:ext cx="977900" cy="17780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94700" y="7023100"/>
            <a:ext cx="330200" cy="2032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0500" rIns="0" bIns="0" rtlCol="0" vert="horz">
            <a:spAutoFit/>
          </a:bodyPr>
          <a:lstStyle/>
          <a:p>
            <a:pPr marL="547370">
              <a:lnSpc>
                <a:spcPct val="100000"/>
              </a:lnSpc>
              <a:spcBef>
                <a:spcPts val="100"/>
              </a:spcBef>
            </a:pPr>
            <a:r>
              <a:rPr dirty="0" sz="5000" spc="-75">
                <a:solidFill>
                  <a:srgbClr val="07385B"/>
                </a:solidFill>
                <a:latin typeface="Cambria"/>
                <a:cs typeface="Cambria"/>
              </a:rPr>
              <a:t>Designing</a:t>
            </a:r>
            <a:r>
              <a:rPr dirty="0" sz="5000" spc="60">
                <a:solidFill>
                  <a:srgbClr val="07385B"/>
                </a:solidFill>
                <a:latin typeface="Cambria"/>
                <a:cs typeface="Cambria"/>
              </a:rPr>
              <a:t> </a:t>
            </a:r>
            <a:r>
              <a:rPr dirty="0" sz="5000">
                <a:solidFill>
                  <a:srgbClr val="083D64"/>
                </a:solidFill>
                <a:latin typeface="Cambria"/>
                <a:cs typeface="Cambria"/>
              </a:rPr>
              <a:t>for</a:t>
            </a:r>
            <a:r>
              <a:rPr dirty="0" sz="5000" spc="-275">
                <a:solidFill>
                  <a:srgbClr val="083D64"/>
                </a:solidFill>
                <a:latin typeface="Cambria"/>
                <a:cs typeface="Cambria"/>
              </a:rPr>
              <a:t> </a:t>
            </a:r>
            <a:r>
              <a:rPr dirty="0" sz="5000" spc="-10">
                <a:solidFill>
                  <a:srgbClr val="083D64"/>
                </a:solidFill>
                <a:latin typeface="Cambria"/>
                <a:cs typeface="Cambria"/>
              </a:rPr>
              <a:t>Performance</a:t>
            </a:r>
            <a:r>
              <a:rPr dirty="0" sz="5000" spc="185">
                <a:solidFill>
                  <a:srgbClr val="083D64"/>
                </a:solidFill>
                <a:latin typeface="Cambria"/>
                <a:cs typeface="Cambria"/>
              </a:rPr>
              <a:t> </a:t>
            </a:r>
            <a:r>
              <a:rPr dirty="0" sz="5000" spc="-20">
                <a:solidFill>
                  <a:srgbClr val="053860"/>
                </a:solidFill>
                <a:latin typeface="Cambria"/>
                <a:cs typeface="Cambria"/>
              </a:rPr>
              <a:t>and</a:t>
            </a:r>
            <a:r>
              <a:rPr dirty="0" sz="5000" spc="-245">
                <a:solidFill>
                  <a:srgbClr val="053860"/>
                </a:solidFill>
                <a:latin typeface="Cambria"/>
                <a:cs typeface="Cambria"/>
              </a:rPr>
              <a:t> </a:t>
            </a:r>
            <a:r>
              <a:rPr dirty="0" sz="5000">
                <a:solidFill>
                  <a:srgbClr val="053B62"/>
                </a:solidFill>
                <a:latin typeface="Cambria"/>
                <a:cs typeface="Cambria"/>
              </a:rPr>
              <a:t>Clarity:</a:t>
            </a:r>
            <a:r>
              <a:rPr dirty="0" sz="5000" spc="-155">
                <a:solidFill>
                  <a:srgbClr val="053B62"/>
                </a:solidFill>
                <a:latin typeface="Cambria"/>
                <a:cs typeface="Cambria"/>
              </a:rPr>
              <a:t> </a:t>
            </a:r>
            <a:r>
              <a:rPr dirty="0" sz="5000">
                <a:solidFill>
                  <a:srgbClr val="073F64"/>
                </a:solidFill>
                <a:latin typeface="Cambria"/>
                <a:cs typeface="Cambria"/>
              </a:rPr>
              <a:t>The</a:t>
            </a:r>
            <a:r>
              <a:rPr dirty="0" sz="5000" spc="-200">
                <a:solidFill>
                  <a:srgbClr val="073F64"/>
                </a:solidFill>
                <a:latin typeface="Cambria"/>
                <a:cs typeface="Cambria"/>
              </a:rPr>
              <a:t> </a:t>
            </a:r>
            <a:r>
              <a:rPr dirty="0" sz="5000">
                <a:solidFill>
                  <a:srgbClr val="0A4264"/>
                </a:solidFill>
                <a:latin typeface="Cambria"/>
                <a:cs typeface="Cambria"/>
              </a:rPr>
              <a:t>Star</a:t>
            </a:r>
            <a:r>
              <a:rPr dirty="0" sz="5000" spc="-190">
                <a:solidFill>
                  <a:srgbClr val="0A4264"/>
                </a:solidFill>
                <a:latin typeface="Cambria"/>
                <a:cs typeface="Cambria"/>
              </a:rPr>
              <a:t> </a:t>
            </a:r>
            <a:r>
              <a:rPr dirty="0" sz="5000" spc="-10">
                <a:solidFill>
                  <a:srgbClr val="073859"/>
                </a:solidFill>
                <a:latin typeface="Cambria"/>
                <a:cs typeface="Cambria"/>
              </a:rPr>
              <a:t>Schema</a:t>
            </a:r>
            <a:endParaRPr sz="5000">
              <a:latin typeface="Cambria"/>
              <a:cs typeface="Cambria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1229628" y="3687233"/>
            <a:ext cx="5476240" cy="287020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 marR="5080" indent="8890">
              <a:lnSpc>
                <a:spcPts val="3150"/>
              </a:lnSpc>
              <a:spcBef>
                <a:spcPts val="495"/>
              </a:spcBef>
            </a:pPr>
            <a:r>
              <a:rPr dirty="0" sz="2900" spc="-65">
                <a:latin typeface="Calibri"/>
                <a:cs typeface="Calibri"/>
              </a:rPr>
              <a:t>Dimensional</a:t>
            </a:r>
            <a:r>
              <a:rPr dirty="0" sz="2900" spc="-100">
                <a:latin typeface="Calibri"/>
                <a:cs typeface="Calibri"/>
              </a:rPr>
              <a:t> </a:t>
            </a:r>
            <a:r>
              <a:rPr dirty="0" sz="2900" spc="-50">
                <a:latin typeface="Calibri"/>
                <a:cs typeface="Calibri"/>
              </a:rPr>
              <a:t>modelling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 spc="-65">
                <a:latin typeface="Calibri"/>
                <a:cs typeface="Calibri"/>
              </a:rPr>
              <a:t>organises</a:t>
            </a:r>
            <a:r>
              <a:rPr dirty="0" sz="2900" spc="-75">
                <a:latin typeface="Calibri"/>
                <a:cs typeface="Calibri"/>
              </a:rPr>
              <a:t> </a:t>
            </a:r>
            <a:r>
              <a:rPr dirty="0" sz="2900" spc="-20">
                <a:latin typeface="Calibri"/>
                <a:cs typeface="Calibri"/>
              </a:rPr>
              <a:t>data </a:t>
            </a:r>
            <a:r>
              <a:rPr dirty="0" sz="2950" spc="-120">
                <a:latin typeface="Calibri"/>
                <a:cs typeface="Calibri"/>
              </a:rPr>
              <a:t>to</a:t>
            </a:r>
            <a:r>
              <a:rPr dirty="0" sz="2950" spc="-160">
                <a:latin typeface="Calibri"/>
                <a:cs typeface="Calibri"/>
              </a:rPr>
              <a:t> </a:t>
            </a:r>
            <a:r>
              <a:rPr dirty="0" sz="2950" spc="-105">
                <a:latin typeface="Calibri"/>
                <a:cs typeface="Calibri"/>
              </a:rPr>
              <a:t>make</a:t>
            </a:r>
            <a:r>
              <a:rPr dirty="0" sz="2950" spc="-65">
                <a:latin typeface="Calibri"/>
                <a:cs typeface="Calibri"/>
              </a:rPr>
              <a:t> </a:t>
            </a:r>
            <a:r>
              <a:rPr dirty="0" sz="2950" spc="-60">
                <a:latin typeface="Calibri"/>
                <a:cs typeface="Calibri"/>
              </a:rPr>
              <a:t>analysis</a:t>
            </a:r>
            <a:r>
              <a:rPr dirty="0" sz="2950" spc="-75">
                <a:latin typeface="Calibri"/>
                <a:cs typeface="Calibri"/>
              </a:rPr>
              <a:t> </a:t>
            </a:r>
            <a:r>
              <a:rPr dirty="0" sz="2950" spc="-70">
                <a:latin typeface="Calibri"/>
                <a:cs typeface="Calibri"/>
              </a:rPr>
              <a:t>simple,</a:t>
            </a:r>
            <a:r>
              <a:rPr dirty="0" sz="2950" spc="-4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consistent, </a:t>
            </a:r>
            <a:r>
              <a:rPr dirty="0" sz="2900" spc="-80">
                <a:latin typeface="Calibri"/>
                <a:cs typeface="Calibri"/>
              </a:rPr>
              <a:t>and</a:t>
            </a:r>
            <a:r>
              <a:rPr dirty="0" sz="2900" spc="-95">
                <a:latin typeface="Calibri"/>
                <a:cs typeface="Calibri"/>
              </a:rPr>
              <a:t> </a:t>
            </a:r>
            <a:r>
              <a:rPr dirty="0" sz="2900" spc="-80">
                <a:latin typeface="Calibri"/>
                <a:cs typeface="Calibri"/>
              </a:rPr>
              <a:t>efficient.</a:t>
            </a:r>
            <a:r>
              <a:rPr dirty="0" sz="2900" spc="-2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It</a:t>
            </a:r>
            <a:r>
              <a:rPr dirty="0" sz="2900" spc="-229">
                <a:latin typeface="Calibri"/>
                <a:cs typeface="Calibri"/>
              </a:rPr>
              <a:t> </a:t>
            </a:r>
            <a:r>
              <a:rPr dirty="0" sz="2900" spc="-90">
                <a:latin typeface="Calibri"/>
                <a:cs typeface="Calibri"/>
              </a:rPr>
              <a:t>separates</a:t>
            </a:r>
            <a:r>
              <a:rPr dirty="0" sz="2900" spc="3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descriptive </a:t>
            </a:r>
            <a:r>
              <a:rPr dirty="0" sz="2950" spc="-100">
                <a:latin typeface="Calibri"/>
                <a:cs typeface="Calibri"/>
              </a:rPr>
              <a:t>information</a:t>
            </a:r>
            <a:r>
              <a:rPr dirty="0" sz="2950" spc="-30">
                <a:latin typeface="Calibri"/>
                <a:cs typeface="Calibri"/>
              </a:rPr>
              <a:t> </a:t>
            </a:r>
            <a:r>
              <a:rPr dirty="0" sz="2950" spc="-95">
                <a:latin typeface="Calibri"/>
                <a:cs typeface="Calibri"/>
              </a:rPr>
              <a:t>(Dimensions)</a:t>
            </a:r>
            <a:r>
              <a:rPr dirty="0" sz="2950" spc="25">
                <a:latin typeface="Calibri"/>
                <a:cs typeface="Calibri"/>
              </a:rPr>
              <a:t> </a:t>
            </a:r>
            <a:r>
              <a:rPr dirty="0" sz="2950" spc="-20">
                <a:latin typeface="Calibri"/>
                <a:cs typeface="Calibri"/>
              </a:rPr>
              <a:t>from </a:t>
            </a:r>
            <a:r>
              <a:rPr dirty="0" sz="2900" spc="-75">
                <a:latin typeface="Calibri"/>
                <a:cs typeface="Calibri"/>
              </a:rPr>
              <a:t>measurable</a:t>
            </a:r>
            <a:r>
              <a:rPr dirty="0" sz="2900" spc="-15">
                <a:latin typeface="Calibri"/>
                <a:cs typeface="Calibri"/>
              </a:rPr>
              <a:t> </a:t>
            </a:r>
            <a:r>
              <a:rPr dirty="0" sz="2900" spc="-60">
                <a:latin typeface="Calibri"/>
                <a:cs typeface="Calibri"/>
              </a:rPr>
              <a:t>values</a:t>
            </a:r>
            <a:r>
              <a:rPr dirty="0" sz="2900" spc="-70">
                <a:latin typeface="Calibri"/>
                <a:cs typeface="Calibri"/>
              </a:rPr>
              <a:t> (Facts),</a:t>
            </a:r>
            <a:r>
              <a:rPr dirty="0" sz="2900" spc="-95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reducing </a:t>
            </a:r>
            <a:r>
              <a:rPr dirty="0" sz="2950" spc="-114">
                <a:latin typeface="Calibri"/>
                <a:cs typeface="Calibri"/>
              </a:rPr>
              <a:t>data</a:t>
            </a:r>
            <a:r>
              <a:rPr dirty="0" sz="2950" spc="-110">
                <a:latin typeface="Calibri"/>
                <a:cs typeface="Calibri"/>
              </a:rPr>
              <a:t> </a:t>
            </a:r>
            <a:r>
              <a:rPr dirty="0" sz="2950" spc="-70">
                <a:latin typeface="Calibri"/>
                <a:cs typeface="Calibri"/>
              </a:rPr>
              <a:t>duplication</a:t>
            </a:r>
            <a:r>
              <a:rPr dirty="0" sz="2950" spc="85">
                <a:latin typeface="Calibri"/>
                <a:cs typeface="Calibri"/>
              </a:rPr>
              <a:t> </a:t>
            </a:r>
            <a:r>
              <a:rPr dirty="0" sz="2950" spc="-100">
                <a:latin typeface="Calibri"/>
                <a:cs typeface="Calibri"/>
              </a:rPr>
              <a:t>and</a:t>
            </a:r>
            <a:r>
              <a:rPr dirty="0" sz="2950" spc="-75">
                <a:latin typeface="Calibri"/>
                <a:cs typeface="Calibri"/>
              </a:rPr>
              <a:t> </a:t>
            </a:r>
            <a:r>
              <a:rPr dirty="0" sz="2950" spc="-95">
                <a:latin typeface="Calibri"/>
                <a:cs typeface="Calibri"/>
              </a:rPr>
              <a:t>improving</a:t>
            </a:r>
            <a:r>
              <a:rPr dirty="0" sz="2950" spc="-4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query </a:t>
            </a:r>
            <a:r>
              <a:rPr dirty="0" sz="2900" spc="-20">
                <a:latin typeface="Calibri"/>
                <a:cs typeface="Calibri"/>
              </a:rPr>
              <a:t>performance.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29628" y="6887633"/>
            <a:ext cx="4944110" cy="127000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 marR="5080" indent="8890">
              <a:lnSpc>
                <a:spcPts val="3150"/>
              </a:lnSpc>
              <a:spcBef>
                <a:spcPts val="495"/>
              </a:spcBef>
            </a:pPr>
            <a:r>
              <a:rPr dirty="0" sz="2900" spc="-225">
                <a:latin typeface="Calibri"/>
                <a:cs typeface="Calibri"/>
              </a:rPr>
              <a:t>Most</a:t>
            </a:r>
            <a:r>
              <a:rPr dirty="0" sz="2900" spc="-40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BI</a:t>
            </a:r>
            <a:r>
              <a:rPr dirty="0" sz="2900" spc="-165">
                <a:latin typeface="Calibri"/>
                <a:cs typeface="Calibri"/>
              </a:rPr>
              <a:t> </a:t>
            </a:r>
            <a:r>
              <a:rPr dirty="0" sz="2900" spc="-70">
                <a:latin typeface="Calibri"/>
                <a:cs typeface="Calibri"/>
              </a:rPr>
              <a:t>tools</a:t>
            </a:r>
            <a:r>
              <a:rPr dirty="0" sz="2900" spc="-30">
                <a:latin typeface="Calibri"/>
                <a:cs typeface="Calibri"/>
              </a:rPr>
              <a:t> </a:t>
            </a:r>
            <a:r>
              <a:rPr dirty="0" sz="2900" spc="-95">
                <a:latin typeface="Calibri"/>
                <a:cs typeface="Calibri"/>
              </a:rPr>
              <a:t>are</a:t>
            </a:r>
            <a:r>
              <a:rPr dirty="0" sz="2900" spc="-145">
                <a:latin typeface="Calibri"/>
                <a:cs typeface="Calibri"/>
              </a:rPr>
              <a:t> </a:t>
            </a:r>
            <a:r>
              <a:rPr dirty="0" sz="2900" spc="-70">
                <a:latin typeface="Calibri"/>
                <a:cs typeface="Calibri"/>
              </a:rPr>
              <a:t>optimised</a:t>
            </a:r>
            <a:r>
              <a:rPr dirty="0" sz="2900" spc="75">
                <a:latin typeface="Calibri"/>
                <a:cs typeface="Calibri"/>
              </a:rPr>
              <a:t> </a:t>
            </a:r>
            <a:r>
              <a:rPr dirty="0" sz="2900" spc="-114">
                <a:latin typeface="Calibri"/>
                <a:cs typeface="Calibri"/>
              </a:rPr>
              <a:t>for</a:t>
            </a:r>
            <a:r>
              <a:rPr dirty="0" sz="2900" spc="-85">
                <a:latin typeface="Calibri"/>
                <a:cs typeface="Calibri"/>
              </a:rPr>
              <a:t> </a:t>
            </a:r>
            <a:r>
              <a:rPr dirty="0" sz="2900" spc="-20">
                <a:latin typeface="Calibri"/>
                <a:cs typeface="Calibri"/>
              </a:rPr>
              <a:t>this </a:t>
            </a:r>
            <a:r>
              <a:rPr dirty="0" sz="2900" spc="-80">
                <a:latin typeface="Calibri"/>
                <a:cs typeface="Calibri"/>
              </a:rPr>
              <a:t>structure,</a:t>
            </a:r>
            <a:r>
              <a:rPr dirty="0" sz="2900" spc="-30">
                <a:latin typeface="Calibri"/>
                <a:cs typeface="Calibri"/>
              </a:rPr>
              <a:t> </a:t>
            </a:r>
            <a:r>
              <a:rPr dirty="0" sz="2900" spc="-55">
                <a:latin typeface="Calibri"/>
                <a:cs typeface="Calibri"/>
              </a:rPr>
              <a:t>ensuring</a:t>
            </a:r>
            <a:r>
              <a:rPr dirty="0" sz="2900" spc="-25">
                <a:latin typeface="Calibri"/>
                <a:cs typeface="Calibri"/>
              </a:rPr>
              <a:t> </a:t>
            </a:r>
            <a:r>
              <a:rPr dirty="0" sz="2900">
                <a:latin typeface="Calibri"/>
                <a:cs typeface="Calibri"/>
              </a:rPr>
              <a:t>a</a:t>
            </a:r>
            <a:r>
              <a:rPr dirty="0" sz="2900" spc="-280">
                <a:latin typeface="Calibri"/>
                <a:cs typeface="Calibri"/>
              </a:rPr>
              <a:t> </a:t>
            </a:r>
            <a:r>
              <a:rPr dirty="0" sz="2900" spc="-35">
                <a:latin typeface="Calibri"/>
                <a:cs typeface="Calibri"/>
              </a:rPr>
              <a:t>scalable</a:t>
            </a:r>
            <a:r>
              <a:rPr dirty="0" sz="2900" spc="-105">
                <a:latin typeface="Calibri"/>
                <a:cs typeface="Calibri"/>
              </a:rPr>
              <a:t> </a:t>
            </a:r>
            <a:r>
              <a:rPr dirty="0" sz="2900" spc="-25">
                <a:latin typeface="Calibri"/>
                <a:cs typeface="Calibri"/>
              </a:rPr>
              <a:t>and </a:t>
            </a:r>
            <a:r>
              <a:rPr dirty="0" sz="2900" spc="-45">
                <a:latin typeface="Calibri"/>
                <a:cs typeface="Calibri"/>
              </a:rPr>
              <a:t>reliable</a:t>
            </a:r>
            <a:r>
              <a:rPr dirty="0" sz="2900" spc="-120">
                <a:latin typeface="Calibri"/>
                <a:cs typeface="Calibri"/>
              </a:rPr>
              <a:t> </a:t>
            </a:r>
            <a:r>
              <a:rPr dirty="0" sz="2900" spc="-75">
                <a:latin typeface="Calibri"/>
                <a:cs typeface="Calibri"/>
              </a:rPr>
              <a:t>foundation</a:t>
            </a:r>
            <a:r>
              <a:rPr dirty="0" sz="2900" spc="-45">
                <a:latin typeface="Calibri"/>
                <a:cs typeface="Calibri"/>
              </a:rPr>
              <a:t> </a:t>
            </a:r>
            <a:r>
              <a:rPr dirty="0" sz="2900" spc="-114">
                <a:latin typeface="Calibri"/>
                <a:cs typeface="Calibri"/>
              </a:rPr>
              <a:t>for</a:t>
            </a:r>
            <a:r>
              <a:rPr dirty="0" sz="2900" spc="-17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analytics.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132960" y="3307997"/>
            <a:ext cx="230441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latin typeface="Calibri"/>
                <a:cs typeface="Calibri"/>
              </a:rPr>
              <a:t>fact_swiggy_orders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 spc="-75">
                <a:solidFill>
                  <a:srgbClr val="A58E5B"/>
                </a:solidFill>
                <a:latin typeface="Calibri"/>
                <a:cs typeface="Calibri"/>
              </a:rPr>
              <a:t>'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139437" y="3648075"/>
            <a:ext cx="2259330" cy="914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97510" marR="5080" indent="-385445">
              <a:lnSpc>
                <a:spcPct val="157700"/>
              </a:lnSpc>
              <a:spcBef>
                <a:spcPts val="95"/>
              </a:spcBef>
              <a:tabLst>
                <a:tab pos="396875" algn="l"/>
                <a:tab pos="2101215" algn="l"/>
              </a:tabLst>
            </a:pPr>
            <a:r>
              <a:rPr dirty="0" sz="1850" spc="-495">
                <a:solidFill>
                  <a:srgbClr val="645D49"/>
                </a:solidFill>
                <a:latin typeface="Calibri"/>
                <a:cs typeface="Calibri"/>
              </a:rPr>
              <a:t>$</a:t>
            </a:r>
            <a:r>
              <a:rPr dirty="0" sz="1850">
                <a:solidFill>
                  <a:srgbClr val="645D49"/>
                </a:solidFill>
                <a:latin typeface="Calibri"/>
                <a:cs typeface="Calibri"/>
              </a:rPr>
              <a:t>	</a:t>
            </a:r>
            <a:r>
              <a:rPr dirty="0" sz="1850" spc="-10">
                <a:latin typeface="Calibri"/>
                <a:cs typeface="Calibri"/>
              </a:rPr>
              <a:t>Price_lNR</a:t>
            </a:r>
            <a:r>
              <a:rPr dirty="0" sz="1850">
                <a:latin typeface="Calibri"/>
                <a:cs typeface="Calibri"/>
              </a:rPr>
              <a:t>	</a:t>
            </a:r>
            <a:r>
              <a:rPr dirty="0" sz="1850" spc="-75">
                <a:solidFill>
                  <a:srgbClr val="A58E5D"/>
                </a:solidFill>
                <a:latin typeface="Calibri"/>
                <a:cs typeface="Calibri"/>
              </a:rPr>
              <a:t>”I </a:t>
            </a:r>
            <a:r>
              <a:rPr dirty="0" sz="1850" spc="-10">
                <a:latin typeface="Calibri"/>
                <a:cs typeface="Calibri"/>
              </a:rPr>
              <a:t>Rating</a:t>
            </a:r>
            <a:endParaRPr sz="1850">
              <a:latin typeface="Calibri"/>
              <a:cs typeface="Calibri"/>
            </a:endParaRPr>
          </a:p>
        </p:txBody>
      </p:sp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14359470" y="2569632"/>
          <a:ext cx="2247900" cy="927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255"/>
                <a:gridCol w="1769110"/>
              </a:tblGrid>
              <a:tr h="495300">
                <a:tc gridSpan="2">
                  <a:txBody>
                    <a:bodyPr/>
                    <a:lstStyle/>
                    <a:p>
                      <a:pPr marL="2889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dim_restaurant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8255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950" spc="-120">
                          <a:latin typeface="Calibri"/>
                          <a:cs typeface="Calibri"/>
                        </a:rPr>
                        <a:t>Restauran\_Name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486783"/>
                      </a:solidFill>
                      <a:prstDash val="solid"/>
                    </a:lnL>
                    <a:lnR w="12700">
                      <a:solidFill>
                        <a:srgbClr val="486783"/>
                      </a:solidFill>
                      <a:prstDash val="solid"/>
                    </a:lnR>
                    <a:lnT w="12700">
                      <a:solidFill>
                        <a:srgbClr val="486783"/>
                      </a:solidFill>
                      <a:prstDash val="solid"/>
                    </a:lnT>
                    <a:lnB w="12700">
                      <a:solidFill>
                        <a:srgbClr val="48678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 descr=""/>
          <p:cNvSpPr txBox="1"/>
          <p:nvPr/>
        </p:nvSpPr>
        <p:spPr>
          <a:xfrm>
            <a:off x="11242460" y="4708525"/>
            <a:ext cx="109537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0195" indent="-277495">
              <a:lnSpc>
                <a:spcPct val="100000"/>
              </a:lnSpc>
              <a:spcBef>
                <a:spcPts val="125"/>
              </a:spcBef>
              <a:buClr>
                <a:srgbClr val="857C62"/>
              </a:buClr>
              <a:buChar char="•"/>
              <a:tabLst>
                <a:tab pos="290195" algn="l"/>
              </a:tabLst>
            </a:pPr>
            <a:r>
              <a:rPr dirty="0" sz="1850" spc="-90">
                <a:latin typeface="Calibri"/>
                <a:cs typeface="Calibri"/>
              </a:rPr>
              <a:t>date_key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514470" y="5161844"/>
            <a:ext cx="115189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40">
                <a:latin typeface="Calibri"/>
                <a:cs typeface="Calibri"/>
              </a:rPr>
              <a:t>location_key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513811" y="5597525"/>
            <a:ext cx="136017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70">
                <a:latin typeface="Calibri"/>
                <a:cs typeface="Calibri"/>
              </a:rPr>
              <a:t>restaurant_key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1521521" y="6050844"/>
            <a:ext cx="119570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50">
                <a:latin typeface="Calibri"/>
                <a:cs typeface="Calibri"/>
              </a:rPr>
              <a:t>category_key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1520025" y="6477705"/>
            <a:ext cx="79248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120">
                <a:latin typeface="Calibri"/>
                <a:cs typeface="Calibri"/>
              </a:rPr>
              <a:t>dish_key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7277100"/>
            <a:ext cx="533400" cy="533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300" y="6019800"/>
            <a:ext cx="533400" cy="533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63800" y="6642100"/>
            <a:ext cx="1333500" cy="17018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3300" y="4775200"/>
            <a:ext cx="533400" cy="5207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9927" rIns="0" bIns="0" rtlCol="0" vert="horz">
            <a:spAutoFit/>
          </a:bodyPr>
          <a:lstStyle/>
          <a:p>
            <a:pPr marL="287020">
              <a:lnSpc>
                <a:spcPct val="100000"/>
              </a:lnSpc>
              <a:spcBef>
                <a:spcPts val="130"/>
              </a:spcBef>
            </a:pPr>
            <a:r>
              <a:rPr dirty="0" sz="5800">
                <a:solidFill>
                  <a:srgbClr val="013156"/>
                </a:solidFill>
                <a:latin typeface="Cambria"/>
                <a:cs typeface="Cambria"/>
              </a:rPr>
              <a:t>Ensuring</a:t>
            </a:r>
            <a:r>
              <a:rPr dirty="0" sz="5800" spc="170">
                <a:solidFill>
                  <a:srgbClr val="013156"/>
                </a:solidFill>
                <a:latin typeface="Cambria"/>
                <a:cs typeface="Cambria"/>
              </a:rPr>
              <a:t> </a:t>
            </a:r>
            <a:r>
              <a:rPr dirty="0" sz="5800">
                <a:solidFill>
                  <a:srgbClr val="033860"/>
                </a:solidFill>
                <a:latin typeface="Cambria"/>
                <a:cs typeface="Cambria"/>
              </a:rPr>
              <a:t>Database</a:t>
            </a:r>
            <a:r>
              <a:rPr dirty="0" sz="5800" spc="235">
                <a:solidFill>
                  <a:srgbClr val="033860"/>
                </a:solidFill>
                <a:latin typeface="Cambria"/>
                <a:cs typeface="Cambria"/>
              </a:rPr>
              <a:t> </a:t>
            </a:r>
            <a:r>
              <a:rPr dirty="0" sz="5800">
                <a:solidFill>
                  <a:srgbClr val="012F54"/>
                </a:solidFill>
                <a:latin typeface="Cambria"/>
                <a:cs typeface="Cambria"/>
              </a:rPr>
              <a:t>Integrity</a:t>
            </a:r>
            <a:r>
              <a:rPr dirty="0" sz="5800" spc="229">
                <a:solidFill>
                  <a:srgbClr val="012F54"/>
                </a:solidFill>
                <a:latin typeface="Cambria"/>
                <a:cs typeface="Cambria"/>
              </a:rPr>
              <a:t> </a:t>
            </a:r>
            <a:r>
              <a:rPr dirty="0" sz="5800">
                <a:solidFill>
                  <a:srgbClr val="013157"/>
                </a:solidFill>
                <a:latin typeface="Cambria"/>
                <a:cs typeface="Cambria"/>
              </a:rPr>
              <a:t>and</a:t>
            </a:r>
            <a:r>
              <a:rPr dirty="0" sz="5800" spc="-60">
                <a:solidFill>
                  <a:srgbClr val="013157"/>
                </a:solidFill>
                <a:latin typeface="Cambria"/>
                <a:cs typeface="Cambria"/>
              </a:rPr>
              <a:t> </a:t>
            </a:r>
            <a:r>
              <a:rPr dirty="0" sz="5800">
                <a:solidFill>
                  <a:srgbClr val="033860"/>
                </a:solidFill>
                <a:latin typeface="Cambria"/>
                <a:cs typeface="Cambria"/>
              </a:rPr>
              <a:t>Data</a:t>
            </a:r>
            <a:r>
              <a:rPr dirty="0" sz="5800" spc="-60">
                <a:solidFill>
                  <a:srgbClr val="033860"/>
                </a:solidFill>
                <a:latin typeface="Cambria"/>
                <a:cs typeface="Cambria"/>
              </a:rPr>
              <a:t> </a:t>
            </a:r>
            <a:r>
              <a:rPr dirty="0" sz="5800" spc="-10">
                <a:solidFill>
                  <a:srgbClr val="033862"/>
                </a:solidFill>
                <a:latin typeface="Cambria"/>
                <a:cs typeface="Cambria"/>
              </a:rPr>
              <a:t>Privacy</a:t>
            </a:r>
            <a:endParaRPr sz="58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64229" algn="l"/>
              </a:tabLst>
            </a:pPr>
            <a:r>
              <a:rPr dirty="0" spc="-30"/>
              <a:t>Post-</a:t>
            </a:r>
            <a:r>
              <a:rPr dirty="0"/>
              <a:t>Load</a:t>
            </a:r>
            <a:r>
              <a:rPr dirty="0" spc="120"/>
              <a:t> </a:t>
            </a:r>
            <a:r>
              <a:rPr dirty="0" spc="-25">
                <a:solidFill>
                  <a:srgbClr val="0C3454"/>
                </a:solidFill>
              </a:rPr>
              <a:t>S§L</a:t>
            </a:r>
            <a:r>
              <a:rPr dirty="0">
                <a:solidFill>
                  <a:srgbClr val="0C3454"/>
                </a:solidFill>
              </a:rPr>
              <a:t>	</a:t>
            </a:r>
            <a:r>
              <a:rPr dirty="0" spc="-10">
                <a:solidFill>
                  <a:srgbClr val="05365D"/>
                </a:solidFill>
              </a:rPr>
              <a:t>Validation</a:t>
            </a:r>
          </a:p>
          <a:p>
            <a:pPr marL="26670" marR="217170" indent="-4445">
              <a:lnSpc>
                <a:spcPts val="3750"/>
              </a:lnSpc>
              <a:spcBef>
                <a:spcPts val="3329"/>
              </a:spcBef>
            </a:pPr>
            <a:r>
              <a:rPr dirty="0" sz="3400" spc="-145">
                <a:solidFill>
                  <a:srgbClr val="000000"/>
                </a:solidFill>
              </a:rPr>
              <a:t>Even</a:t>
            </a:r>
            <a:r>
              <a:rPr dirty="0" sz="3400" spc="-60">
                <a:solidFill>
                  <a:srgbClr val="000000"/>
                </a:solidFill>
              </a:rPr>
              <a:t> </a:t>
            </a:r>
            <a:r>
              <a:rPr dirty="0" sz="3400" spc="-160">
                <a:solidFill>
                  <a:srgbClr val="000000"/>
                </a:solidFill>
              </a:rPr>
              <a:t>after</a:t>
            </a:r>
            <a:r>
              <a:rPr dirty="0" sz="3400" spc="-95">
                <a:solidFill>
                  <a:srgbClr val="000000"/>
                </a:solidFill>
              </a:rPr>
              <a:t> </a:t>
            </a:r>
            <a:r>
              <a:rPr dirty="0" sz="3400" spc="-80">
                <a:solidFill>
                  <a:srgbClr val="000000"/>
                </a:solidFill>
              </a:rPr>
              <a:t>loading,</a:t>
            </a:r>
            <a:r>
              <a:rPr dirty="0" sz="3400" spc="-100">
                <a:solidFill>
                  <a:srgbClr val="000000"/>
                </a:solidFill>
              </a:rPr>
              <a:t> </a:t>
            </a:r>
            <a:r>
              <a:rPr dirty="0" sz="3400" spc="65">
                <a:solidFill>
                  <a:srgbClr val="000000"/>
                </a:solidFill>
              </a:rPr>
              <a:t>a</a:t>
            </a:r>
            <a:r>
              <a:rPr dirty="0" sz="3400" spc="-160">
                <a:solidFill>
                  <a:srgbClr val="000000"/>
                </a:solidFill>
              </a:rPr>
              <a:t> </a:t>
            </a:r>
            <a:r>
              <a:rPr dirty="0" sz="3400" spc="-85">
                <a:solidFill>
                  <a:srgbClr val="000000"/>
                </a:solidFill>
              </a:rPr>
              <a:t>final</a:t>
            </a:r>
            <a:r>
              <a:rPr dirty="0" sz="3400" spc="-195">
                <a:solidFill>
                  <a:srgbClr val="000000"/>
                </a:solidFill>
              </a:rPr>
              <a:t> </a:t>
            </a:r>
            <a:r>
              <a:rPr dirty="0" sz="3400" spc="-105">
                <a:solidFill>
                  <a:srgbClr val="000000"/>
                </a:solidFill>
              </a:rPr>
              <a:t>layer</a:t>
            </a:r>
            <a:r>
              <a:rPr dirty="0" sz="3400" spc="-90">
                <a:solidFill>
                  <a:srgbClr val="000000"/>
                </a:solidFill>
              </a:rPr>
              <a:t> </a:t>
            </a:r>
            <a:r>
              <a:rPr dirty="0" sz="3400" spc="-95">
                <a:solidFill>
                  <a:srgbClr val="000000"/>
                </a:solidFill>
              </a:rPr>
              <a:t>of</a:t>
            </a:r>
            <a:r>
              <a:rPr dirty="0" sz="3400" spc="-220">
                <a:solidFill>
                  <a:srgbClr val="000000"/>
                </a:solidFill>
              </a:rPr>
              <a:t> </a:t>
            </a:r>
            <a:r>
              <a:rPr dirty="0" sz="3400" spc="-70">
                <a:solidFill>
                  <a:srgbClr val="000000"/>
                </a:solidFill>
              </a:rPr>
              <a:t>checks</a:t>
            </a:r>
            <a:r>
              <a:rPr dirty="0" sz="3400" spc="5">
                <a:solidFill>
                  <a:srgbClr val="000000"/>
                </a:solidFill>
              </a:rPr>
              <a:t> </a:t>
            </a:r>
            <a:r>
              <a:rPr dirty="0" sz="3400" spc="-25">
                <a:solidFill>
                  <a:srgbClr val="000000"/>
                </a:solidFill>
              </a:rPr>
              <a:t>is </a:t>
            </a:r>
            <a:r>
              <a:rPr dirty="0" sz="3400" spc="-150">
                <a:solidFill>
                  <a:srgbClr val="000000"/>
                </a:solidFill>
              </a:rPr>
              <a:t>performed</a:t>
            </a:r>
            <a:r>
              <a:rPr dirty="0" sz="3400" spc="-45">
                <a:solidFill>
                  <a:srgbClr val="000000"/>
                </a:solidFill>
              </a:rPr>
              <a:t> </a:t>
            </a:r>
            <a:r>
              <a:rPr dirty="0" sz="3400" spc="-50">
                <a:solidFill>
                  <a:srgbClr val="000000"/>
                </a:solidFill>
              </a:rPr>
              <a:t>in</a:t>
            </a:r>
            <a:r>
              <a:rPr dirty="0" sz="3400" spc="-140">
                <a:solidFill>
                  <a:srgbClr val="000000"/>
                </a:solidFill>
              </a:rPr>
              <a:t> </a:t>
            </a:r>
            <a:r>
              <a:rPr dirty="0" sz="3400" spc="-55">
                <a:solidFill>
                  <a:srgbClr val="000000"/>
                </a:solidFill>
              </a:rPr>
              <a:t>SQL</a:t>
            </a:r>
            <a:r>
              <a:rPr dirty="0" sz="3400" spc="-85">
                <a:solidFill>
                  <a:srgbClr val="000000"/>
                </a:solidFill>
              </a:rPr>
              <a:t> </a:t>
            </a:r>
            <a:r>
              <a:rPr dirty="0" sz="3400" spc="-150">
                <a:solidFill>
                  <a:srgbClr val="000000"/>
                </a:solidFill>
              </a:rPr>
              <a:t>to</a:t>
            </a:r>
            <a:r>
              <a:rPr dirty="0" sz="3400" spc="-45">
                <a:solidFill>
                  <a:srgbClr val="000000"/>
                </a:solidFill>
              </a:rPr>
              <a:t> </a:t>
            </a:r>
            <a:r>
              <a:rPr dirty="0" sz="3400" spc="-140">
                <a:solidFill>
                  <a:srgbClr val="000000"/>
                </a:solidFill>
              </a:rPr>
              <a:t>guarantee</a:t>
            </a:r>
            <a:r>
              <a:rPr dirty="0" sz="3400" spc="-20">
                <a:solidFill>
                  <a:srgbClr val="000000"/>
                </a:solidFill>
              </a:rPr>
              <a:t> </a:t>
            </a:r>
            <a:r>
              <a:rPr dirty="0" sz="3400" spc="-35">
                <a:solidFill>
                  <a:srgbClr val="000000"/>
                </a:solidFill>
              </a:rPr>
              <a:t>integrity.</a:t>
            </a:r>
            <a:endParaRPr sz="3400"/>
          </a:p>
          <a:p>
            <a:pPr marL="890269" marR="700405" indent="-3175">
              <a:lnSpc>
                <a:spcPts val="3700"/>
              </a:lnSpc>
              <a:spcBef>
                <a:spcPts val="3190"/>
              </a:spcBef>
            </a:pPr>
            <a:r>
              <a:rPr dirty="0" sz="3250">
                <a:solidFill>
                  <a:srgbClr val="000000"/>
                </a:solidFill>
              </a:rPr>
              <a:t>Row</a:t>
            </a:r>
            <a:r>
              <a:rPr dirty="0" sz="3250" spc="15">
                <a:solidFill>
                  <a:srgbClr val="000000"/>
                </a:solidFill>
              </a:rPr>
              <a:t> </a:t>
            </a:r>
            <a:r>
              <a:rPr dirty="0" sz="3250">
                <a:solidFill>
                  <a:srgbClr val="000000"/>
                </a:solidFill>
              </a:rPr>
              <a:t>Count</a:t>
            </a:r>
            <a:r>
              <a:rPr dirty="0" sz="3250" spc="-105">
                <a:solidFill>
                  <a:srgbClr val="000000"/>
                </a:solidFill>
              </a:rPr>
              <a:t> </a:t>
            </a:r>
            <a:r>
              <a:rPr dirty="0" sz="3250">
                <a:solidFill>
                  <a:srgbClr val="000000"/>
                </a:solidFill>
              </a:rPr>
              <a:t>Verification:</a:t>
            </a:r>
            <a:r>
              <a:rPr dirty="0" sz="3250" spc="135">
                <a:solidFill>
                  <a:srgbClr val="000000"/>
                </a:solidFill>
              </a:rPr>
              <a:t> </a:t>
            </a:r>
            <a:r>
              <a:rPr dirty="0" sz="3250" spc="-25">
                <a:solidFill>
                  <a:srgbClr val="000000"/>
                </a:solidFill>
              </a:rPr>
              <a:t>Does</a:t>
            </a:r>
            <a:r>
              <a:rPr dirty="0" sz="3250" spc="110">
                <a:solidFill>
                  <a:srgbClr val="000000"/>
                </a:solidFill>
              </a:rPr>
              <a:t> </a:t>
            </a:r>
            <a:r>
              <a:rPr dirty="0" sz="3250" spc="-25">
                <a:solidFill>
                  <a:srgbClr val="000000"/>
                </a:solidFill>
              </a:rPr>
              <a:t>the </a:t>
            </a:r>
            <a:r>
              <a:rPr dirty="0" sz="3250" spc="-30">
                <a:solidFill>
                  <a:srgbClr val="000000"/>
                </a:solidFill>
              </a:rPr>
              <a:t>table</a:t>
            </a:r>
            <a:r>
              <a:rPr dirty="0" sz="3250" spc="-155">
                <a:solidFill>
                  <a:srgbClr val="000000"/>
                </a:solidFill>
              </a:rPr>
              <a:t> </a:t>
            </a:r>
            <a:r>
              <a:rPr dirty="0" sz="3250" spc="-125">
                <a:solidFill>
                  <a:srgbClr val="000000"/>
                </a:solidFill>
              </a:rPr>
              <a:t>row</a:t>
            </a:r>
            <a:r>
              <a:rPr dirty="0" sz="3250" spc="-60">
                <a:solidFill>
                  <a:srgbClr val="000000"/>
                </a:solidFill>
              </a:rPr>
              <a:t> </a:t>
            </a:r>
            <a:r>
              <a:rPr dirty="0" sz="3250" spc="-25">
                <a:solidFill>
                  <a:srgbClr val="000000"/>
                </a:solidFill>
              </a:rPr>
              <a:t>count</a:t>
            </a:r>
            <a:r>
              <a:rPr dirty="0" sz="3250" spc="-155">
                <a:solidFill>
                  <a:srgbClr val="000000"/>
                </a:solidFill>
              </a:rPr>
              <a:t> </a:t>
            </a:r>
            <a:r>
              <a:rPr dirty="0" sz="3250" spc="-35">
                <a:solidFill>
                  <a:srgbClr val="000000"/>
                </a:solidFill>
              </a:rPr>
              <a:t>match</a:t>
            </a:r>
            <a:r>
              <a:rPr dirty="0" sz="3250" spc="-90">
                <a:solidFill>
                  <a:srgbClr val="000000"/>
                </a:solidFill>
              </a:rPr>
              <a:t> </a:t>
            </a:r>
            <a:r>
              <a:rPr dirty="0" sz="3250" spc="-40">
                <a:solidFill>
                  <a:srgbClr val="000000"/>
                </a:solidFill>
              </a:rPr>
              <a:t>the</a:t>
            </a:r>
            <a:r>
              <a:rPr dirty="0" sz="3250" spc="-155">
                <a:solidFill>
                  <a:srgbClr val="000000"/>
                </a:solidFill>
              </a:rPr>
              <a:t> </a:t>
            </a:r>
            <a:r>
              <a:rPr dirty="0" sz="3250" spc="-75">
                <a:solidFill>
                  <a:srgbClr val="000000"/>
                </a:solidFill>
              </a:rPr>
              <a:t>source?</a:t>
            </a:r>
            <a:endParaRPr sz="3250"/>
          </a:p>
          <a:p>
            <a:pPr marL="885825">
              <a:lnSpc>
                <a:spcPts val="3995"/>
              </a:lnSpc>
              <a:spcBef>
                <a:spcPts val="2010"/>
              </a:spcBef>
            </a:pPr>
            <a:r>
              <a:rPr dirty="0" sz="3450" spc="-55">
                <a:solidFill>
                  <a:srgbClr val="000000"/>
                </a:solidFill>
              </a:rPr>
              <a:t>Foreign</a:t>
            </a:r>
            <a:r>
              <a:rPr dirty="0" sz="3450" spc="-140">
                <a:solidFill>
                  <a:srgbClr val="000000"/>
                </a:solidFill>
              </a:rPr>
              <a:t> </a:t>
            </a:r>
            <a:r>
              <a:rPr dirty="0" sz="3450">
                <a:solidFill>
                  <a:srgbClr val="000000"/>
                </a:solidFill>
              </a:rPr>
              <a:t>Key</a:t>
            </a:r>
            <a:r>
              <a:rPr dirty="0" sz="3450" spc="-185">
                <a:solidFill>
                  <a:srgbClr val="000000"/>
                </a:solidFill>
              </a:rPr>
              <a:t> </a:t>
            </a:r>
            <a:r>
              <a:rPr dirty="0" sz="3450" spc="-50">
                <a:solidFill>
                  <a:srgbClr val="000000"/>
                </a:solidFill>
              </a:rPr>
              <a:t>Validation:</a:t>
            </a:r>
            <a:r>
              <a:rPr dirty="0" sz="3450" spc="-75">
                <a:solidFill>
                  <a:srgbClr val="000000"/>
                </a:solidFill>
              </a:rPr>
              <a:t> </a:t>
            </a:r>
            <a:r>
              <a:rPr dirty="0" sz="3450" spc="-254">
                <a:solidFill>
                  <a:srgbClr val="000000"/>
                </a:solidFill>
              </a:rPr>
              <a:t>Are</a:t>
            </a:r>
            <a:r>
              <a:rPr dirty="0" sz="3450" spc="-80">
                <a:solidFill>
                  <a:srgbClr val="000000"/>
                </a:solidFill>
              </a:rPr>
              <a:t> </a:t>
            </a:r>
            <a:r>
              <a:rPr dirty="0" sz="3450" spc="-25">
                <a:solidFill>
                  <a:srgbClr val="000000"/>
                </a:solidFill>
              </a:rPr>
              <a:t>all</a:t>
            </a:r>
            <a:endParaRPr sz="3450"/>
          </a:p>
          <a:p>
            <a:pPr marL="890905">
              <a:lnSpc>
                <a:spcPts val="3815"/>
              </a:lnSpc>
            </a:pPr>
            <a:r>
              <a:rPr dirty="0" sz="3300" spc="-55">
                <a:solidFill>
                  <a:srgbClr val="000000"/>
                </a:solidFill>
              </a:rPr>
              <a:t>relationships</a:t>
            </a:r>
            <a:r>
              <a:rPr dirty="0" sz="3300" spc="-95">
                <a:solidFill>
                  <a:srgbClr val="000000"/>
                </a:solidFill>
              </a:rPr>
              <a:t> </a:t>
            </a:r>
            <a:r>
              <a:rPr dirty="0" sz="3300" spc="-10">
                <a:solidFill>
                  <a:srgbClr val="000000"/>
                </a:solidFill>
              </a:rPr>
              <a:t>intact?</a:t>
            </a:r>
            <a:endParaRPr sz="3300"/>
          </a:p>
          <a:p>
            <a:pPr algn="just" marL="894080" marR="5080" indent="-6350">
              <a:lnSpc>
                <a:spcPct val="105800"/>
              </a:lnSpc>
              <a:spcBef>
                <a:spcPts val="2060"/>
              </a:spcBef>
            </a:pPr>
            <a:r>
              <a:rPr dirty="0" sz="3250" spc="75">
                <a:solidFill>
                  <a:srgbClr val="000000"/>
                </a:solidFill>
              </a:rPr>
              <a:t>Null</a:t>
            </a:r>
            <a:r>
              <a:rPr dirty="0" sz="3250" spc="-185">
                <a:solidFill>
                  <a:srgbClr val="000000"/>
                </a:solidFill>
              </a:rPr>
              <a:t> </a:t>
            </a:r>
            <a:r>
              <a:rPr dirty="0" sz="3250" spc="50">
                <a:solidFill>
                  <a:srgbClr val="000000"/>
                </a:solidFill>
              </a:rPr>
              <a:t>Checks:</a:t>
            </a:r>
            <a:r>
              <a:rPr dirty="0" sz="3250" spc="-185">
                <a:solidFill>
                  <a:srgbClr val="000000"/>
                </a:solidFill>
              </a:rPr>
              <a:t> </a:t>
            </a:r>
            <a:r>
              <a:rPr dirty="0" sz="3250" spc="-85">
                <a:solidFill>
                  <a:srgbClr val="000000"/>
                </a:solidFill>
              </a:rPr>
              <a:t>Re-</a:t>
            </a:r>
            <a:r>
              <a:rPr dirty="0" sz="3250" spc="-20">
                <a:solidFill>
                  <a:srgbClr val="000000"/>
                </a:solidFill>
              </a:rPr>
              <a:t>verify</a:t>
            </a:r>
            <a:r>
              <a:rPr dirty="0" sz="3250" spc="100">
                <a:solidFill>
                  <a:srgbClr val="000000"/>
                </a:solidFill>
              </a:rPr>
              <a:t> </a:t>
            </a:r>
            <a:r>
              <a:rPr dirty="0" sz="3250">
                <a:solidFill>
                  <a:srgbClr val="000000"/>
                </a:solidFill>
              </a:rPr>
              <a:t>critical</a:t>
            </a:r>
            <a:r>
              <a:rPr dirty="0" sz="3250" spc="-170">
                <a:solidFill>
                  <a:srgbClr val="000000"/>
                </a:solidFill>
              </a:rPr>
              <a:t> </a:t>
            </a:r>
            <a:r>
              <a:rPr dirty="0" sz="3250" spc="-30">
                <a:solidFill>
                  <a:srgbClr val="000000"/>
                </a:solidFill>
              </a:rPr>
              <a:t>columns </a:t>
            </a:r>
            <a:r>
              <a:rPr dirty="0" sz="2900">
                <a:solidFill>
                  <a:srgbClr val="000000"/>
                </a:solidFill>
              </a:rPr>
              <a:t>(</a:t>
            </a:r>
            <a:r>
              <a:rPr dirty="0" sz="2900" spc="165">
                <a:solidFill>
                  <a:srgbClr val="000000"/>
                </a:solidFill>
              </a:rPr>
              <a:t>  </a:t>
            </a:r>
            <a:r>
              <a:rPr dirty="0" sz="2900">
                <a:solidFill>
                  <a:srgbClr val="000000"/>
                </a:solidFill>
              </a:rPr>
              <a:t>SELECT</a:t>
            </a:r>
            <a:r>
              <a:rPr dirty="0" sz="2900" spc="204">
                <a:solidFill>
                  <a:srgbClr val="000000"/>
                </a:solidFill>
              </a:rPr>
              <a:t>  </a:t>
            </a:r>
            <a:r>
              <a:rPr dirty="0" sz="2900">
                <a:solidFill>
                  <a:srgbClr val="000000"/>
                </a:solidFill>
              </a:rPr>
              <a:t>C0UNT(•)</a:t>
            </a:r>
            <a:r>
              <a:rPr dirty="0" sz="2900" spc="285">
                <a:solidFill>
                  <a:srgbClr val="000000"/>
                </a:solidFill>
              </a:rPr>
              <a:t>  </a:t>
            </a:r>
            <a:r>
              <a:rPr dirty="0" sz="2900">
                <a:solidFill>
                  <a:srgbClr val="000000"/>
                </a:solidFill>
              </a:rPr>
              <a:t>FR0ñ</a:t>
            </a:r>
            <a:r>
              <a:rPr dirty="0" sz="2900" spc="100">
                <a:solidFill>
                  <a:srgbClr val="000000"/>
                </a:solidFill>
              </a:rPr>
              <a:t>  </a:t>
            </a:r>
            <a:r>
              <a:rPr dirty="0" sz="2900" spc="295">
                <a:solidFill>
                  <a:srgbClr val="000000"/>
                </a:solidFill>
              </a:rPr>
              <a:t>sales</a:t>
            </a:r>
            <a:r>
              <a:rPr dirty="0" sz="2900" spc="50">
                <a:solidFill>
                  <a:srgbClr val="000000"/>
                </a:solidFill>
              </a:rPr>
              <a:t>  </a:t>
            </a:r>
            <a:r>
              <a:rPr dirty="0" sz="2900" spc="-105">
                <a:solidFill>
                  <a:srgbClr val="000000"/>
                </a:solidFill>
              </a:rPr>
              <a:t>hiHERE </a:t>
            </a:r>
            <a:r>
              <a:rPr dirty="0" sz="2850" spc="185">
                <a:solidFill>
                  <a:srgbClr val="000000"/>
                </a:solidFill>
              </a:rPr>
              <a:t>custoner_td</a:t>
            </a:r>
            <a:r>
              <a:rPr dirty="0" sz="2850" spc="204">
                <a:solidFill>
                  <a:srgbClr val="000000"/>
                </a:solidFill>
              </a:rPr>
              <a:t>  </a:t>
            </a:r>
            <a:r>
              <a:rPr dirty="0" sz="2850" spc="145">
                <a:solidFill>
                  <a:srgbClr val="000000"/>
                </a:solidFill>
              </a:rPr>
              <a:t>IS</a:t>
            </a:r>
            <a:r>
              <a:rPr dirty="0" sz="2850" spc="420">
                <a:solidFill>
                  <a:srgbClr val="000000"/>
                </a:solidFill>
              </a:rPr>
              <a:t>  </a:t>
            </a:r>
            <a:r>
              <a:rPr dirty="0" sz="2850">
                <a:solidFill>
                  <a:srgbClr val="000000"/>
                </a:solidFill>
              </a:rPr>
              <a:t>NULL;</a:t>
            </a:r>
            <a:r>
              <a:rPr dirty="0" sz="2850" spc="305">
                <a:solidFill>
                  <a:srgbClr val="000000"/>
                </a:solidFill>
              </a:rPr>
              <a:t>  </a:t>
            </a:r>
            <a:r>
              <a:rPr dirty="0" sz="2850" spc="-25">
                <a:solidFill>
                  <a:srgbClr val="000000"/>
                </a:solidFill>
              </a:rPr>
              <a:t>).</a:t>
            </a:r>
            <a:endParaRPr sz="2850"/>
          </a:p>
        </p:txBody>
      </p:sp>
      <p:sp>
        <p:nvSpPr>
          <p:cNvPr id="8" name="object 8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dirty="0"/>
              <a:t>Responsible</a:t>
            </a:r>
            <a:r>
              <a:rPr dirty="0" spc="310"/>
              <a:t> </a:t>
            </a:r>
            <a:r>
              <a:rPr dirty="0" spc="-20">
                <a:solidFill>
                  <a:srgbClr val="053154"/>
                </a:solidFill>
              </a:rPr>
              <a:t>Data</a:t>
            </a:r>
            <a:r>
              <a:rPr dirty="0" spc="-150">
                <a:solidFill>
                  <a:srgbClr val="053154"/>
                </a:solidFill>
              </a:rPr>
              <a:t> </a:t>
            </a:r>
            <a:r>
              <a:rPr dirty="0" spc="-10">
                <a:solidFill>
                  <a:srgbClr val="05365E"/>
                </a:solidFill>
              </a:rPr>
              <a:t>Masking</a:t>
            </a:r>
          </a:p>
          <a:p>
            <a:pPr marL="15240" marR="86995" indent="-3175">
              <a:lnSpc>
                <a:spcPct val="91500"/>
              </a:lnSpc>
              <a:spcBef>
                <a:spcPts val="3325"/>
              </a:spcBef>
            </a:pPr>
            <a:r>
              <a:rPr dirty="0" sz="3300" spc="-114">
                <a:solidFill>
                  <a:srgbClr val="000000"/>
                </a:solidFill>
              </a:rPr>
              <a:t>Management</a:t>
            </a:r>
            <a:r>
              <a:rPr dirty="0" sz="3300" spc="-15">
                <a:solidFill>
                  <a:srgbClr val="000000"/>
                </a:solidFill>
              </a:rPr>
              <a:t> </a:t>
            </a:r>
            <a:r>
              <a:rPr dirty="0" sz="3300" spc="-55">
                <a:solidFill>
                  <a:srgbClr val="000000"/>
                </a:solidFill>
              </a:rPr>
              <a:t>needs</a:t>
            </a:r>
            <a:r>
              <a:rPr dirty="0" sz="3300" spc="-110">
                <a:solidFill>
                  <a:srgbClr val="000000"/>
                </a:solidFill>
              </a:rPr>
              <a:t> </a:t>
            </a:r>
            <a:r>
              <a:rPr dirty="0" sz="3300" spc="-40">
                <a:solidFill>
                  <a:srgbClr val="000000"/>
                </a:solidFill>
              </a:rPr>
              <a:t>insights,</a:t>
            </a:r>
            <a:r>
              <a:rPr dirty="0" sz="3300" spc="-60">
                <a:solidFill>
                  <a:srgbClr val="000000"/>
                </a:solidFill>
              </a:rPr>
              <a:t> </a:t>
            </a:r>
            <a:r>
              <a:rPr dirty="0" sz="3300" spc="-114">
                <a:solidFill>
                  <a:srgbClr val="000000"/>
                </a:solidFill>
              </a:rPr>
              <a:t>not</a:t>
            </a:r>
            <a:r>
              <a:rPr dirty="0" sz="3300" spc="-80">
                <a:solidFill>
                  <a:srgbClr val="000000"/>
                </a:solidFill>
              </a:rPr>
              <a:t> </a:t>
            </a:r>
            <a:r>
              <a:rPr dirty="0" sz="3300" spc="-10">
                <a:solidFill>
                  <a:srgbClr val="000000"/>
                </a:solidFill>
              </a:rPr>
              <a:t>sensitive </a:t>
            </a:r>
            <a:r>
              <a:rPr dirty="0" sz="3450" spc="-140">
                <a:solidFill>
                  <a:srgbClr val="000000"/>
                </a:solidFill>
              </a:rPr>
              <a:t>personal</a:t>
            </a:r>
            <a:r>
              <a:rPr dirty="0" sz="3450" spc="-5">
                <a:solidFill>
                  <a:srgbClr val="000000"/>
                </a:solidFill>
              </a:rPr>
              <a:t> </a:t>
            </a:r>
            <a:r>
              <a:rPr dirty="0" sz="3450" spc="-155">
                <a:solidFill>
                  <a:srgbClr val="000000"/>
                </a:solidFill>
              </a:rPr>
              <a:t>data.</a:t>
            </a:r>
            <a:r>
              <a:rPr dirty="0" sz="3450" spc="-70">
                <a:solidFill>
                  <a:srgbClr val="000000"/>
                </a:solidFill>
              </a:rPr>
              <a:t> </a:t>
            </a:r>
            <a:r>
              <a:rPr dirty="0" sz="3450" spc="-185">
                <a:solidFill>
                  <a:srgbClr val="000000"/>
                </a:solidFill>
              </a:rPr>
              <a:t>Data</a:t>
            </a:r>
            <a:r>
              <a:rPr dirty="0" sz="3450" spc="-40">
                <a:solidFill>
                  <a:srgbClr val="000000"/>
                </a:solidFill>
              </a:rPr>
              <a:t> </a:t>
            </a:r>
            <a:r>
              <a:rPr dirty="0" sz="3450" spc="-120">
                <a:solidFill>
                  <a:srgbClr val="000000"/>
                </a:solidFill>
              </a:rPr>
              <a:t>masking</a:t>
            </a:r>
            <a:r>
              <a:rPr dirty="0" sz="3450" spc="-45">
                <a:solidFill>
                  <a:srgbClr val="000000"/>
                </a:solidFill>
              </a:rPr>
              <a:t> </a:t>
            </a:r>
            <a:r>
              <a:rPr dirty="0" sz="3450" spc="-20">
                <a:solidFill>
                  <a:srgbClr val="000000"/>
                </a:solidFill>
              </a:rPr>
              <a:t>is</a:t>
            </a:r>
            <a:r>
              <a:rPr dirty="0" sz="3450" spc="-250">
                <a:solidFill>
                  <a:srgbClr val="000000"/>
                </a:solidFill>
              </a:rPr>
              <a:t> </a:t>
            </a:r>
            <a:r>
              <a:rPr dirty="0" sz="3450" spc="-110">
                <a:solidFill>
                  <a:srgbClr val="000000"/>
                </a:solidFill>
              </a:rPr>
              <a:t>essential</a:t>
            </a:r>
            <a:r>
              <a:rPr dirty="0" sz="3450" spc="15">
                <a:solidFill>
                  <a:srgbClr val="000000"/>
                </a:solidFill>
              </a:rPr>
              <a:t> </a:t>
            </a:r>
            <a:r>
              <a:rPr dirty="0" sz="3450" spc="-25">
                <a:solidFill>
                  <a:srgbClr val="000000"/>
                </a:solidFill>
              </a:rPr>
              <a:t>for </a:t>
            </a:r>
            <a:r>
              <a:rPr dirty="0" sz="3400" spc="-90">
                <a:solidFill>
                  <a:srgbClr val="000000"/>
                </a:solidFill>
              </a:rPr>
              <a:t>privacy</a:t>
            </a:r>
            <a:r>
              <a:rPr dirty="0" sz="3400" spc="-50">
                <a:solidFill>
                  <a:srgbClr val="000000"/>
                </a:solidFill>
              </a:rPr>
              <a:t> </a:t>
            </a:r>
            <a:r>
              <a:rPr dirty="0" sz="3400" spc="-100">
                <a:solidFill>
                  <a:srgbClr val="000000"/>
                </a:solidFill>
              </a:rPr>
              <a:t>and</a:t>
            </a:r>
            <a:r>
              <a:rPr dirty="0" sz="3400" spc="-90">
                <a:solidFill>
                  <a:srgbClr val="000000"/>
                </a:solidFill>
              </a:rPr>
              <a:t> </a:t>
            </a:r>
            <a:r>
              <a:rPr dirty="0" sz="3400" spc="-30">
                <a:solidFill>
                  <a:srgbClr val="000000"/>
                </a:solidFill>
              </a:rPr>
              <a:t>compliance.</a:t>
            </a:r>
            <a:endParaRPr sz="3400"/>
          </a:p>
          <a:p>
            <a:pPr marL="13335" marR="5080">
              <a:lnSpc>
                <a:spcPts val="3700"/>
              </a:lnSpc>
              <a:spcBef>
                <a:spcPts val="3360"/>
              </a:spcBef>
            </a:pPr>
            <a:r>
              <a:rPr dirty="0" sz="3250" spc="-150">
                <a:solidFill>
                  <a:srgbClr val="000000"/>
                </a:solidFill>
              </a:rPr>
              <a:t>Mask</a:t>
            </a:r>
            <a:r>
              <a:rPr dirty="0" sz="3250" spc="-35">
                <a:solidFill>
                  <a:srgbClr val="000000"/>
                </a:solidFill>
              </a:rPr>
              <a:t> </a:t>
            </a:r>
            <a:r>
              <a:rPr dirty="0" sz="3250" spc="-20">
                <a:solidFill>
                  <a:srgbClr val="000000"/>
                </a:solidFill>
              </a:rPr>
              <a:t>sensitive</a:t>
            </a:r>
            <a:r>
              <a:rPr dirty="0" sz="3250" spc="-110">
                <a:solidFill>
                  <a:srgbClr val="000000"/>
                </a:solidFill>
              </a:rPr>
              <a:t> </a:t>
            </a:r>
            <a:r>
              <a:rPr dirty="0" sz="3250" spc="-20">
                <a:solidFill>
                  <a:srgbClr val="000000"/>
                </a:solidFill>
              </a:rPr>
              <a:t>fields</a:t>
            </a:r>
            <a:r>
              <a:rPr dirty="0" sz="3250" spc="-45">
                <a:solidFill>
                  <a:srgbClr val="000000"/>
                </a:solidFill>
              </a:rPr>
              <a:t> </a:t>
            </a:r>
            <a:r>
              <a:rPr dirty="0" sz="3250">
                <a:solidFill>
                  <a:srgbClr val="000000"/>
                </a:solidFill>
              </a:rPr>
              <a:t>like</a:t>
            </a:r>
            <a:r>
              <a:rPr dirty="0" sz="3250" spc="-160">
                <a:solidFill>
                  <a:srgbClr val="000000"/>
                </a:solidFill>
              </a:rPr>
              <a:t> </a:t>
            </a:r>
            <a:r>
              <a:rPr dirty="0" sz="3250">
                <a:solidFill>
                  <a:srgbClr val="000000"/>
                </a:solidFill>
              </a:rPr>
              <a:t>Email</a:t>
            </a:r>
            <a:r>
              <a:rPr dirty="0" sz="3250" spc="-180">
                <a:solidFill>
                  <a:srgbClr val="000000"/>
                </a:solidFill>
              </a:rPr>
              <a:t> </a:t>
            </a:r>
            <a:r>
              <a:rPr dirty="0" sz="3250" spc="-90">
                <a:solidFill>
                  <a:srgbClr val="000000"/>
                </a:solidFill>
              </a:rPr>
              <a:t>ID,</a:t>
            </a:r>
            <a:r>
              <a:rPr dirty="0" sz="3250" spc="-105">
                <a:solidFill>
                  <a:srgbClr val="000000"/>
                </a:solidFill>
              </a:rPr>
              <a:t> </a:t>
            </a:r>
            <a:r>
              <a:rPr dirty="0" sz="3250" spc="-45">
                <a:solidFill>
                  <a:srgbClr val="000000"/>
                </a:solidFill>
              </a:rPr>
              <a:t>Customer </a:t>
            </a:r>
            <a:r>
              <a:rPr dirty="0" sz="3250" spc="-40">
                <a:solidFill>
                  <a:srgbClr val="000000"/>
                </a:solidFill>
              </a:rPr>
              <a:t>Name,</a:t>
            </a:r>
            <a:r>
              <a:rPr dirty="0" sz="3250" spc="-145">
                <a:solidFill>
                  <a:srgbClr val="000000"/>
                </a:solidFill>
              </a:rPr>
              <a:t> </a:t>
            </a:r>
            <a:r>
              <a:rPr dirty="0" sz="3250">
                <a:solidFill>
                  <a:srgbClr val="000000"/>
                </a:solidFill>
              </a:rPr>
              <a:t>and</a:t>
            </a:r>
            <a:r>
              <a:rPr dirty="0" sz="3250" spc="-185">
                <a:solidFill>
                  <a:srgbClr val="000000"/>
                </a:solidFill>
              </a:rPr>
              <a:t> </a:t>
            </a:r>
            <a:r>
              <a:rPr dirty="0" sz="3250" spc="-35">
                <a:solidFill>
                  <a:srgbClr val="000000"/>
                </a:solidFill>
              </a:rPr>
              <a:t>Phone</a:t>
            </a:r>
            <a:r>
              <a:rPr dirty="0" sz="3250" spc="-114">
                <a:solidFill>
                  <a:srgbClr val="000000"/>
                </a:solidFill>
              </a:rPr>
              <a:t> </a:t>
            </a:r>
            <a:r>
              <a:rPr dirty="0" sz="3250" spc="-10">
                <a:solidFill>
                  <a:srgbClr val="000000"/>
                </a:solidFill>
              </a:rPr>
              <a:t>Number.</a:t>
            </a:r>
            <a:endParaRPr sz="3250"/>
          </a:p>
          <a:p>
            <a:pPr>
              <a:lnSpc>
                <a:spcPct val="100000"/>
              </a:lnSpc>
              <a:spcBef>
                <a:spcPts val="2710"/>
              </a:spcBef>
            </a:pPr>
            <a:endParaRPr sz="3250"/>
          </a:p>
          <a:p>
            <a:pPr marL="334010" marR="1668780" indent="-10160">
              <a:lnSpc>
                <a:spcPct val="115399"/>
              </a:lnSpc>
              <a:spcBef>
                <a:spcPts val="5"/>
              </a:spcBef>
              <a:tabLst>
                <a:tab pos="1330960" algn="l"/>
                <a:tab pos="1689100" algn="l"/>
                <a:tab pos="2870200" algn="l"/>
              </a:tabLst>
            </a:pPr>
            <a:r>
              <a:rPr dirty="0" sz="2600" spc="160">
                <a:solidFill>
                  <a:srgbClr val="000000"/>
                </a:solidFill>
              </a:rPr>
              <a:t>Before:</a:t>
            </a:r>
            <a:r>
              <a:rPr dirty="0" sz="2600">
                <a:solidFill>
                  <a:srgbClr val="000000"/>
                </a:solidFill>
              </a:rPr>
              <a:t>	</a:t>
            </a:r>
            <a:r>
              <a:rPr dirty="0" sz="2600" spc="125">
                <a:solidFill>
                  <a:srgbClr val="000000"/>
                </a:solidFill>
              </a:rPr>
              <a:t>"john.doeggnat1.con" </a:t>
            </a:r>
            <a:r>
              <a:rPr dirty="0" sz="2600" spc="200">
                <a:solidFill>
                  <a:srgbClr val="000000"/>
                </a:solidFill>
              </a:rPr>
              <a:t>After</a:t>
            </a:r>
            <a:r>
              <a:rPr dirty="0" sz="2600">
                <a:solidFill>
                  <a:srgbClr val="000000"/>
                </a:solidFill>
              </a:rPr>
              <a:t>	</a:t>
            </a:r>
            <a:r>
              <a:rPr dirty="0" sz="2600" spc="180">
                <a:solidFill>
                  <a:srgbClr val="000000"/>
                </a:solidFill>
              </a:rPr>
              <a:t>basking:</a:t>
            </a:r>
            <a:r>
              <a:rPr dirty="0" sz="2600">
                <a:solidFill>
                  <a:srgbClr val="000000"/>
                </a:solidFill>
              </a:rPr>
              <a:t>	</a:t>
            </a:r>
            <a:r>
              <a:rPr dirty="0" sz="2600" spc="65">
                <a:solidFill>
                  <a:srgbClr val="000000"/>
                </a:solidFill>
              </a:rPr>
              <a:t>"jXXXXgXXXX.</a:t>
            </a:r>
            <a:r>
              <a:rPr dirty="0" sz="2600" spc="-170">
                <a:solidFill>
                  <a:srgbClr val="000000"/>
                </a:solidFill>
              </a:rPr>
              <a:t> </a:t>
            </a:r>
            <a:r>
              <a:rPr dirty="0" sz="2600" spc="35">
                <a:solidFill>
                  <a:srgbClr val="000000"/>
                </a:solidFill>
              </a:rPr>
              <a:t>con"</a:t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0" y="4495800"/>
            <a:ext cx="9956800" cy="4686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0" y="3390900"/>
            <a:ext cx="838200" cy="812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9700" y="3429000"/>
            <a:ext cx="482600" cy="736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34800" y="3390900"/>
            <a:ext cx="609600" cy="8255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659100" y="3403600"/>
            <a:ext cx="812800" cy="787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2003" y="377824"/>
            <a:ext cx="14732635" cy="8826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600" spc="-10">
                <a:solidFill>
                  <a:srgbClr val="212121"/>
                </a:solidFill>
                <a:latin typeface="Calibri"/>
                <a:cs typeface="Calibri"/>
              </a:rPr>
              <a:t>From</a:t>
            </a:r>
            <a:r>
              <a:rPr dirty="0" sz="5600" spc="-3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5600" spc="-35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dirty="0" sz="5600" spc="-315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5600" spc="-6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dirty="0" sz="5600" spc="-40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5600" spc="-30">
                <a:solidFill>
                  <a:srgbClr val="212121"/>
                </a:solidFill>
                <a:latin typeface="Calibri"/>
                <a:cs typeface="Calibri"/>
              </a:rPr>
              <a:t>Decisions:</a:t>
            </a:r>
            <a:r>
              <a:rPr dirty="0" sz="5600" spc="-29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5600" spc="-25">
                <a:solidFill>
                  <a:srgbClr val="1F1F1F"/>
                </a:solidFill>
                <a:latin typeface="Calibri"/>
                <a:cs typeface="Calibri"/>
              </a:rPr>
              <a:t>Unleashing</a:t>
            </a:r>
            <a:r>
              <a:rPr dirty="0" sz="5600" spc="-9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5600">
                <a:solidFill>
                  <a:srgbClr val="242424"/>
                </a:solidFill>
                <a:latin typeface="Calibri"/>
                <a:cs typeface="Calibri"/>
              </a:rPr>
              <a:t>SQL</a:t>
            </a:r>
            <a:r>
              <a:rPr dirty="0" sz="5600" spc="-10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5600" spc="-35">
                <a:solidFill>
                  <a:srgbClr val="212121"/>
                </a:solidFill>
                <a:latin typeface="Calibri"/>
                <a:cs typeface="Calibri"/>
              </a:rPr>
              <a:t>for</a:t>
            </a:r>
            <a:r>
              <a:rPr dirty="0" sz="5600" spc="-434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5600" spc="-10">
                <a:solidFill>
                  <a:srgbClr val="212121"/>
                </a:solidFill>
                <a:latin typeface="Calibri"/>
                <a:cs typeface="Calibri"/>
              </a:rPr>
              <a:t>Analysis</a:t>
            </a:r>
            <a:endParaRPr sz="5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0043" y="1736019"/>
            <a:ext cx="8809990" cy="586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650">
                <a:solidFill>
                  <a:srgbClr val="07334F"/>
                </a:solidFill>
                <a:latin typeface="Calibri"/>
                <a:cs typeface="Calibri"/>
              </a:rPr>
              <a:t>Developing</a:t>
            </a:r>
            <a:r>
              <a:rPr dirty="0" sz="3650" spc="95">
                <a:solidFill>
                  <a:srgbClr val="07334F"/>
                </a:solidFill>
                <a:latin typeface="Calibri"/>
                <a:cs typeface="Calibri"/>
              </a:rPr>
              <a:t> </a:t>
            </a:r>
            <a:r>
              <a:rPr dirty="0" sz="3650" spc="50">
                <a:solidFill>
                  <a:srgbClr val="033356"/>
                </a:solidFill>
                <a:latin typeface="Calibri"/>
                <a:cs typeface="Calibri"/>
              </a:rPr>
              <a:t>Key</a:t>
            </a:r>
            <a:r>
              <a:rPr dirty="0" sz="3650" spc="-130">
                <a:solidFill>
                  <a:srgbClr val="033356"/>
                </a:solidFill>
                <a:latin typeface="Calibri"/>
                <a:cs typeface="Calibri"/>
              </a:rPr>
              <a:t> </a:t>
            </a:r>
            <a:r>
              <a:rPr dirty="0" sz="3650">
                <a:solidFill>
                  <a:srgbClr val="052B49"/>
                </a:solidFill>
                <a:latin typeface="Calibri"/>
                <a:cs typeface="Calibri"/>
              </a:rPr>
              <a:t>Performance</a:t>
            </a:r>
            <a:r>
              <a:rPr dirty="0" sz="3650" spc="90">
                <a:solidFill>
                  <a:srgbClr val="052B49"/>
                </a:solidFill>
                <a:latin typeface="Calibri"/>
                <a:cs typeface="Calibri"/>
              </a:rPr>
              <a:t> </a:t>
            </a:r>
            <a:r>
              <a:rPr dirty="0" sz="3650">
                <a:solidFill>
                  <a:srgbClr val="0C3452"/>
                </a:solidFill>
                <a:latin typeface="Calibri"/>
                <a:cs typeface="Calibri"/>
              </a:rPr>
              <a:t>Indicators</a:t>
            </a:r>
            <a:r>
              <a:rPr dirty="0" sz="3650" spc="80">
                <a:solidFill>
                  <a:srgbClr val="0C3452"/>
                </a:solidFill>
                <a:latin typeface="Calibri"/>
                <a:cs typeface="Calibri"/>
              </a:rPr>
              <a:t> </a:t>
            </a:r>
            <a:r>
              <a:rPr dirty="0" sz="3650" spc="80">
                <a:solidFill>
                  <a:srgbClr val="0F3656"/>
                </a:solidFill>
                <a:latin typeface="Calibri"/>
                <a:cs typeface="Calibri"/>
              </a:rPr>
              <a:t>(KPIs)</a:t>
            </a:r>
            <a:endParaRPr sz="36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76243" y="2579999"/>
            <a:ext cx="6024245" cy="1677670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485"/>
              </a:spcBef>
              <a:tabLst>
                <a:tab pos="4088129" algn="l"/>
              </a:tabLst>
            </a:pPr>
            <a:r>
              <a:rPr dirty="0" sz="2850" spc="-100">
                <a:latin typeface="Calibri"/>
                <a:cs typeface="Calibri"/>
              </a:rPr>
              <a:t>Total</a:t>
            </a:r>
            <a:r>
              <a:rPr dirty="0" sz="2850" spc="-125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orders</a:t>
            </a:r>
            <a:r>
              <a:rPr dirty="0" sz="2850">
                <a:latin typeface="Calibri"/>
                <a:cs typeface="Calibri"/>
              </a:rPr>
              <a:t>	</a:t>
            </a:r>
            <a:r>
              <a:rPr dirty="0" sz="2850" spc="-105">
                <a:latin typeface="Calibri"/>
                <a:cs typeface="Calibri"/>
              </a:rPr>
              <a:t>Total</a:t>
            </a:r>
            <a:r>
              <a:rPr dirty="0" sz="2850" spc="-114">
                <a:latin typeface="Calibri"/>
                <a:cs typeface="Calibri"/>
              </a:rPr>
              <a:t> Revenue</a:t>
            </a:r>
            <a:endParaRPr sz="2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  <a:tabLst>
                <a:tab pos="4085590" algn="l"/>
              </a:tabLst>
            </a:pPr>
            <a:r>
              <a:rPr dirty="0" sz="4850" spc="-20">
                <a:solidFill>
                  <a:srgbClr val="212121"/>
                </a:solidFill>
                <a:latin typeface="Calibri"/>
                <a:cs typeface="Calibri"/>
              </a:rPr>
              <a:t>1.2M</a:t>
            </a:r>
            <a:r>
              <a:rPr dirty="0" sz="485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dirty="0" sz="4800" spc="-10">
                <a:solidFill>
                  <a:srgbClr val="1D1D1D"/>
                </a:solidFill>
                <a:latin typeface="Calibri"/>
                <a:cs typeface="Calibri"/>
              </a:rPr>
              <a:t>Z450M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10043" y="4750038"/>
            <a:ext cx="8789035" cy="1158875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3650">
                <a:solidFill>
                  <a:srgbClr val="0A334F"/>
                </a:solidFill>
                <a:latin typeface="Calibri"/>
                <a:cs typeface="Calibri"/>
              </a:rPr>
              <a:t>Powering</a:t>
            </a:r>
            <a:r>
              <a:rPr dirty="0" sz="3650" spc="90">
                <a:solidFill>
                  <a:srgbClr val="0A334F"/>
                </a:solidFill>
                <a:latin typeface="Calibri"/>
                <a:cs typeface="Calibri"/>
              </a:rPr>
              <a:t> </a:t>
            </a:r>
            <a:r>
              <a:rPr dirty="0" sz="3650" spc="-30">
                <a:solidFill>
                  <a:srgbClr val="052F4F"/>
                </a:solidFill>
                <a:latin typeface="Calibri"/>
                <a:cs typeface="Calibri"/>
              </a:rPr>
              <a:t>Deep-</a:t>
            </a:r>
            <a:r>
              <a:rPr dirty="0" sz="3650">
                <a:solidFill>
                  <a:srgbClr val="052F4F"/>
                </a:solidFill>
                <a:latin typeface="Calibri"/>
                <a:cs typeface="Calibri"/>
              </a:rPr>
              <a:t>Dive</a:t>
            </a:r>
            <a:r>
              <a:rPr dirty="0" sz="3650" spc="95">
                <a:solidFill>
                  <a:srgbClr val="052F4F"/>
                </a:solidFill>
                <a:latin typeface="Calibri"/>
                <a:cs typeface="Calibri"/>
              </a:rPr>
              <a:t> </a:t>
            </a:r>
            <a:r>
              <a:rPr dirty="0" sz="3650">
                <a:solidFill>
                  <a:srgbClr val="083352"/>
                </a:solidFill>
                <a:latin typeface="Calibri"/>
                <a:cs typeface="Calibri"/>
              </a:rPr>
              <a:t>Business</a:t>
            </a:r>
            <a:r>
              <a:rPr dirty="0" sz="3650" spc="25">
                <a:solidFill>
                  <a:srgbClr val="083352"/>
                </a:solidFill>
                <a:latin typeface="Calibri"/>
                <a:cs typeface="Calibri"/>
              </a:rPr>
              <a:t> </a:t>
            </a:r>
            <a:r>
              <a:rPr dirty="0" sz="3650" spc="40">
                <a:solidFill>
                  <a:srgbClr val="032A49"/>
                </a:solidFill>
                <a:latin typeface="Calibri"/>
                <a:cs typeface="Calibri"/>
              </a:rPr>
              <a:t>Analysis</a:t>
            </a:r>
            <a:endParaRPr sz="3650">
              <a:latin typeface="Calibri"/>
              <a:cs typeface="Calibri"/>
            </a:endParaRPr>
          </a:p>
          <a:p>
            <a:pPr marL="26670">
              <a:lnSpc>
                <a:spcPct val="100000"/>
              </a:lnSpc>
              <a:spcBef>
                <a:spcPts val="670"/>
              </a:spcBef>
            </a:pPr>
            <a:r>
              <a:rPr dirty="0" sz="2350" spc="-100">
                <a:latin typeface="Calibri"/>
                <a:cs typeface="Calibri"/>
              </a:rPr>
              <a:t>Move</a:t>
            </a:r>
            <a:r>
              <a:rPr dirty="0" sz="2350" spc="3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beyond</a:t>
            </a:r>
            <a:r>
              <a:rPr dirty="0" sz="2350" spc="8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high-level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metrics</a:t>
            </a:r>
            <a:r>
              <a:rPr dirty="0" sz="2350" spc="9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to</a:t>
            </a:r>
            <a:r>
              <a:rPr dirty="0" sz="2350" spc="-8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answer</a:t>
            </a:r>
            <a:r>
              <a:rPr dirty="0" sz="2350" spc="2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complex</a:t>
            </a:r>
            <a:r>
              <a:rPr dirty="0" sz="2350" spc="13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business</a:t>
            </a:r>
            <a:r>
              <a:rPr dirty="0" sz="2350" spc="7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questions.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112087" y="2738613"/>
            <a:ext cx="6157595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088765" algn="l"/>
              </a:tabLst>
            </a:pPr>
            <a:r>
              <a:rPr dirty="0" sz="2950" spc="-190">
                <a:latin typeface="Calibri"/>
                <a:cs typeface="Calibri"/>
              </a:rPr>
              <a:t>Average</a:t>
            </a:r>
            <a:r>
              <a:rPr dirty="0" sz="2950" spc="45">
                <a:latin typeface="Calibri"/>
                <a:cs typeface="Calibri"/>
              </a:rPr>
              <a:t> </a:t>
            </a:r>
            <a:r>
              <a:rPr dirty="0" sz="2950" spc="-130">
                <a:latin typeface="Calibri"/>
                <a:cs typeface="Calibri"/>
              </a:rPr>
              <a:t>Dish</a:t>
            </a:r>
            <a:r>
              <a:rPr dirty="0" sz="2950" spc="-18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Price</a:t>
            </a:r>
            <a:r>
              <a:rPr dirty="0" sz="2950">
                <a:latin typeface="Calibri"/>
                <a:cs typeface="Calibri"/>
              </a:rPr>
              <a:t>	</a:t>
            </a:r>
            <a:r>
              <a:rPr dirty="0" sz="2950" spc="-195">
                <a:latin typeface="Calibri"/>
                <a:cs typeface="Calibri"/>
              </a:rPr>
              <a:t>Average</a:t>
            </a:r>
            <a:r>
              <a:rPr dirty="0" sz="2950" spc="-35">
                <a:latin typeface="Calibri"/>
                <a:cs typeface="Calibri"/>
              </a:rPr>
              <a:t> </a:t>
            </a:r>
            <a:r>
              <a:rPr dirty="0" sz="2950" spc="-80">
                <a:latin typeface="Calibri"/>
                <a:cs typeface="Calibri"/>
              </a:rPr>
              <a:t>Rating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114274" y="3517547"/>
            <a:ext cx="1316355" cy="734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50" spc="180">
                <a:solidFill>
                  <a:srgbClr val="232323"/>
                </a:solidFill>
                <a:latin typeface="Calibri"/>
                <a:cs typeface="Calibri"/>
              </a:rPr>
              <a:t>Z285</a:t>
            </a:r>
            <a:endParaRPr sz="46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180212" y="3464630"/>
            <a:ext cx="1438275" cy="798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050" spc="505">
                <a:solidFill>
                  <a:srgbClr val="242424"/>
                </a:solidFill>
                <a:latin typeface="Calibri"/>
                <a:cs typeface="Calibri"/>
              </a:rPr>
              <a:t>4.16</a:t>
            </a:r>
            <a:endParaRPr sz="5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300" y="6565900"/>
            <a:ext cx="1397000" cy="14478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2300" y="6565900"/>
            <a:ext cx="1600200" cy="1460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9700" y="2806700"/>
            <a:ext cx="1346200" cy="1346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01200" y="2806700"/>
            <a:ext cx="1422400" cy="1346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7509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135"/>
              </a:spcBef>
            </a:pPr>
            <a:r>
              <a:rPr dirty="0" spc="-330">
                <a:solidFill>
                  <a:srgbClr val="033A60"/>
                </a:solidFill>
              </a:rPr>
              <a:t>A</a:t>
            </a:r>
            <a:r>
              <a:rPr dirty="0" spc="-440">
                <a:solidFill>
                  <a:srgbClr val="033A60"/>
                </a:solidFill>
              </a:rPr>
              <a:t> </a:t>
            </a:r>
            <a:r>
              <a:rPr dirty="0" spc="-35"/>
              <a:t>Multi-</a:t>
            </a:r>
            <a:r>
              <a:rPr dirty="0" spc="-40"/>
              <a:t>Dimensional</a:t>
            </a:r>
            <a:r>
              <a:rPr dirty="0" spc="-455"/>
              <a:t> </a:t>
            </a:r>
            <a:r>
              <a:rPr dirty="0" spc="-160">
                <a:solidFill>
                  <a:srgbClr val="03385E"/>
                </a:solidFill>
              </a:rPr>
              <a:t>View</a:t>
            </a:r>
            <a:r>
              <a:rPr dirty="0" spc="-245">
                <a:solidFill>
                  <a:srgbClr val="03385E"/>
                </a:solidFill>
              </a:rPr>
              <a:t> </a:t>
            </a:r>
            <a:r>
              <a:rPr dirty="0" spc="-35">
                <a:solidFill>
                  <a:srgbClr val="053A5E"/>
                </a:solidFill>
              </a:rPr>
              <a:t>of</a:t>
            </a:r>
            <a:r>
              <a:rPr dirty="0" spc="-195">
                <a:solidFill>
                  <a:srgbClr val="053A5E"/>
                </a:solidFill>
              </a:rPr>
              <a:t> </a:t>
            </a:r>
            <a:r>
              <a:rPr dirty="0" spc="-175">
                <a:solidFill>
                  <a:srgbClr val="05365D"/>
                </a:solidFill>
              </a:rPr>
              <a:t>Business</a:t>
            </a:r>
            <a:r>
              <a:rPr dirty="0" spc="-235">
                <a:solidFill>
                  <a:srgbClr val="05365D"/>
                </a:solidFill>
              </a:rPr>
              <a:t> </a:t>
            </a:r>
            <a:r>
              <a:rPr dirty="0" spc="-60">
                <a:solidFill>
                  <a:srgbClr val="083B5D"/>
                </a:solidFill>
              </a:rPr>
              <a:t>Performance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3482993" y="2168877"/>
            <a:ext cx="4899660" cy="6838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20"/>
              </a:spcBef>
            </a:pPr>
            <a:r>
              <a:rPr dirty="0" sz="3450" spc="-30">
                <a:solidFill>
                  <a:srgbClr val="0A3152"/>
                </a:solidFill>
                <a:latin typeface="Arial MT"/>
                <a:cs typeface="Arial MT"/>
              </a:rPr>
              <a:t>Date-</a:t>
            </a:r>
            <a:r>
              <a:rPr dirty="0" sz="3450">
                <a:solidFill>
                  <a:srgbClr val="0A3152"/>
                </a:solidFill>
                <a:latin typeface="Arial MT"/>
                <a:cs typeface="Arial MT"/>
              </a:rPr>
              <a:t>Based</a:t>
            </a:r>
            <a:r>
              <a:rPr dirty="0" sz="3450" spc="-114">
                <a:solidFill>
                  <a:srgbClr val="0A3152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073459"/>
                </a:solidFill>
                <a:latin typeface="Arial MT"/>
                <a:cs typeface="Arial MT"/>
              </a:rPr>
              <a:t>Analysis</a:t>
            </a:r>
            <a:endParaRPr sz="3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3450">
              <a:latin typeface="Arial MT"/>
              <a:cs typeface="Arial MT"/>
            </a:endParaRPr>
          </a:p>
          <a:p>
            <a:pPr marL="274320" indent="-245745">
              <a:lnSpc>
                <a:spcPct val="100000"/>
              </a:lnSpc>
              <a:buClr>
                <a:srgbClr val="053150"/>
              </a:buClr>
              <a:buChar char="•"/>
              <a:tabLst>
                <a:tab pos="274320" algn="l"/>
              </a:tabLst>
            </a:pPr>
            <a:r>
              <a:rPr dirty="0" sz="2750" spc="-225">
                <a:latin typeface="Arial MT"/>
                <a:cs typeface="Arial MT"/>
              </a:rPr>
              <a:t>Monthly</a:t>
            </a:r>
            <a:r>
              <a:rPr dirty="0" sz="2750" spc="-15">
                <a:latin typeface="Arial MT"/>
                <a:cs typeface="Arial MT"/>
              </a:rPr>
              <a:t> </a:t>
            </a:r>
            <a:r>
              <a:rPr dirty="0" sz="2750" spc="-335">
                <a:latin typeface="Arial MT"/>
                <a:cs typeface="Arial MT"/>
              </a:rPr>
              <a:t>&amp;</a:t>
            </a:r>
            <a:r>
              <a:rPr dirty="0" sz="2750" spc="-245">
                <a:latin typeface="Arial MT"/>
                <a:cs typeface="Arial MT"/>
              </a:rPr>
              <a:t> </a:t>
            </a:r>
            <a:r>
              <a:rPr dirty="0" sz="2750" spc="-160">
                <a:latin typeface="Arial MT"/>
                <a:cs typeface="Arial MT"/>
              </a:rPr>
              <a:t>quarterly</a:t>
            </a:r>
            <a:r>
              <a:rPr dirty="0" sz="2750" spc="-20">
                <a:latin typeface="Arial MT"/>
                <a:cs typeface="Arial MT"/>
              </a:rPr>
              <a:t> </a:t>
            </a:r>
            <a:r>
              <a:rPr dirty="0" sz="2750" spc="-185">
                <a:latin typeface="Arial MT"/>
                <a:cs typeface="Arial MT"/>
              </a:rPr>
              <a:t>order</a:t>
            </a:r>
            <a:r>
              <a:rPr dirty="0" sz="2750" spc="-10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trends</a:t>
            </a:r>
            <a:endParaRPr sz="2750">
              <a:latin typeface="Arial MT"/>
              <a:cs typeface="Arial MT"/>
            </a:endParaRPr>
          </a:p>
          <a:p>
            <a:pPr marL="273685" indent="-245110">
              <a:lnSpc>
                <a:spcPct val="100000"/>
              </a:lnSpc>
              <a:spcBef>
                <a:spcPts val="650"/>
              </a:spcBef>
              <a:buClr>
                <a:srgbClr val="083352"/>
              </a:buClr>
              <a:buChar char="•"/>
              <a:tabLst>
                <a:tab pos="273685" algn="l"/>
              </a:tabLst>
            </a:pPr>
            <a:r>
              <a:rPr dirty="0" sz="2750" spc="-315">
                <a:latin typeface="Arial MT"/>
                <a:cs typeface="Arial MT"/>
              </a:rPr>
              <a:t>Year-</a:t>
            </a:r>
            <a:r>
              <a:rPr dirty="0" sz="2750" spc="-320">
                <a:latin typeface="Arial MT"/>
                <a:cs typeface="Arial MT"/>
              </a:rPr>
              <a:t>wise</a:t>
            </a:r>
            <a:r>
              <a:rPr dirty="0" sz="2750" spc="75">
                <a:latin typeface="Arial MT"/>
                <a:cs typeface="Arial MT"/>
              </a:rPr>
              <a:t> </a:t>
            </a:r>
            <a:r>
              <a:rPr dirty="0" sz="2750" spc="-190">
                <a:latin typeface="Arial MT"/>
                <a:cs typeface="Arial MT"/>
              </a:rPr>
              <a:t>growth</a:t>
            </a:r>
            <a:r>
              <a:rPr dirty="0" sz="2750" spc="-110">
                <a:latin typeface="Arial MT"/>
                <a:cs typeface="Arial MT"/>
              </a:rPr>
              <a:t> </a:t>
            </a:r>
            <a:r>
              <a:rPr dirty="0" sz="2750" spc="-60">
                <a:latin typeface="Arial MT"/>
                <a:cs typeface="Arial MT"/>
              </a:rPr>
              <a:t>patterns</a:t>
            </a:r>
            <a:endParaRPr sz="2750">
              <a:latin typeface="Arial MT"/>
              <a:cs typeface="Arial MT"/>
            </a:endParaRPr>
          </a:p>
          <a:p>
            <a:pPr marL="273050" indent="-244475">
              <a:lnSpc>
                <a:spcPct val="100000"/>
              </a:lnSpc>
              <a:spcBef>
                <a:spcPts val="650"/>
              </a:spcBef>
              <a:buClr>
                <a:srgbClr val="053150"/>
              </a:buClr>
              <a:buChar char="•"/>
              <a:tabLst>
                <a:tab pos="273050" algn="l"/>
              </a:tabLst>
            </a:pPr>
            <a:r>
              <a:rPr dirty="0" sz="2750" spc="-280">
                <a:latin typeface="Arial MT"/>
                <a:cs typeface="Arial MT"/>
              </a:rPr>
              <a:t>Day-</a:t>
            </a:r>
            <a:r>
              <a:rPr dirty="0" sz="2750" spc="-210">
                <a:latin typeface="Arial MT"/>
                <a:cs typeface="Arial MT"/>
              </a:rPr>
              <a:t>of-</a:t>
            </a:r>
            <a:r>
              <a:rPr dirty="0" sz="2750" spc="-305">
                <a:latin typeface="Arial MT"/>
                <a:cs typeface="Arial MT"/>
              </a:rPr>
              <a:t>week</a:t>
            </a:r>
            <a:r>
              <a:rPr dirty="0" sz="2750" spc="85">
                <a:latin typeface="Arial MT"/>
                <a:cs typeface="Arial MT"/>
              </a:rPr>
              <a:t> </a:t>
            </a:r>
            <a:r>
              <a:rPr dirty="0" sz="2750" spc="-220">
                <a:latin typeface="Arial MT"/>
                <a:cs typeface="Arial MT"/>
              </a:rPr>
              <a:t>performance</a:t>
            </a:r>
            <a:r>
              <a:rPr dirty="0" sz="2750" spc="70">
                <a:latin typeface="Arial MT"/>
                <a:cs typeface="Arial MT"/>
              </a:rPr>
              <a:t> </a:t>
            </a:r>
            <a:r>
              <a:rPr dirty="0" sz="2750" spc="-95">
                <a:latin typeface="Arial MT"/>
                <a:cs typeface="Arial MT"/>
              </a:rPr>
              <a:t>analysis</a:t>
            </a:r>
            <a:endParaRPr sz="2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25"/>
              </a:spcBef>
              <a:buFont typeface="Arial MT"/>
              <a:buChar char="•"/>
            </a:pPr>
            <a:endParaRPr sz="2750">
              <a:latin typeface="Arial MT"/>
              <a:cs typeface="Arial MT"/>
            </a:endParaRPr>
          </a:p>
          <a:p>
            <a:pPr marL="37465">
              <a:lnSpc>
                <a:spcPts val="3890"/>
              </a:lnSpc>
            </a:pPr>
            <a:r>
              <a:rPr dirty="0" sz="3400" spc="-45">
                <a:solidFill>
                  <a:srgbClr val="0F3452"/>
                </a:solidFill>
                <a:latin typeface="Arial MT"/>
                <a:cs typeface="Arial MT"/>
              </a:rPr>
              <a:t>Food</a:t>
            </a:r>
            <a:r>
              <a:rPr dirty="0" sz="3400" spc="-204">
                <a:solidFill>
                  <a:srgbClr val="0F3452"/>
                </a:solidFill>
                <a:latin typeface="Arial MT"/>
                <a:cs typeface="Arial MT"/>
              </a:rPr>
              <a:t> </a:t>
            </a:r>
            <a:r>
              <a:rPr dirty="0" sz="3400" spc="-100">
                <a:solidFill>
                  <a:srgbClr val="053659"/>
                </a:solidFill>
                <a:latin typeface="Arial MT"/>
                <a:cs typeface="Arial MT"/>
              </a:rPr>
              <a:t>&amp;</a:t>
            </a:r>
            <a:r>
              <a:rPr dirty="0" sz="3400" spc="-340">
                <a:solidFill>
                  <a:srgbClr val="053659"/>
                </a:solidFill>
                <a:latin typeface="Arial MT"/>
                <a:cs typeface="Arial MT"/>
              </a:rPr>
              <a:t> </a:t>
            </a:r>
            <a:r>
              <a:rPr dirty="0" sz="3400" spc="-10">
                <a:solidFill>
                  <a:srgbClr val="0F314F"/>
                </a:solidFill>
                <a:latin typeface="Arial MT"/>
                <a:cs typeface="Arial MT"/>
              </a:rPr>
              <a:t>Restaurant</a:t>
            </a:r>
            <a:endParaRPr sz="3400">
              <a:latin typeface="Arial MT"/>
              <a:cs typeface="Arial MT"/>
            </a:endParaRPr>
          </a:p>
          <a:p>
            <a:pPr marL="26034">
              <a:lnSpc>
                <a:spcPts val="3950"/>
              </a:lnSpc>
            </a:pPr>
            <a:r>
              <a:rPr dirty="0" sz="3450" spc="-10">
                <a:solidFill>
                  <a:srgbClr val="0C2F4B"/>
                </a:solidFill>
                <a:latin typeface="Arial MT"/>
                <a:cs typeface="Arial MT"/>
              </a:rPr>
              <a:t>Performance</a:t>
            </a:r>
            <a:endParaRPr sz="3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3450">
              <a:latin typeface="Arial MT"/>
              <a:cs typeface="Arial MT"/>
            </a:endParaRPr>
          </a:p>
          <a:p>
            <a:pPr marL="271780" indent="-259079">
              <a:lnSpc>
                <a:spcPct val="100000"/>
              </a:lnSpc>
              <a:buClr>
                <a:srgbClr val="083354"/>
              </a:buClr>
              <a:buChar char="•"/>
              <a:tabLst>
                <a:tab pos="271780" algn="l"/>
              </a:tabLst>
            </a:pPr>
            <a:r>
              <a:rPr dirty="0" sz="2900" spc="-220">
                <a:latin typeface="Calibri"/>
                <a:cs typeface="Calibri"/>
              </a:rPr>
              <a:t>Top</a:t>
            </a:r>
            <a:r>
              <a:rPr dirty="0" sz="2900" spc="-225">
                <a:latin typeface="Calibri"/>
                <a:cs typeface="Calibri"/>
              </a:rPr>
              <a:t> </a:t>
            </a:r>
            <a:r>
              <a:rPr dirty="0" sz="2900" spc="-215">
                <a:latin typeface="Calibri"/>
                <a:cs typeface="Calibri"/>
              </a:rPr>
              <a:t>10</a:t>
            </a:r>
            <a:r>
              <a:rPr dirty="0" sz="2900" spc="-145">
                <a:latin typeface="Calibri"/>
                <a:cs typeface="Calibri"/>
              </a:rPr>
              <a:t> </a:t>
            </a:r>
            <a:r>
              <a:rPr dirty="0" sz="2900" spc="-195">
                <a:latin typeface="Calibri"/>
                <a:cs typeface="Calibri"/>
              </a:rPr>
              <a:t>restaurants</a:t>
            </a:r>
            <a:r>
              <a:rPr dirty="0" sz="2900" spc="35">
                <a:latin typeface="Calibri"/>
                <a:cs typeface="Calibri"/>
              </a:rPr>
              <a:t> </a:t>
            </a:r>
            <a:r>
              <a:rPr dirty="0" sz="2900" spc="-190">
                <a:latin typeface="Calibri"/>
                <a:cs typeface="Calibri"/>
              </a:rPr>
              <a:t>by</a:t>
            </a:r>
            <a:r>
              <a:rPr dirty="0" sz="2900" spc="-12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orders</a:t>
            </a:r>
            <a:endParaRPr sz="2900">
              <a:latin typeface="Calibri"/>
              <a:cs typeface="Calibri"/>
            </a:endParaRPr>
          </a:p>
          <a:p>
            <a:pPr marL="269240" indent="-256540">
              <a:lnSpc>
                <a:spcPct val="100000"/>
              </a:lnSpc>
              <a:spcBef>
                <a:spcPts val="420"/>
              </a:spcBef>
              <a:buClr>
                <a:srgbClr val="053150"/>
              </a:buClr>
              <a:buChar char="•"/>
              <a:tabLst>
                <a:tab pos="269240" algn="l"/>
              </a:tabLst>
            </a:pPr>
            <a:r>
              <a:rPr dirty="0" sz="2900" spc="-295">
                <a:latin typeface="Calibri"/>
                <a:cs typeface="Calibri"/>
              </a:rPr>
              <a:t>Most</a:t>
            </a:r>
            <a:r>
              <a:rPr dirty="0" sz="2900" spc="-204">
                <a:latin typeface="Calibri"/>
                <a:cs typeface="Calibri"/>
              </a:rPr>
              <a:t> </a:t>
            </a:r>
            <a:r>
              <a:rPr dirty="0" sz="2900" spc="-210">
                <a:latin typeface="Calibri"/>
                <a:cs typeface="Calibri"/>
              </a:rPr>
              <a:t>ordered</a:t>
            </a:r>
            <a:r>
              <a:rPr dirty="0" sz="2900" spc="50">
                <a:latin typeface="Calibri"/>
                <a:cs typeface="Calibri"/>
              </a:rPr>
              <a:t> </a:t>
            </a:r>
            <a:r>
              <a:rPr dirty="0" sz="2900" spc="-155">
                <a:latin typeface="Calibri"/>
                <a:cs typeface="Calibri"/>
              </a:rPr>
              <a:t>dishes</a:t>
            </a:r>
            <a:r>
              <a:rPr dirty="0" sz="2900" spc="-105">
                <a:latin typeface="Calibri"/>
                <a:cs typeface="Calibri"/>
              </a:rPr>
              <a:t> </a:t>
            </a:r>
            <a:r>
              <a:rPr dirty="0" sz="2900" spc="-190">
                <a:latin typeface="Calibri"/>
                <a:cs typeface="Calibri"/>
              </a:rPr>
              <a:t>and</a:t>
            </a:r>
            <a:r>
              <a:rPr dirty="0" sz="2900" spc="-65">
                <a:latin typeface="Calibri"/>
                <a:cs typeface="Calibri"/>
              </a:rPr>
              <a:t> </a:t>
            </a:r>
            <a:r>
              <a:rPr dirty="0" sz="2900" spc="-140">
                <a:latin typeface="Calibri"/>
                <a:cs typeface="Calibri"/>
              </a:rPr>
              <a:t>categories</a:t>
            </a:r>
            <a:endParaRPr sz="2900">
              <a:latin typeface="Calibri"/>
              <a:cs typeface="Calibri"/>
            </a:endParaRPr>
          </a:p>
          <a:p>
            <a:pPr marL="269875" marR="434340" indent="-256540">
              <a:lnSpc>
                <a:spcPts val="3050"/>
              </a:lnSpc>
              <a:spcBef>
                <a:spcPts val="930"/>
              </a:spcBef>
              <a:buChar char="•"/>
              <a:tabLst>
                <a:tab pos="269875" algn="l"/>
                <a:tab pos="271780" algn="l"/>
              </a:tabLst>
            </a:pPr>
            <a:r>
              <a:rPr dirty="0" sz="2850">
                <a:solidFill>
                  <a:srgbClr val="0A3659"/>
                </a:solidFill>
                <a:latin typeface="Calibri"/>
                <a:cs typeface="Calibri"/>
              </a:rPr>
              <a:t>	</a:t>
            </a:r>
            <a:r>
              <a:rPr dirty="0" sz="2850" spc="-140">
                <a:latin typeface="Calibri"/>
                <a:cs typeface="Calibri"/>
              </a:rPr>
              <a:t>Cuisine </a:t>
            </a:r>
            <a:r>
              <a:rPr dirty="0" sz="2850" spc="-170">
                <a:latin typeface="Calibri"/>
                <a:cs typeface="Calibri"/>
              </a:rPr>
              <a:t>performance</a:t>
            </a:r>
            <a:r>
              <a:rPr dirty="0" sz="2850" spc="165">
                <a:latin typeface="Calibri"/>
                <a:cs typeface="Calibri"/>
              </a:rPr>
              <a:t> </a:t>
            </a:r>
            <a:r>
              <a:rPr dirty="0" sz="2850" spc="-185">
                <a:latin typeface="Calibri"/>
                <a:cs typeface="Calibri"/>
              </a:rPr>
              <a:t>(Orders</a:t>
            </a:r>
            <a:r>
              <a:rPr dirty="0" sz="2850" spc="-40">
                <a:latin typeface="Calibri"/>
                <a:cs typeface="Calibri"/>
              </a:rPr>
              <a:t> </a:t>
            </a:r>
            <a:r>
              <a:rPr dirty="0" sz="2850" spc="-45">
                <a:latin typeface="Calibri"/>
                <a:cs typeface="Calibri"/>
              </a:rPr>
              <a:t>vs. </a:t>
            </a:r>
            <a:r>
              <a:rPr dirty="0" sz="2850" spc="-215">
                <a:latin typeface="Calibri"/>
                <a:cs typeface="Calibri"/>
              </a:rPr>
              <a:t>Average</a:t>
            </a:r>
            <a:r>
              <a:rPr dirty="0" sz="2850" spc="75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Rating)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753187" y="2162527"/>
            <a:ext cx="4200525" cy="209740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33020" marR="1054735" indent="-20320">
              <a:lnSpc>
                <a:spcPts val="3750"/>
              </a:lnSpc>
              <a:spcBef>
                <a:spcPts val="570"/>
              </a:spcBef>
            </a:pPr>
            <a:r>
              <a:rPr dirty="0" sz="3450">
                <a:solidFill>
                  <a:srgbClr val="052B4D"/>
                </a:solidFill>
                <a:latin typeface="Arial MT"/>
                <a:cs typeface="Arial MT"/>
              </a:rPr>
              <a:t>Location-</a:t>
            </a:r>
            <a:r>
              <a:rPr dirty="0" sz="3450" spc="-10">
                <a:solidFill>
                  <a:srgbClr val="052B4D"/>
                </a:solidFill>
                <a:latin typeface="Arial MT"/>
                <a:cs typeface="Arial MT"/>
              </a:rPr>
              <a:t>Based </a:t>
            </a:r>
            <a:r>
              <a:rPr dirty="0" sz="3450" spc="-10">
                <a:solidFill>
                  <a:srgbClr val="052F52"/>
                </a:solidFill>
                <a:latin typeface="Arial MT"/>
                <a:cs typeface="Arial MT"/>
              </a:rPr>
              <a:t>Analysis</a:t>
            </a:r>
            <a:endParaRPr sz="3450">
              <a:latin typeface="Arial MT"/>
              <a:cs typeface="Arial MT"/>
            </a:endParaRPr>
          </a:p>
          <a:p>
            <a:pPr marL="258445" indent="-245745">
              <a:lnSpc>
                <a:spcPct val="100000"/>
              </a:lnSpc>
              <a:spcBef>
                <a:spcPts val="1150"/>
              </a:spcBef>
              <a:buClr>
                <a:srgbClr val="01365D"/>
              </a:buClr>
              <a:buChar char="•"/>
              <a:tabLst>
                <a:tab pos="258445" algn="l"/>
              </a:tabLst>
            </a:pPr>
            <a:r>
              <a:rPr dirty="0" sz="2700" spc="-114">
                <a:latin typeface="Calibri"/>
                <a:cs typeface="Calibri"/>
              </a:rPr>
              <a:t>Top</a:t>
            </a:r>
            <a:r>
              <a:rPr dirty="0" sz="2700" spc="-40">
                <a:latin typeface="Calibri"/>
                <a:cs typeface="Calibri"/>
              </a:rPr>
              <a:t> </a:t>
            </a:r>
            <a:r>
              <a:rPr dirty="0" sz="2700" spc="-155">
                <a:latin typeface="Calibri"/>
                <a:cs typeface="Calibri"/>
              </a:rPr>
              <a:t>10</a:t>
            </a:r>
            <a:r>
              <a:rPr dirty="0" sz="2700" spc="-130">
                <a:latin typeface="Calibri"/>
                <a:cs typeface="Calibri"/>
              </a:rPr>
              <a:t> </a:t>
            </a:r>
            <a:r>
              <a:rPr dirty="0" sz="2700" spc="-60">
                <a:latin typeface="Calibri"/>
                <a:cs typeface="Calibri"/>
              </a:rPr>
              <a:t>cities</a:t>
            </a:r>
            <a:r>
              <a:rPr dirty="0" sz="2700" spc="-90">
                <a:latin typeface="Calibri"/>
                <a:cs typeface="Calibri"/>
              </a:rPr>
              <a:t> </a:t>
            </a:r>
            <a:r>
              <a:rPr dirty="0" sz="2700" spc="-30">
                <a:latin typeface="Calibri"/>
                <a:cs typeface="Calibri"/>
              </a:rPr>
              <a:t>by</a:t>
            </a:r>
            <a:r>
              <a:rPr dirty="0" sz="2700" spc="-105">
                <a:latin typeface="Calibri"/>
                <a:cs typeface="Calibri"/>
              </a:rPr>
              <a:t> </a:t>
            </a:r>
            <a:r>
              <a:rPr dirty="0" sz="2700" spc="-95">
                <a:latin typeface="Calibri"/>
                <a:cs typeface="Calibri"/>
              </a:rPr>
              <a:t>order</a:t>
            </a:r>
            <a:r>
              <a:rPr dirty="0" sz="2700" spc="-18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volume</a:t>
            </a:r>
            <a:endParaRPr sz="27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710"/>
              </a:spcBef>
              <a:buClr>
                <a:srgbClr val="073450"/>
              </a:buClr>
              <a:buChar char="•"/>
              <a:tabLst>
                <a:tab pos="257175" algn="l"/>
              </a:tabLst>
            </a:pPr>
            <a:r>
              <a:rPr dirty="0" sz="2700" spc="-114">
                <a:latin typeface="Calibri"/>
                <a:cs typeface="Calibri"/>
              </a:rPr>
              <a:t>Revenue</a:t>
            </a:r>
            <a:r>
              <a:rPr dirty="0" sz="2700" spc="-25">
                <a:latin typeface="Calibri"/>
                <a:cs typeface="Calibri"/>
              </a:rPr>
              <a:t> </a:t>
            </a:r>
            <a:r>
              <a:rPr dirty="0" sz="2700" spc="-80">
                <a:latin typeface="Calibri"/>
                <a:cs typeface="Calibri"/>
              </a:rPr>
              <a:t>contribution</a:t>
            </a:r>
            <a:r>
              <a:rPr dirty="0" sz="2700" spc="70">
                <a:latin typeface="Calibri"/>
                <a:cs typeface="Calibri"/>
              </a:rPr>
              <a:t> </a:t>
            </a:r>
            <a:r>
              <a:rPr dirty="0" sz="2700" spc="-35">
                <a:latin typeface="Calibri"/>
                <a:cs typeface="Calibri"/>
              </a:rPr>
              <a:t>by</a:t>
            </a:r>
            <a:r>
              <a:rPr dirty="0" sz="2700" spc="-210">
                <a:latin typeface="Calibri"/>
                <a:cs typeface="Calibri"/>
              </a:rPr>
              <a:t> </a:t>
            </a:r>
            <a:r>
              <a:rPr dirty="0" sz="2700" spc="-30">
                <a:latin typeface="Calibri"/>
                <a:cs typeface="Calibri"/>
              </a:rPr>
              <a:t>state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751526" y="5635977"/>
            <a:ext cx="4594860" cy="3253104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7780" marR="695960" indent="6350">
              <a:lnSpc>
                <a:spcPts val="3750"/>
              </a:lnSpc>
              <a:spcBef>
                <a:spcPts val="570"/>
              </a:spcBef>
            </a:pPr>
            <a:r>
              <a:rPr dirty="0" sz="3450">
                <a:solidFill>
                  <a:srgbClr val="0C3859"/>
                </a:solidFill>
                <a:latin typeface="Arial MT"/>
                <a:cs typeface="Arial MT"/>
              </a:rPr>
              <a:t>Customer</a:t>
            </a:r>
            <a:r>
              <a:rPr dirty="0" sz="3450" spc="-95">
                <a:solidFill>
                  <a:srgbClr val="0C3859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083457"/>
                </a:solidFill>
                <a:latin typeface="Arial MT"/>
                <a:cs typeface="Arial MT"/>
              </a:rPr>
              <a:t>Spending </a:t>
            </a:r>
            <a:r>
              <a:rPr dirty="0" sz="3450" spc="-10">
                <a:solidFill>
                  <a:srgbClr val="0A2D49"/>
                </a:solidFill>
                <a:latin typeface="Arial MT"/>
                <a:cs typeface="Arial MT"/>
              </a:rPr>
              <a:t>Insights</a:t>
            </a:r>
            <a:endParaRPr sz="3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3450">
              <a:latin typeface="Arial MT"/>
              <a:cs typeface="Arial MT"/>
            </a:endParaRPr>
          </a:p>
          <a:p>
            <a:pPr marL="295910" marR="598805" indent="-283845">
              <a:lnSpc>
                <a:spcPts val="3050"/>
              </a:lnSpc>
              <a:buClr>
                <a:srgbClr val="083457"/>
              </a:buClr>
              <a:buChar char="•"/>
              <a:tabLst>
                <a:tab pos="299085" algn="l"/>
              </a:tabLst>
            </a:pPr>
            <a:r>
              <a:rPr dirty="0" sz="2850" spc="-145">
                <a:latin typeface="Calibri"/>
                <a:cs typeface="Calibri"/>
              </a:rPr>
              <a:t>Distribution</a:t>
            </a:r>
            <a:r>
              <a:rPr dirty="0" sz="2850" spc="15">
                <a:latin typeface="Calibri"/>
                <a:cs typeface="Calibri"/>
              </a:rPr>
              <a:t> </a:t>
            </a:r>
            <a:r>
              <a:rPr dirty="0" sz="2850" spc="-140">
                <a:latin typeface="Calibri"/>
                <a:cs typeface="Calibri"/>
              </a:rPr>
              <a:t>of</a:t>
            </a:r>
            <a:r>
              <a:rPr dirty="0" sz="2850" spc="-170">
                <a:latin typeface="Calibri"/>
                <a:cs typeface="Calibri"/>
              </a:rPr>
              <a:t> </a:t>
            </a:r>
            <a:r>
              <a:rPr dirty="0" sz="2850" spc="-165">
                <a:latin typeface="Calibri"/>
                <a:cs typeface="Calibri"/>
              </a:rPr>
              <a:t>orders</a:t>
            </a:r>
            <a:r>
              <a:rPr dirty="0" sz="2850" spc="35">
                <a:latin typeface="Calibri"/>
                <a:cs typeface="Calibri"/>
              </a:rPr>
              <a:t> </a:t>
            </a:r>
            <a:r>
              <a:rPr dirty="0" sz="2850" spc="-114">
                <a:latin typeface="Calibri"/>
                <a:cs typeface="Calibri"/>
              </a:rPr>
              <a:t>across </a:t>
            </a:r>
            <a:r>
              <a:rPr dirty="0" sz="2850" spc="-114">
                <a:latin typeface="Calibri"/>
                <a:cs typeface="Calibri"/>
              </a:rPr>
              <a:t>	</a:t>
            </a:r>
            <a:r>
              <a:rPr dirty="0" sz="2850" spc="-155">
                <a:latin typeface="Calibri"/>
                <a:cs typeface="Calibri"/>
              </a:rPr>
              <a:t>spending</a:t>
            </a:r>
            <a:r>
              <a:rPr dirty="0" sz="2850" spc="-45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buckets:</a:t>
            </a:r>
            <a:endParaRPr sz="2850">
              <a:latin typeface="Calibri"/>
              <a:cs typeface="Calibri"/>
            </a:endParaRPr>
          </a:p>
          <a:p>
            <a:pPr marL="641350" marR="5080" indent="-258445">
              <a:lnSpc>
                <a:spcPts val="3000"/>
              </a:lnSpc>
              <a:spcBef>
                <a:spcPts val="990"/>
              </a:spcBef>
            </a:pPr>
            <a:r>
              <a:rPr dirty="0" sz="2700" spc="-170">
                <a:solidFill>
                  <a:srgbClr val="1F1F1F"/>
                </a:solidFill>
                <a:latin typeface="Consolas"/>
                <a:cs typeface="Consolas"/>
              </a:rPr>
              <a:t>-</a:t>
            </a:r>
            <a:r>
              <a:rPr dirty="0" sz="2700" spc="-555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dirty="0" sz="2700" spc="-260">
                <a:latin typeface="Consolas"/>
                <a:cs typeface="Consolas"/>
              </a:rPr>
              <a:t>Under100,100-199,200-</a:t>
            </a:r>
            <a:r>
              <a:rPr dirty="0" sz="2700" spc="-280">
                <a:latin typeface="Consolas"/>
                <a:cs typeface="Consolas"/>
              </a:rPr>
              <a:t>299, </a:t>
            </a:r>
            <a:r>
              <a:rPr dirty="0" sz="2700" spc="-290">
                <a:latin typeface="Consolas"/>
                <a:cs typeface="Consolas"/>
              </a:rPr>
              <a:t>300-</a:t>
            </a:r>
            <a:r>
              <a:rPr dirty="0" sz="2700" spc="-300">
                <a:latin typeface="Consolas"/>
                <a:cs typeface="Consolas"/>
              </a:rPr>
              <a:t>499,500+</a:t>
            </a:r>
            <a:endParaRPr sz="27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0" y="8763000"/>
            <a:ext cx="5994400" cy="38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0300" y="2514600"/>
            <a:ext cx="1397000" cy="1765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88300" y="2501900"/>
            <a:ext cx="1498600" cy="17907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71500" y="2501900"/>
            <a:ext cx="2082800" cy="1790700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0454216" y="5892800"/>
            <a:ext cx="0" cy="2955290"/>
          </a:xfrm>
          <a:custGeom>
            <a:avLst/>
            <a:gdLst/>
            <a:ahLst/>
            <a:cxnLst/>
            <a:rect l="l" t="t" r="r" b="b"/>
            <a:pathLst>
              <a:path w="0" h="2955290">
                <a:moveTo>
                  <a:pt x="0" y="2954866"/>
                </a:moveTo>
                <a:lnTo>
                  <a:pt x="0" y="0"/>
                </a:lnTo>
              </a:path>
            </a:pathLst>
          </a:custGeom>
          <a:ln w="21166">
            <a:solidFill>
              <a:srgbClr val="1C3B5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0443633" y="5880100"/>
            <a:ext cx="6066790" cy="2967990"/>
            <a:chOff x="10443633" y="5880100"/>
            <a:chExt cx="6066790" cy="2967990"/>
          </a:xfrm>
        </p:grpSpPr>
        <p:sp>
          <p:nvSpPr>
            <p:cNvPr id="8" name="object 8" descr=""/>
            <p:cNvSpPr/>
            <p:nvPr/>
          </p:nvSpPr>
          <p:spPr>
            <a:xfrm>
              <a:off x="16474012" y="5892800"/>
              <a:ext cx="0" cy="2955290"/>
            </a:xfrm>
            <a:custGeom>
              <a:avLst/>
              <a:gdLst/>
              <a:ahLst/>
              <a:cxnLst/>
              <a:rect l="l" t="t" r="r" b="b"/>
              <a:pathLst>
                <a:path w="0" h="2955290">
                  <a:moveTo>
                    <a:pt x="0" y="29548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1C3B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443633" y="5903383"/>
              <a:ext cx="6041390" cy="0"/>
            </a:xfrm>
            <a:custGeom>
              <a:avLst/>
              <a:gdLst/>
              <a:ahLst/>
              <a:cxnLst/>
              <a:rect l="l" t="t" r="r" b="b"/>
              <a:pathLst>
                <a:path w="6041390" h="0">
                  <a:moveTo>
                    <a:pt x="0" y="0"/>
                  </a:moveTo>
                  <a:lnTo>
                    <a:pt x="6040966" y="0"/>
                  </a:lnTo>
                </a:path>
              </a:pathLst>
            </a:custGeom>
            <a:ln w="21166">
              <a:solidFill>
                <a:srgbClr val="1C3B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443633" y="8837083"/>
              <a:ext cx="6041390" cy="0"/>
            </a:xfrm>
            <a:custGeom>
              <a:avLst/>
              <a:gdLst/>
              <a:ahLst/>
              <a:cxnLst/>
              <a:rect l="l" t="t" r="r" b="b"/>
              <a:pathLst>
                <a:path w="6041390" h="0">
                  <a:moveTo>
                    <a:pt x="0" y="0"/>
                  </a:moveTo>
                  <a:lnTo>
                    <a:pt x="6040966" y="0"/>
                  </a:lnTo>
                </a:path>
              </a:pathLst>
            </a:custGeom>
            <a:ln w="21166">
              <a:solidFill>
                <a:srgbClr val="1C3B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477500" y="5899150"/>
              <a:ext cx="6032500" cy="0"/>
            </a:xfrm>
            <a:custGeom>
              <a:avLst/>
              <a:gdLst/>
              <a:ahLst/>
              <a:cxnLst/>
              <a:rect l="l" t="t" r="r" b="b"/>
              <a:pathLst>
                <a:path w="6032500" h="0">
                  <a:moveTo>
                    <a:pt x="0" y="0"/>
                  </a:moveTo>
                  <a:lnTo>
                    <a:pt x="6032500" y="0"/>
                  </a:lnTo>
                </a:path>
              </a:pathLst>
            </a:custGeom>
            <a:ln w="38100">
              <a:solidFill>
                <a:srgbClr val="0E3A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3200" y="3149600"/>
            <a:ext cx="177800" cy="5080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369918" y="284338"/>
            <a:ext cx="14713585" cy="175387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6884"/>
              </a:lnSpc>
              <a:spcBef>
                <a:spcPts val="110"/>
              </a:spcBef>
            </a:pPr>
            <a:r>
              <a:rPr dirty="0" sz="6100" spc="145">
                <a:solidFill>
                  <a:srgbClr val="083659"/>
                </a:solidFill>
                <a:latin typeface="Calibri"/>
                <a:cs typeface="Calibri"/>
              </a:rPr>
              <a:t>Bridging</a:t>
            </a:r>
            <a:r>
              <a:rPr dirty="0" sz="6100" spc="-80">
                <a:solidFill>
                  <a:srgbClr val="083659"/>
                </a:solidFill>
                <a:latin typeface="Calibri"/>
                <a:cs typeface="Calibri"/>
              </a:rPr>
              <a:t> </a:t>
            </a:r>
            <a:r>
              <a:rPr dirty="0" sz="6100" spc="50">
                <a:solidFill>
                  <a:srgbClr val="073357"/>
                </a:solidFill>
                <a:latin typeface="Calibri"/>
                <a:cs typeface="Calibri"/>
              </a:rPr>
              <a:t>the</a:t>
            </a:r>
            <a:r>
              <a:rPr dirty="0" sz="6100" spc="-195">
                <a:solidFill>
                  <a:srgbClr val="073357"/>
                </a:solidFill>
                <a:latin typeface="Calibri"/>
                <a:cs typeface="Calibri"/>
              </a:rPr>
              <a:t> </a:t>
            </a:r>
            <a:r>
              <a:rPr dirty="0" sz="6100">
                <a:solidFill>
                  <a:srgbClr val="083456"/>
                </a:solidFill>
                <a:latin typeface="Calibri"/>
                <a:cs typeface="Calibri"/>
              </a:rPr>
              <a:t>Gap:</a:t>
            </a:r>
            <a:r>
              <a:rPr dirty="0" sz="6100" spc="-75">
                <a:solidFill>
                  <a:srgbClr val="083456"/>
                </a:solidFill>
                <a:latin typeface="Calibri"/>
                <a:cs typeface="Calibri"/>
              </a:rPr>
              <a:t> </a:t>
            </a:r>
            <a:r>
              <a:rPr dirty="0" sz="6100">
                <a:solidFill>
                  <a:srgbClr val="0A365D"/>
                </a:solidFill>
                <a:latin typeface="Calibri"/>
                <a:cs typeface="Calibri"/>
              </a:rPr>
              <a:t>Transtating</a:t>
            </a:r>
            <a:r>
              <a:rPr dirty="0" sz="6100" spc="165">
                <a:solidFill>
                  <a:srgbClr val="0A365D"/>
                </a:solidFill>
                <a:latin typeface="Calibri"/>
                <a:cs typeface="Calibri"/>
              </a:rPr>
              <a:t> </a:t>
            </a:r>
            <a:r>
              <a:rPr dirty="0" sz="6100" spc="55">
                <a:solidFill>
                  <a:srgbClr val="0C3860"/>
                </a:solidFill>
                <a:latin typeface="Calibri"/>
                <a:cs typeface="Calibri"/>
              </a:rPr>
              <a:t>SQL</a:t>
            </a:r>
            <a:r>
              <a:rPr dirty="0" sz="6100" spc="-35">
                <a:solidFill>
                  <a:srgbClr val="0C3860"/>
                </a:solidFill>
                <a:latin typeface="Calibri"/>
                <a:cs typeface="Calibri"/>
              </a:rPr>
              <a:t> </a:t>
            </a:r>
            <a:r>
              <a:rPr dirty="0" sz="6100" spc="70">
                <a:solidFill>
                  <a:srgbClr val="0A385E"/>
                </a:solidFill>
                <a:latin typeface="Calibri"/>
                <a:cs typeface="Calibri"/>
              </a:rPr>
              <a:t>Analysis</a:t>
            </a:r>
            <a:r>
              <a:rPr dirty="0" sz="6100" spc="110">
                <a:solidFill>
                  <a:srgbClr val="0A385E"/>
                </a:solidFill>
                <a:latin typeface="Calibri"/>
                <a:cs typeface="Calibri"/>
              </a:rPr>
              <a:t> </a:t>
            </a:r>
            <a:r>
              <a:rPr dirty="0" sz="6100" spc="-25">
                <a:solidFill>
                  <a:srgbClr val="0A3459"/>
                </a:solidFill>
                <a:latin typeface="Calibri"/>
                <a:cs typeface="Calibri"/>
              </a:rPr>
              <a:t>for</a:t>
            </a:r>
            <a:endParaRPr sz="6100">
              <a:latin typeface="Calibri"/>
              <a:cs typeface="Calibri"/>
            </a:endParaRPr>
          </a:p>
          <a:p>
            <a:pPr algn="ctr" marL="93345">
              <a:lnSpc>
                <a:spcPts val="6705"/>
              </a:lnSpc>
            </a:pPr>
            <a:r>
              <a:rPr dirty="0" sz="5950" spc="150">
                <a:solidFill>
                  <a:srgbClr val="0C3D66"/>
                </a:solidFill>
                <a:latin typeface="Calibri"/>
                <a:cs typeface="Calibri"/>
              </a:rPr>
              <a:t>Business</a:t>
            </a:r>
            <a:r>
              <a:rPr dirty="0" sz="5950" spc="-55">
                <a:solidFill>
                  <a:srgbClr val="0C3D66"/>
                </a:solidFill>
                <a:latin typeface="Calibri"/>
                <a:cs typeface="Calibri"/>
              </a:rPr>
              <a:t> </a:t>
            </a:r>
            <a:r>
              <a:rPr dirty="0" sz="5950" spc="65">
                <a:solidFill>
                  <a:srgbClr val="083457"/>
                </a:solidFill>
                <a:latin typeface="Calibri"/>
                <a:cs typeface="Calibri"/>
              </a:rPr>
              <a:t>Users</a:t>
            </a:r>
            <a:endParaRPr sz="59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00530">
              <a:lnSpc>
                <a:spcPct val="100000"/>
              </a:lnSpc>
              <a:spcBef>
                <a:spcPts val="105"/>
              </a:spcBef>
            </a:pPr>
            <a:r>
              <a:rPr dirty="0" spc="170"/>
              <a:t>SQL</a:t>
            </a:r>
          </a:p>
          <a:p>
            <a:pPr>
              <a:lnSpc>
                <a:spcPct val="100000"/>
              </a:lnSpc>
              <a:spcBef>
                <a:spcPts val="890"/>
              </a:spcBef>
            </a:pPr>
          </a:p>
          <a:p>
            <a:pPr marL="1143000">
              <a:lnSpc>
                <a:spcPct val="100000"/>
              </a:lnSpc>
              <a:tabLst>
                <a:tab pos="7177405" algn="l"/>
              </a:tabLst>
            </a:pPr>
            <a:r>
              <a:rPr dirty="0" sz="3650" spc="180">
                <a:solidFill>
                  <a:srgbClr val="000000"/>
                </a:solidFill>
              </a:rPr>
              <a:t>S§L</a:t>
            </a:r>
            <a:r>
              <a:rPr dirty="0" sz="3650" spc="15">
                <a:solidFill>
                  <a:srgbClr val="000000"/>
                </a:solidFill>
              </a:rPr>
              <a:t> </a:t>
            </a:r>
            <a:r>
              <a:rPr dirty="0" sz="3650" spc="-10">
                <a:solidFill>
                  <a:srgbClr val="000000"/>
                </a:solidFill>
              </a:rPr>
              <a:t>§uery</a:t>
            </a:r>
            <a:r>
              <a:rPr dirty="0" sz="3650">
                <a:solidFill>
                  <a:srgbClr val="000000"/>
                </a:solidFill>
              </a:rPr>
              <a:t>	</a:t>
            </a:r>
            <a:r>
              <a:rPr dirty="0" sz="3750" spc="-100">
                <a:solidFill>
                  <a:srgbClr val="000000"/>
                </a:solidFill>
              </a:rPr>
              <a:t>Export</a:t>
            </a:r>
            <a:endParaRPr sz="3750"/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3650"/>
          </a:p>
          <a:p>
            <a:pPr marL="12700">
              <a:lnSpc>
                <a:spcPct val="100000"/>
              </a:lnSpc>
            </a:pPr>
            <a:r>
              <a:rPr dirty="0" sz="4350" spc="-229">
                <a:solidFill>
                  <a:srgbClr val="073B62"/>
                </a:solidFill>
              </a:rPr>
              <a:t>Why</a:t>
            </a:r>
            <a:r>
              <a:rPr dirty="0" sz="4350" spc="-15">
                <a:solidFill>
                  <a:srgbClr val="073B62"/>
                </a:solidFill>
              </a:rPr>
              <a:t> </a:t>
            </a:r>
            <a:r>
              <a:rPr dirty="0" sz="4350" spc="-10">
                <a:solidFill>
                  <a:srgbClr val="083B60"/>
                </a:solidFill>
              </a:rPr>
              <a:t>Excel?</a:t>
            </a:r>
            <a:endParaRPr sz="4350"/>
          </a:p>
          <a:p>
            <a:pPr marL="464184" indent="-346710">
              <a:lnSpc>
                <a:spcPct val="100000"/>
              </a:lnSpc>
              <a:spcBef>
                <a:spcPts val="930"/>
              </a:spcBef>
              <a:buChar char="•"/>
              <a:tabLst>
                <a:tab pos="464184" algn="l"/>
              </a:tabLst>
            </a:pPr>
            <a:r>
              <a:rPr dirty="0" sz="3200" spc="-20">
                <a:solidFill>
                  <a:srgbClr val="000000"/>
                </a:solidFill>
              </a:rPr>
              <a:t>Empowers</a:t>
            </a:r>
            <a:r>
              <a:rPr dirty="0" sz="3200" spc="-125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stakeholders</a:t>
            </a:r>
            <a:r>
              <a:rPr dirty="0" sz="3200" spc="15">
                <a:solidFill>
                  <a:srgbClr val="000000"/>
                </a:solidFill>
              </a:rPr>
              <a:t> </a:t>
            </a:r>
            <a:r>
              <a:rPr dirty="0" sz="3200" spc="-20">
                <a:solidFill>
                  <a:srgbClr val="000000"/>
                </a:solidFill>
              </a:rPr>
              <a:t>with</a:t>
            </a:r>
            <a:r>
              <a:rPr dirty="0" sz="3200" spc="-16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a</a:t>
            </a:r>
            <a:r>
              <a:rPr dirty="0" sz="3200" spc="-170">
                <a:solidFill>
                  <a:srgbClr val="000000"/>
                </a:solidFill>
              </a:rPr>
              <a:t> </a:t>
            </a:r>
            <a:r>
              <a:rPr dirty="0" sz="3200">
                <a:solidFill>
                  <a:srgbClr val="000000"/>
                </a:solidFill>
              </a:rPr>
              <a:t>familiar</a:t>
            </a:r>
            <a:r>
              <a:rPr dirty="0" sz="3200" spc="-130">
                <a:solidFill>
                  <a:srgbClr val="000000"/>
                </a:solidFill>
              </a:rPr>
              <a:t> </a:t>
            </a:r>
            <a:r>
              <a:rPr dirty="0" sz="3200" spc="-10">
                <a:solidFill>
                  <a:srgbClr val="000000"/>
                </a:solidFill>
              </a:rPr>
              <a:t>tool.</a:t>
            </a:r>
            <a:endParaRPr sz="3200"/>
          </a:p>
          <a:p>
            <a:pPr marL="463550" indent="-347345">
              <a:lnSpc>
                <a:spcPct val="100000"/>
              </a:lnSpc>
              <a:spcBef>
                <a:spcPts val="710"/>
              </a:spcBef>
              <a:buChar char="•"/>
              <a:tabLst>
                <a:tab pos="463550" algn="l"/>
              </a:tabLst>
            </a:pPr>
            <a:r>
              <a:rPr dirty="0" sz="3300" spc="-25">
                <a:solidFill>
                  <a:srgbClr val="000000"/>
                </a:solidFill>
              </a:rPr>
              <a:t>Enables</a:t>
            </a:r>
            <a:r>
              <a:rPr dirty="0" sz="3300" spc="-85">
                <a:solidFill>
                  <a:srgbClr val="000000"/>
                </a:solidFill>
              </a:rPr>
              <a:t> </a:t>
            </a:r>
            <a:r>
              <a:rPr dirty="0" sz="3300" spc="-60">
                <a:solidFill>
                  <a:srgbClr val="000000"/>
                </a:solidFill>
              </a:rPr>
              <a:t>rapid</a:t>
            </a:r>
            <a:r>
              <a:rPr dirty="0" sz="3300" spc="-130">
                <a:solidFill>
                  <a:srgbClr val="000000"/>
                </a:solidFill>
              </a:rPr>
              <a:t> </a:t>
            </a:r>
            <a:r>
              <a:rPr dirty="0" sz="3300" spc="-55">
                <a:solidFill>
                  <a:srgbClr val="000000"/>
                </a:solidFill>
              </a:rPr>
              <a:t>ad-</a:t>
            </a:r>
            <a:r>
              <a:rPr dirty="0" sz="3300" spc="-10">
                <a:solidFill>
                  <a:srgbClr val="000000"/>
                </a:solidFill>
              </a:rPr>
              <a:t>hoc</a:t>
            </a:r>
            <a:r>
              <a:rPr dirty="0" sz="3300" spc="-150">
                <a:solidFill>
                  <a:srgbClr val="000000"/>
                </a:solidFill>
              </a:rPr>
              <a:t> </a:t>
            </a:r>
            <a:r>
              <a:rPr dirty="0" sz="3300">
                <a:solidFill>
                  <a:srgbClr val="000000"/>
                </a:solidFill>
              </a:rPr>
              <a:t>analysis</a:t>
            </a:r>
            <a:r>
              <a:rPr dirty="0" sz="3300" spc="-50">
                <a:solidFill>
                  <a:srgbClr val="000000"/>
                </a:solidFill>
              </a:rPr>
              <a:t> </a:t>
            </a:r>
            <a:r>
              <a:rPr dirty="0" sz="3300" spc="-10">
                <a:solidFill>
                  <a:srgbClr val="000000"/>
                </a:solidFill>
              </a:rPr>
              <a:t>via</a:t>
            </a:r>
            <a:r>
              <a:rPr dirty="0" sz="3300" spc="-175">
                <a:solidFill>
                  <a:srgbClr val="000000"/>
                </a:solidFill>
              </a:rPr>
              <a:t> </a:t>
            </a:r>
            <a:r>
              <a:rPr dirty="0" sz="3300" spc="75">
                <a:solidFill>
                  <a:srgbClr val="000000"/>
                </a:solidFill>
              </a:rPr>
              <a:t>Pivot</a:t>
            </a:r>
            <a:r>
              <a:rPr dirty="0" sz="3300" spc="-190">
                <a:solidFill>
                  <a:srgbClr val="000000"/>
                </a:solidFill>
              </a:rPr>
              <a:t> </a:t>
            </a:r>
            <a:r>
              <a:rPr dirty="0" sz="3300" spc="-10">
                <a:solidFill>
                  <a:srgbClr val="000000"/>
                </a:solidFill>
              </a:rPr>
              <a:t>Tables.</a:t>
            </a:r>
            <a:endParaRPr sz="3300"/>
          </a:p>
          <a:p>
            <a:pPr marL="459740" marR="19050" indent="-346710">
              <a:lnSpc>
                <a:spcPts val="3750"/>
              </a:lnSpc>
              <a:spcBef>
                <a:spcPts val="940"/>
              </a:spcBef>
              <a:buChar char="•"/>
              <a:tabLst>
                <a:tab pos="464820" algn="l"/>
              </a:tabLst>
            </a:pPr>
            <a:r>
              <a:rPr dirty="0" sz="3550" spc="-150">
                <a:solidFill>
                  <a:srgbClr val="000000"/>
                </a:solidFill>
              </a:rPr>
              <a:t>Facilitates</a:t>
            </a:r>
            <a:r>
              <a:rPr dirty="0" sz="3550" spc="-25">
                <a:solidFill>
                  <a:srgbClr val="000000"/>
                </a:solidFill>
              </a:rPr>
              <a:t> </a:t>
            </a:r>
            <a:r>
              <a:rPr dirty="0" sz="3550" spc="-220">
                <a:solidFill>
                  <a:srgbClr val="000000"/>
                </a:solidFill>
              </a:rPr>
              <a:t>the</a:t>
            </a:r>
            <a:r>
              <a:rPr dirty="0" sz="3550" spc="-130">
                <a:solidFill>
                  <a:srgbClr val="000000"/>
                </a:solidFill>
              </a:rPr>
              <a:t> </a:t>
            </a:r>
            <a:r>
              <a:rPr dirty="0" sz="3550" spc="-200">
                <a:solidFill>
                  <a:srgbClr val="000000"/>
                </a:solidFill>
              </a:rPr>
              <a:t>creation</a:t>
            </a:r>
            <a:r>
              <a:rPr dirty="0" sz="3550" spc="5">
                <a:solidFill>
                  <a:srgbClr val="000000"/>
                </a:solidFill>
              </a:rPr>
              <a:t> </a:t>
            </a:r>
            <a:r>
              <a:rPr dirty="0" sz="3550" spc="-175">
                <a:solidFill>
                  <a:srgbClr val="000000"/>
                </a:solidFill>
              </a:rPr>
              <a:t>of</a:t>
            </a:r>
            <a:r>
              <a:rPr dirty="0" sz="3550" spc="-229">
                <a:solidFill>
                  <a:srgbClr val="000000"/>
                </a:solidFill>
              </a:rPr>
              <a:t> </a:t>
            </a:r>
            <a:r>
              <a:rPr dirty="0" sz="3550" spc="-80">
                <a:solidFill>
                  <a:srgbClr val="000000"/>
                </a:solidFill>
              </a:rPr>
              <a:t>Summary</a:t>
            </a:r>
            <a:r>
              <a:rPr dirty="0" sz="3550" spc="70">
                <a:solidFill>
                  <a:srgbClr val="000000"/>
                </a:solidFill>
              </a:rPr>
              <a:t> </a:t>
            </a:r>
            <a:r>
              <a:rPr dirty="0" sz="3550" spc="-90">
                <a:solidFill>
                  <a:srgbClr val="000000"/>
                </a:solidFill>
              </a:rPr>
              <a:t>Sheets</a:t>
            </a:r>
            <a:r>
              <a:rPr dirty="0" sz="3550" spc="-145">
                <a:solidFill>
                  <a:srgbClr val="000000"/>
                </a:solidFill>
              </a:rPr>
              <a:t> </a:t>
            </a:r>
            <a:r>
              <a:rPr dirty="0" sz="3550" spc="-25">
                <a:solidFill>
                  <a:srgbClr val="000000"/>
                </a:solidFill>
              </a:rPr>
              <a:t>and </a:t>
            </a:r>
            <a:r>
              <a:rPr dirty="0" sz="3550" spc="-25">
                <a:solidFill>
                  <a:srgbClr val="000000"/>
                </a:solidFill>
              </a:rPr>
              <a:t>	</a:t>
            </a:r>
            <a:r>
              <a:rPr dirty="0" sz="3550" spc="-55">
                <a:solidFill>
                  <a:srgbClr val="000000"/>
                </a:solidFill>
              </a:rPr>
              <a:t>Charts</a:t>
            </a:r>
            <a:r>
              <a:rPr dirty="0" sz="3550" spc="-125">
                <a:solidFill>
                  <a:srgbClr val="000000"/>
                </a:solidFill>
              </a:rPr>
              <a:t> </a:t>
            </a:r>
            <a:r>
              <a:rPr dirty="0" sz="3550" spc="-204">
                <a:solidFill>
                  <a:srgbClr val="000000"/>
                </a:solidFill>
              </a:rPr>
              <a:t>for</a:t>
            </a:r>
            <a:r>
              <a:rPr dirty="0" sz="3550" spc="-240">
                <a:solidFill>
                  <a:srgbClr val="000000"/>
                </a:solidFill>
              </a:rPr>
              <a:t> </a:t>
            </a:r>
            <a:r>
              <a:rPr dirty="0" sz="3550" spc="-80">
                <a:solidFill>
                  <a:srgbClr val="000000"/>
                </a:solidFill>
              </a:rPr>
              <a:t>reporting.</a:t>
            </a:r>
            <a:endParaRPr sz="3550"/>
          </a:p>
        </p:txBody>
      </p:sp>
      <p:sp>
        <p:nvSpPr>
          <p:cNvPr id="15" name="object 15" descr=""/>
          <p:cNvSpPr txBox="1"/>
          <p:nvPr/>
        </p:nvSpPr>
        <p:spPr>
          <a:xfrm>
            <a:off x="12621902" y="4470400"/>
            <a:ext cx="3203575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 spc="-70">
                <a:latin typeface="Calibri"/>
                <a:cs typeface="Calibri"/>
              </a:rPr>
              <a:t>Business</a:t>
            </a:r>
            <a:r>
              <a:rPr dirty="0" sz="3750" spc="-80">
                <a:latin typeface="Calibri"/>
                <a:cs typeface="Calibri"/>
              </a:rPr>
              <a:t> </a:t>
            </a:r>
            <a:r>
              <a:rPr dirty="0" sz="3750" spc="-75">
                <a:latin typeface="Calibri"/>
                <a:cs typeface="Calibri"/>
              </a:rPr>
              <a:t>Analysis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464799" y="6114344"/>
            <a:ext cx="5998845" cy="247459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499109" marR="700405" indent="17145">
              <a:lnSpc>
                <a:spcPts val="4700"/>
              </a:lnSpc>
              <a:spcBef>
                <a:spcPts val="645"/>
              </a:spcBef>
            </a:pPr>
            <a:r>
              <a:rPr dirty="0" sz="4300" spc="-65">
                <a:latin typeface="Calibri"/>
                <a:cs typeface="Calibri"/>
              </a:rPr>
              <a:t>This</a:t>
            </a:r>
            <a:r>
              <a:rPr dirty="0" sz="4300" spc="-204">
                <a:latin typeface="Calibri"/>
                <a:cs typeface="Calibri"/>
              </a:rPr>
              <a:t> </a:t>
            </a:r>
            <a:r>
              <a:rPr dirty="0" sz="4300" spc="-100">
                <a:latin typeface="Calibri"/>
                <a:cs typeface="Calibri"/>
              </a:rPr>
              <a:t>step</a:t>
            </a:r>
            <a:r>
              <a:rPr dirty="0" sz="4300" spc="-85">
                <a:latin typeface="Calibri"/>
                <a:cs typeface="Calibri"/>
              </a:rPr>
              <a:t> </a:t>
            </a:r>
            <a:r>
              <a:rPr dirty="0" sz="4300" spc="-25">
                <a:latin typeface="Calibri"/>
                <a:cs typeface="Calibri"/>
              </a:rPr>
              <a:t>transforms </a:t>
            </a:r>
            <a:r>
              <a:rPr dirty="0" sz="4200" spc="-30">
                <a:latin typeface="Calibri"/>
                <a:cs typeface="Calibri"/>
              </a:rPr>
              <a:t>technical</a:t>
            </a:r>
            <a:r>
              <a:rPr dirty="0" sz="4200" spc="-165">
                <a:latin typeface="Calibri"/>
                <a:cs typeface="Calibri"/>
              </a:rPr>
              <a:t> </a:t>
            </a:r>
            <a:r>
              <a:rPr dirty="0" sz="4200" spc="-60">
                <a:latin typeface="Calibri"/>
                <a:cs typeface="Calibri"/>
              </a:rPr>
              <a:t>output</a:t>
            </a:r>
            <a:r>
              <a:rPr dirty="0" sz="4200" spc="-95">
                <a:latin typeface="Calibri"/>
                <a:cs typeface="Calibri"/>
              </a:rPr>
              <a:t> </a:t>
            </a:r>
            <a:r>
              <a:rPr dirty="0" sz="4200" spc="-40">
                <a:latin typeface="Calibri"/>
                <a:cs typeface="Calibri"/>
              </a:rPr>
              <a:t>into</a:t>
            </a:r>
            <a:r>
              <a:rPr dirty="0" sz="4200" spc="-195">
                <a:latin typeface="Calibri"/>
                <a:cs typeface="Calibri"/>
              </a:rPr>
              <a:t> </a:t>
            </a:r>
            <a:r>
              <a:rPr dirty="0" sz="4200" spc="-50">
                <a:latin typeface="Calibri"/>
                <a:cs typeface="Calibri"/>
              </a:rPr>
              <a:t>a </a:t>
            </a:r>
            <a:r>
              <a:rPr dirty="0" sz="4350" spc="-114">
                <a:latin typeface="Calibri"/>
                <a:cs typeface="Calibri"/>
              </a:rPr>
              <a:t>flexible</a:t>
            </a:r>
            <a:r>
              <a:rPr dirty="0" sz="4350" spc="-70">
                <a:latin typeface="Calibri"/>
                <a:cs typeface="Calibri"/>
              </a:rPr>
              <a:t> </a:t>
            </a:r>
            <a:r>
              <a:rPr dirty="0" sz="4350" spc="-100">
                <a:latin typeface="Calibri"/>
                <a:cs typeface="Calibri"/>
              </a:rPr>
              <a:t>asset</a:t>
            </a:r>
            <a:r>
              <a:rPr dirty="0" sz="4350" spc="-125">
                <a:latin typeface="Calibri"/>
                <a:cs typeface="Calibri"/>
              </a:rPr>
              <a:t> </a:t>
            </a:r>
            <a:r>
              <a:rPr dirty="0" sz="4350" spc="-150">
                <a:latin typeface="Calibri"/>
                <a:cs typeface="Calibri"/>
              </a:rPr>
              <a:t>for</a:t>
            </a:r>
            <a:r>
              <a:rPr dirty="0" sz="4350" spc="-225">
                <a:latin typeface="Calibri"/>
                <a:cs typeface="Calibri"/>
              </a:rPr>
              <a:t> </a:t>
            </a:r>
            <a:r>
              <a:rPr dirty="0" sz="4350" spc="-25">
                <a:latin typeface="Calibri"/>
                <a:cs typeface="Calibri"/>
              </a:rPr>
              <a:t>the </a:t>
            </a:r>
            <a:r>
              <a:rPr dirty="0" sz="4350" spc="-165">
                <a:latin typeface="Calibri"/>
                <a:cs typeface="Calibri"/>
              </a:rPr>
              <a:t>entire</a:t>
            </a:r>
            <a:r>
              <a:rPr dirty="0" sz="4350" spc="-80">
                <a:latin typeface="Calibri"/>
                <a:cs typeface="Calibri"/>
              </a:rPr>
              <a:t> </a:t>
            </a:r>
            <a:r>
              <a:rPr dirty="0" sz="4350" spc="-10">
                <a:latin typeface="Calibri"/>
                <a:cs typeface="Calibri"/>
              </a:rPr>
              <a:t>business.</a:t>
            </a:r>
            <a:endParaRPr sz="435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Calibri"/>
                <a:cs typeface="Calibri"/>
              </a:rPr>
              <a:t>G</a:t>
            </a:r>
            <a:r>
              <a:rPr dirty="0" sz="1500" spc="100">
                <a:latin typeface="Calibri"/>
                <a:cs typeface="Calibri"/>
              </a:rPr>
              <a:t> 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2800" y="6324600"/>
            <a:ext cx="1841500" cy="18415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400" y="3835400"/>
            <a:ext cx="4470400" cy="13208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9258300" y="7998883"/>
            <a:ext cx="4716145" cy="0"/>
          </a:xfrm>
          <a:custGeom>
            <a:avLst/>
            <a:gdLst/>
            <a:ahLst/>
            <a:cxnLst/>
            <a:rect l="l" t="t" r="r" b="b"/>
            <a:pathLst>
              <a:path w="4716144" h="0">
                <a:moveTo>
                  <a:pt x="0" y="0"/>
                </a:moveTo>
                <a:lnTo>
                  <a:pt x="47159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283700" y="5496983"/>
            <a:ext cx="4754245" cy="0"/>
          </a:xfrm>
          <a:custGeom>
            <a:avLst/>
            <a:gdLst/>
            <a:ahLst/>
            <a:cxnLst/>
            <a:rect l="l" t="t" r="r" b="b"/>
            <a:pathLst>
              <a:path w="4754244" h="0">
                <a:moveTo>
                  <a:pt x="0" y="0"/>
                </a:moveTo>
                <a:lnTo>
                  <a:pt x="4754033" y="0"/>
                </a:lnTo>
              </a:path>
            </a:pathLst>
          </a:custGeom>
          <a:ln w="296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06900" y="3670300"/>
            <a:ext cx="3479800" cy="18415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81500" y="5575300"/>
            <a:ext cx="63500" cy="889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37100" y="5575300"/>
            <a:ext cx="3835400" cy="1905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84600" y="5321300"/>
            <a:ext cx="571500" cy="1270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70500" y="5327650"/>
            <a:ext cx="266700" cy="1143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34500" y="8058150"/>
            <a:ext cx="4533900" cy="13335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88556" y="316088"/>
            <a:ext cx="14803755" cy="956944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100" spc="-105">
                <a:solidFill>
                  <a:srgbClr val="053B62"/>
                </a:solidFill>
                <a:latin typeface="Cambria"/>
                <a:cs typeface="Cambria"/>
              </a:rPr>
              <a:t>Visualising</a:t>
            </a:r>
            <a:r>
              <a:rPr dirty="0" sz="6100" spc="-180">
                <a:solidFill>
                  <a:srgbClr val="053B62"/>
                </a:solidFill>
                <a:latin typeface="Cambria"/>
                <a:cs typeface="Cambria"/>
              </a:rPr>
              <a:t> </a:t>
            </a:r>
            <a:r>
              <a:rPr dirty="0" sz="6100" spc="-95">
                <a:solidFill>
                  <a:srgbClr val="032F52"/>
                </a:solidFill>
                <a:latin typeface="Cambria"/>
                <a:cs typeface="Cambria"/>
              </a:rPr>
              <a:t>the</a:t>
            </a:r>
            <a:r>
              <a:rPr dirty="0" sz="6100" spc="-345">
                <a:solidFill>
                  <a:srgbClr val="032F52"/>
                </a:solidFill>
                <a:latin typeface="Cambria"/>
                <a:cs typeface="Cambria"/>
              </a:rPr>
              <a:t> </a:t>
            </a:r>
            <a:r>
              <a:rPr dirty="0" sz="6100" spc="-170">
                <a:solidFill>
                  <a:srgbClr val="033860"/>
                </a:solidFill>
                <a:latin typeface="Cambria"/>
                <a:cs typeface="Cambria"/>
              </a:rPr>
              <a:t>Narrative:</a:t>
            </a:r>
            <a:r>
              <a:rPr dirty="0" sz="6100" spc="-35">
                <a:solidFill>
                  <a:srgbClr val="033860"/>
                </a:solidFill>
                <a:latin typeface="Cambria"/>
                <a:cs typeface="Cambria"/>
              </a:rPr>
              <a:t> </a:t>
            </a:r>
            <a:r>
              <a:rPr dirty="0" sz="6100" spc="-35">
                <a:solidFill>
                  <a:srgbClr val="073860"/>
                </a:solidFill>
                <a:latin typeface="Cambria"/>
                <a:cs typeface="Cambria"/>
              </a:rPr>
              <a:t>The</a:t>
            </a:r>
            <a:r>
              <a:rPr dirty="0" sz="6100" spc="-300">
                <a:solidFill>
                  <a:srgbClr val="073860"/>
                </a:solidFill>
                <a:latin typeface="Cambria"/>
                <a:cs typeface="Cambria"/>
              </a:rPr>
              <a:t> </a:t>
            </a:r>
            <a:r>
              <a:rPr dirty="0" sz="6100" spc="-85">
                <a:solidFill>
                  <a:srgbClr val="032F52"/>
                </a:solidFill>
                <a:latin typeface="Cambria"/>
                <a:cs typeface="Cambria"/>
              </a:rPr>
              <a:t>Excel</a:t>
            </a:r>
            <a:r>
              <a:rPr dirty="0" sz="6100" spc="-250">
                <a:solidFill>
                  <a:srgbClr val="032F52"/>
                </a:solidFill>
                <a:latin typeface="Cambria"/>
                <a:cs typeface="Cambria"/>
              </a:rPr>
              <a:t> </a:t>
            </a:r>
            <a:r>
              <a:rPr dirty="0" sz="6100" spc="-130">
                <a:solidFill>
                  <a:srgbClr val="053356"/>
                </a:solidFill>
                <a:latin typeface="Cambria"/>
                <a:cs typeface="Cambria"/>
              </a:rPr>
              <a:t>Dashboard</a:t>
            </a:r>
            <a:endParaRPr sz="61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133842" y="1883127"/>
            <a:ext cx="1847214" cy="11449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7620">
              <a:lnSpc>
                <a:spcPts val="2595"/>
              </a:lnSpc>
              <a:spcBef>
                <a:spcPts val="120"/>
              </a:spcBef>
            </a:pPr>
            <a:r>
              <a:rPr dirty="0" sz="2200" spc="-55">
                <a:solidFill>
                  <a:srgbClr val="1A1A1A"/>
                </a:solidFill>
                <a:latin typeface="Calibri"/>
                <a:cs typeface="Calibri"/>
              </a:rPr>
              <a:t>Total</a:t>
            </a:r>
            <a:r>
              <a:rPr dirty="0" sz="2200" spc="-1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1A1A1A"/>
                </a:solidFill>
                <a:latin typeface="Calibri"/>
                <a:cs typeface="Calibri"/>
              </a:rPr>
              <a:t>Safes: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6195"/>
              </a:lnSpc>
            </a:pPr>
            <a:r>
              <a:rPr dirty="0" sz="5200" spc="-70">
                <a:solidFill>
                  <a:srgbClr val="1D1D1D"/>
                </a:solidFill>
                <a:latin typeface="Calibri"/>
                <a:cs typeface="Calibri"/>
              </a:rPr>
              <a:t>Z450M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859308" y="1883127"/>
            <a:ext cx="32384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2200" spc="-720">
                <a:solidFill>
                  <a:srgbClr val="DDDDDD"/>
                </a:solidFill>
                <a:latin typeface="Calibri"/>
                <a:cs typeface="Calibri"/>
              </a:rPr>
              <a:t>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620990" y="3277305"/>
            <a:ext cx="274129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110">
                <a:latin typeface="Calibri"/>
                <a:cs typeface="Calibri"/>
              </a:rPr>
              <a:t>Top</a:t>
            </a:r>
            <a:r>
              <a:rPr dirty="0" sz="1950" spc="-114">
                <a:latin typeface="Calibri"/>
                <a:cs typeface="Calibri"/>
              </a:rPr>
              <a:t> </a:t>
            </a:r>
            <a:r>
              <a:rPr dirty="0" sz="1950" spc="-120">
                <a:latin typeface="Calibri"/>
                <a:cs typeface="Calibri"/>
              </a:rPr>
              <a:t>10</a:t>
            </a:r>
            <a:r>
              <a:rPr dirty="0" sz="1950" spc="-105">
                <a:latin typeface="Calibri"/>
                <a:cs typeface="Calibri"/>
              </a:rPr>
              <a:t> </a:t>
            </a:r>
            <a:r>
              <a:rPr dirty="0" sz="1950" spc="-80">
                <a:latin typeface="Calibri"/>
                <a:cs typeface="Calibri"/>
              </a:rPr>
              <a:t>Restaurants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 spc="-50">
                <a:latin typeface="Calibri"/>
                <a:cs typeface="Calibri"/>
              </a:rPr>
              <a:t>by</a:t>
            </a:r>
            <a:r>
              <a:rPr dirty="0" sz="1950" spc="-130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Orders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027245" y="1883127"/>
            <a:ext cx="1419860" cy="1136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2620"/>
              </a:lnSpc>
              <a:spcBef>
                <a:spcPts val="120"/>
              </a:spcBef>
            </a:pPr>
            <a:r>
              <a:rPr dirty="0" sz="2200" spc="-10">
                <a:solidFill>
                  <a:srgbClr val="181818"/>
                </a:solidFill>
                <a:latin typeface="Consolas"/>
                <a:cs typeface="Consolas"/>
              </a:rPr>
              <a:t>ToaloMem:</a:t>
            </a:r>
            <a:endParaRPr sz="2200">
              <a:latin typeface="Consolas"/>
              <a:cs typeface="Consolas"/>
            </a:endParaRPr>
          </a:p>
          <a:p>
            <a:pPr marL="19685">
              <a:lnSpc>
                <a:spcPts val="6100"/>
              </a:lnSpc>
            </a:pPr>
            <a:r>
              <a:rPr dirty="0" sz="5100" spc="-20">
                <a:solidFill>
                  <a:srgbClr val="1C1C1C"/>
                </a:solidFill>
                <a:latin typeface="Calibri"/>
                <a:cs typeface="Calibri"/>
              </a:rPr>
              <a:t>1.2M</a:t>
            </a:r>
            <a:endParaRPr sz="51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421858" y="5939013"/>
            <a:ext cx="311594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>
                <a:latin typeface="Calibri"/>
                <a:cs typeface="Calibri"/>
              </a:rPr>
              <a:t>Category-wise</a:t>
            </a:r>
            <a:r>
              <a:rPr dirty="0" sz="1700" spc="445">
                <a:latin typeface="Calibri"/>
                <a:cs typeface="Calibri"/>
              </a:rPr>
              <a:t> </a:t>
            </a:r>
            <a:r>
              <a:rPr dirty="0" sz="1700" spc="70">
                <a:latin typeface="Calibri"/>
                <a:cs typeface="Calibri"/>
              </a:rPr>
              <a:t>Sales</a:t>
            </a:r>
            <a:r>
              <a:rPr dirty="0" sz="1700" spc="10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Contribution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892795" y="5939013"/>
            <a:ext cx="243204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25">
                <a:solidFill>
                  <a:srgbClr val="5E5E5E"/>
                </a:solidFill>
                <a:latin typeface="Calibri"/>
                <a:cs typeface="Calibri"/>
              </a:rPr>
              <a:t>aa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957513" y="5939013"/>
            <a:ext cx="6794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445">
                <a:solidFill>
                  <a:srgbClr val="DBDBDB"/>
                </a:solidFill>
                <a:latin typeface="Calibri"/>
                <a:cs typeface="Calibri"/>
              </a:rPr>
              <a:t>”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521892" y="1883127"/>
            <a:ext cx="2828290" cy="17176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902969">
              <a:lnSpc>
                <a:spcPts val="2495"/>
              </a:lnSpc>
              <a:spcBef>
                <a:spcPts val="120"/>
              </a:spcBef>
            </a:pPr>
            <a:r>
              <a:rPr dirty="0" sz="2200" spc="-55">
                <a:solidFill>
                  <a:srgbClr val="262626"/>
                </a:solidFill>
                <a:latin typeface="Calibri"/>
                <a:cs typeface="Calibri"/>
              </a:rPr>
              <a:t>Active</a:t>
            </a:r>
            <a:r>
              <a:rPr dirty="0" sz="2200" spc="-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2200" spc="-75">
                <a:solidFill>
                  <a:srgbClr val="161616"/>
                </a:solidFill>
                <a:latin typeface="Calibri"/>
                <a:cs typeface="Calibri"/>
              </a:rPr>
              <a:t>Customers:</a:t>
            </a:r>
            <a:endParaRPr sz="2200">
              <a:latin typeface="Calibri"/>
              <a:cs typeface="Calibri"/>
            </a:endParaRPr>
          </a:p>
          <a:p>
            <a:pPr algn="ctr" marL="939165">
              <a:lnSpc>
                <a:spcPts val="6395"/>
              </a:lnSpc>
            </a:pPr>
            <a:r>
              <a:rPr dirty="0" sz="5450" spc="-25">
                <a:solidFill>
                  <a:srgbClr val="1F1F1F"/>
                </a:solidFill>
                <a:latin typeface="Calibri"/>
                <a:cs typeface="Calibri"/>
              </a:rPr>
              <a:t>85K</a:t>
            </a:r>
            <a:endParaRPr sz="5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dirty="0" sz="2000" spc="-140">
                <a:latin typeface="Calibri"/>
                <a:cs typeface="Calibri"/>
              </a:rPr>
              <a:t>monthly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65">
                <a:latin typeface="Calibri"/>
                <a:cs typeface="Calibri"/>
              </a:rPr>
              <a:t>Sales</a:t>
            </a:r>
            <a:r>
              <a:rPr dirty="0" sz="2000" spc="-10">
                <a:latin typeface="Calibri"/>
                <a:cs typeface="Calibri"/>
              </a:rPr>
              <a:t> Trend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359476" y="5521677"/>
            <a:ext cx="170815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25">
                <a:solidFill>
                  <a:srgbClr val="414141"/>
                </a:solidFill>
                <a:latin typeface="Calibri"/>
                <a:cs typeface="Calibri"/>
              </a:rPr>
              <a:t>Jan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755930" y="5521677"/>
            <a:ext cx="61849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05765" algn="l"/>
              </a:tabLst>
            </a:pPr>
            <a:r>
              <a:rPr dirty="0" sz="950" spc="-25">
                <a:solidFill>
                  <a:srgbClr val="595959"/>
                </a:solidFill>
                <a:latin typeface="Calibri"/>
                <a:cs typeface="Calibri"/>
              </a:rPr>
              <a:t>Feb</a:t>
            </a:r>
            <a:r>
              <a:rPr dirty="0" sz="95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dirty="0" sz="950" spc="-25">
                <a:solidFill>
                  <a:srgbClr val="242424"/>
                </a:solidFill>
                <a:latin typeface="Calibri"/>
                <a:cs typeface="Calibri"/>
              </a:rPr>
              <a:t>Mer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937030" y="5521677"/>
            <a:ext cx="550545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9259" algn="l"/>
              </a:tabLst>
            </a:pPr>
            <a:r>
              <a:rPr dirty="0" sz="950" spc="-25">
                <a:solidFill>
                  <a:srgbClr val="3F3F3F"/>
                </a:solidFill>
                <a:latin typeface="Calibri"/>
                <a:cs typeface="Calibri"/>
              </a:rPr>
              <a:t>Mgy</a:t>
            </a:r>
            <a:r>
              <a:rPr dirty="0" sz="950">
                <a:solidFill>
                  <a:srgbClr val="3F3F3F"/>
                </a:solidFill>
                <a:latin typeface="Calibri"/>
                <a:cs typeface="Calibri"/>
              </a:rPr>
              <a:t>	</a:t>
            </a:r>
            <a:r>
              <a:rPr dirty="0" sz="950" spc="-25">
                <a:solidFill>
                  <a:srgbClr val="3D3D3D"/>
                </a:solidFill>
                <a:latin typeface="Calibri"/>
                <a:cs typeface="Calibri"/>
              </a:rPr>
              <a:t>/n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759776" y="5521677"/>
            <a:ext cx="153035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25">
                <a:solidFill>
                  <a:srgbClr val="3D3D3D"/>
                </a:solidFill>
                <a:latin typeface="Calibri"/>
                <a:cs typeface="Calibri"/>
              </a:rPr>
              <a:t>Jul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530618" y="5521677"/>
            <a:ext cx="1031875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7195" algn="l"/>
                <a:tab pos="806450" algn="l"/>
              </a:tabLst>
            </a:pPr>
            <a:r>
              <a:rPr dirty="0" sz="950" spc="-25">
                <a:solidFill>
                  <a:srgbClr val="2F2F2F"/>
                </a:solidFill>
                <a:latin typeface="Calibri"/>
                <a:cs typeface="Calibri"/>
              </a:rPr>
              <a:t>Sep</a:t>
            </a:r>
            <a:r>
              <a:rPr dirty="0" sz="950">
                <a:solidFill>
                  <a:srgbClr val="2F2F2F"/>
                </a:solidFill>
                <a:latin typeface="Calibri"/>
                <a:cs typeface="Calibri"/>
              </a:rPr>
              <a:t>	</a:t>
            </a:r>
            <a:r>
              <a:rPr dirty="0" sz="950" spc="-25">
                <a:solidFill>
                  <a:srgbClr val="262626"/>
                </a:solidFill>
                <a:latin typeface="Calibri"/>
                <a:cs typeface="Calibri"/>
              </a:rPr>
              <a:t>Out</a:t>
            </a:r>
            <a:r>
              <a:rPr dirty="0" sz="950">
                <a:solidFill>
                  <a:srgbClr val="262626"/>
                </a:solidFill>
                <a:latin typeface="Calibri"/>
                <a:cs typeface="Calibri"/>
              </a:rPr>
              <a:t>	</a:t>
            </a:r>
            <a:r>
              <a:rPr dirty="0" sz="950" spc="-25">
                <a:solidFill>
                  <a:srgbClr val="1C1C1C"/>
                </a:solidFill>
                <a:latin typeface="Calibri"/>
                <a:cs typeface="Calibri"/>
              </a:rPr>
              <a:t>Nov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844016" y="8640233"/>
            <a:ext cx="9798050" cy="103060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475105" marR="5080" indent="-1463040">
              <a:lnSpc>
                <a:spcPct val="73300"/>
              </a:lnSpc>
              <a:spcBef>
                <a:spcPts val="1045"/>
              </a:spcBef>
            </a:pPr>
            <a:r>
              <a:rPr dirty="0" sz="2900" spc="-180" i="1">
                <a:latin typeface="Calibri"/>
                <a:cs typeface="Calibri"/>
              </a:rPr>
              <a:t>The</a:t>
            </a:r>
            <a:r>
              <a:rPr dirty="0" sz="2900" spc="-190" i="1">
                <a:latin typeface="Calibri"/>
                <a:cs typeface="Calibri"/>
              </a:rPr>
              <a:t> </a:t>
            </a:r>
            <a:r>
              <a:rPr dirty="0" sz="2900" spc="-95" i="1">
                <a:latin typeface="Calibri"/>
                <a:cs typeface="Calibri"/>
              </a:rPr>
              <a:t>linal</a:t>
            </a:r>
            <a:r>
              <a:rPr dirty="0" sz="2900" spc="-114" i="1">
                <a:latin typeface="Calibri"/>
                <a:cs typeface="Calibri"/>
              </a:rPr>
              <a:t> </a:t>
            </a:r>
            <a:r>
              <a:rPr dirty="0" sz="2900" spc="-185" i="1">
                <a:latin typeface="Calibri"/>
                <a:cs typeface="Calibri"/>
              </a:rPr>
              <a:t>dashboard</a:t>
            </a:r>
            <a:r>
              <a:rPr dirty="0" sz="2900" spc="120" i="1">
                <a:latin typeface="Calibri"/>
                <a:cs typeface="Calibri"/>
              </a:rPr>
              <a:t> </a:t>
            </a:r>
            <a:r>
              <a:rPr dirty="0" sz="2900" spc="-175" i="1">
                <a:latin typeface="Calibri"/>
                <a:cs typeface="Calibri"/>
              </a:rPr>
              <a:t>provides</a:t>
            </a:r>
            <a:r>
              <a:rPr dirty="0" sz="2900" spc="-45" i="1">
                <a:latin typeface="Calibri"/>
                <a:cs typeface="Calibri"/>
              </a:rPr>
              <a:t> </a:t>
            </a:r>
            <a:r>
              <a:rPr dirty="0" sz="2900" spc="-170" i="1">
                <a:latin typeface="Calibri"/>
                <a:cs typeface="Calibri"/>
              </a:rPr>
              <a:t>at-</a:t>
            </a:r>
            <a:r>
              <a:rPr dirty="0" sz="2900" spc="-180" i="1">
                <a:latin typeface="Calibri"/>
                <a:cs typeface="Calibri"/>
              </a:rPr>
              <a:t>a-</a:t>
            </a:r>
            <a:r>
              <a:rPr dirty="0" sz="2900" spc="-185" i="1">
                <a:latin typeface="Calibri"/>
                <a:cs typeface="Calibri"/>
              </a:rPr>
              <a:t>glance</a:t>
            </a:r>
            <a:r>
              <a:rPr dirty="0" sz="2900" spc="70" i="1">
                <a:latin typeface="Calibri"/>
                <a:cs typeface="Calibri"/>
              </a:rPr>
              <a:t> </a:t>
            </a:r>
            <a:r>
              <a:rPr dirty="0" sz="2900" spc="-135" i="1">
                <a:latin typeface="Calibri"/>
                <a:cs typeface="Calibri"/>
              </a:rPr>
              <a:t>insights,</a:t>
            </a:r>
            <a:r>
              <a:rPr dirty="0" sz="2900" spc="-80" i="1">
                <a:latin typeface="Calibri"/>
                <a:cs typeface="Calibri"/>
              </a:rPr>
              <a:t> </a:t>
            </a:r>
            <a:r>
              <a:rPr dirty="0" sz="2900" spc="-175" i="1">
                <a:latin typeface="Calibri"/>
                <a:cs typeface="Calibri"/>
              </a:rPr>
              <a:t>allowing</a:t>
            </a:r>
            <a:r>
              <a:rPr dirty="0" sz="2900" i="1">
                <a:latin typeface="Calibri"/>
                <a:cs typeface="Calibri"/>
              </a:rPr>
              <a:t> </a:t>
            </a:r>
            <a:r>
              <a:rPr dirty="0" sz="2900" spc="-180" i="1">
                <a:latin typeface="Calibri"/>
                <a:cs typeface="Calibri"/>
              </a:rPr>
              <a:t>stakeholders</a:t>
            </a:r>
            <a:r>
              <a:rPr dirty="0" sz="2900" spc="114" i="1">
                <a:latin typeface="Calibri"/>
                <a:cs typeface="Calibri"/>
              </a:rPr>
              <a:t> </a:t>
            </a:r>
            <a:r>
              <a:rPr dirty="0" sz="2900" spc="-25" i="1">
                <a:latin typeface="Calibri"/>
                <a:cs typeface="Calibri"/>
              </a:rPr>
              <a:t>to </a:t>
            </a:r>
            <a:r>
              <a:rPr dirty="0" sz="2900" spc="-130" i="1">
                <a:latin typeface="Calibri"/>
                <a:cs typeface="Calibri"/>
              </a:rPr>
              <a:t>quickly</a:t>
            </a:r>
            <a:r>
              <a:rPr dirty="0" sz="2900" spc="-145" i="1">
                <a:latin typeface="Calibri"/>
                <a:cs typeface="Calibri"/>
              </a:rPr>
              <a:t> </a:t>
            </a:r>
            <a:r>
              <a:rPr dirty="0" sz="2900" spc="-190" i="1">
                <a:latin typeface="Calibri"/>
                <a:cs typeface="Calibri"/>
              </a:rPr>
              <a:t>understand</a:t>
            </a:r>
            <a:r>
              <a:rPr dirty="0" sz="2900" spc="130" i="1">
                <a:latin typeface="Calibri"/>
                <a:cs typeface="Calibri"/>
              </a:rPr>
              <a:t> </a:t>
            </a:r>
            <a:r>
              <a:rPr dirty="0" sz="2900" spc="-210" i="1">
                <a:latin typeface="Calibri"/>
                <a:cs typeface="Calibri"/>
              </a:rPr>
              <a:t>performance</a:t>
            </a:r>
            <a:r>
              <a:rPr dirty="0" sz="2900" spc="145" i="1">
                <a:latin typeface="Calibri"/>
                <a:cs typeface="Calibri"/>
              </a:rPr>
              <a:t> </a:t>
            </a:r>
            <a:r>
              <a:rPr dirty="0" sz="2900" spc="-145" i="1">
                <a:latin typeface="Calibri"/>
                <a:cs typeface="Calibri"/>
              </a:rPr>
              <a:t>and</a:t>
            </a:r>
            <a:r>
              <a:rPr dirty="0" sz="2900" spc="-210" i="1">
                <a:latin typeface="Calibri"/>
                <a:cs typeface="Calibri"/>
              </a:rPr>
              <a:t> </a:t>
            </a:r>
            <a:r>
              <a:rPr dirty="0" sz="2900" spc="-165" i="1">
                <a:latin typeface="Calibri"/>
                <a:cs typeface="Calibri"/>
              </a:rPr>
              <a:t>identify</a:t>
            </a:r>
            <a:r>
              <a:rPr dirty="0" sz="2900" spc="-60" i="1">
                <a:latin typeface="Calibri"/>
                <a:cs typeface="Calibri"/>
              </a:rPr>
              <a:t> </a:t>
            </a:r>
            <a:r>
              <a:rPr dirty="0" sz="2900" spc="-10" i="1">
                <a:latin typeface="Calibri"/>
                <a:cs typeface="Calibri"/>
              </a:rPr>
              <a:t>trends.</a:t>
            </a:r>
            <a:endParaRPr sz="2900">
              <a:latin typeface="Calibri"/>
              <a:cs typeface="Calibri"/>
            </a:endParaRPr>
          </a:p>
          <a:p>
            <a:pPr marL="6084570">
              <a:lnSpc>
                <a:spcPct val="100000"/>
              </a:lnSpc>
              <a:spcBef>
                <a:spcPts val="720"/>
              </a:spcBef>
              <a:tabLst>
                <a:tab pos="6781165" algn="l"/>
                <a:tab pos="7327265" algn="l"/>
                <a:tab pos="7568565" algn="l"/>
                <a:tab pos="8089265" algn="l"/>
                <a:tab pos="8533765" algn="l"/>
              </a:tabLst>
            </a:pPr>
            <a:r>
              <a:rPr dirty="0" sz="950" spc="-25">
                <a:solidFill>
                  <a:srgbClr val="DFDFDF"/>
                </a:solidFill>
                <a:latin typeface="Calibri"/>
                <a:cs typeface="Calibri"/>
              </a:rPr>
              <a:t>””</a:t>
            </a:r>
            <a:r>
              <a:rPr dirty="0" sz="950">
                <a:solidFill>
                  <a:srgbClr val="DFDFDF"/>
                </a:solidFill>
                <a:latin typeface="Calibri"/>
                <a:cs typeface="Calibri"/>
              </a:rPr>
              <a:t>	”</a:t>
            </a:r>
            <a:r>
              <a:rPr dirty="0" sz="950" spc="85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DFDFDF"/>
                </a:solidFill>
                <a:latin typeface="Calibri"/>
                <a:cs typeface="Calibri"/>
              </a:rPr>
              <a:t>”*</a:t>
            </a:r>
            <a:r>
              <a:rPr dirty="0" sz="950">
                <a:solidFill>
                  <a:srgbClr val="DFDFDF"/>
                </a:solidFill>
                <a:latin typeface="Calibri"/>
                <a:cs typeface="Calibri"/>
              </a:rPr>
              <a:t>	</a:t>
            </a:r>
            <a:r>
              <a:rPr dirty="0" sz="950" spc="-50">
                <a:solidFill>
                  <a:srgbClr val="DDDDDD"/>
                </a:solidFill>
                <a:latin typeface="Calibri"/>
                <a:cs typeface="Calibri"/>
              </a:rPr>
              <a:t>”</a:t>
            </a:r>
            <a:r>
              <a:rPr dirty="0" sz="950">
                <a:solidFill>
                  <a:srgbClr val="DDDDDD"/>
                </a:solidFill>
                <a:latin typeface="Calibri"/>
                <a:cs typeface="Calibri"/>
              </a:rPr>
              <a:t>	</a:t>
            </a:r>
            <a:r>
              <a:rPr dirty="0" sz="950" spc="-50">
                <a:solidFill>
                  <a:srgbClr val="DFDFDF"/>
                </a:solidFill>
                <a:latin typeface="Calibri"/>
                <a:cs typeface="Calibri"/>
              </a:rPr>
              <a:t>”</a:t>
            </a:r>
            <a:r>
              <a:rPr dirty="0" sz="950">
                <a:solidFill>
                  <a:srgbClr val="DFDFDF"/>
                </a:solidFill>
                <a:latin typeface="Calibri"/>
                <a:cs typeface="Calibri"/>
              </a:rPr>
              <a:t>	</a:t>
            </a:r>
            <a:r>
              <a:rPr dirty="0" sz="950" spc="-50">
                <a:solidFill>
                  <a:srgbClr val="DDDDDD"/>
                </a:solidFill>
                <a:latin typeface="Calibri"/>
                <a:cs typeface="Calibri"/>
              </a:rPr>
              <a:t>”</a:t>
            </a:r>
            <a:r>
              <a:rPr dirty="0" sz="950">
                <a:solidFill>
                  <a:srgbClr val="DDDDDD"/>
                </a:solidFill>
                <a:latin typeface="Calibri"/>
                <a:cs typeface="Calibri"/>
              </a:rPr>
              <a:t>	</a:t>
            </a:r>
            <a:r>
              <a:rPr dirty="0" sz="950" spc="-50">
                <a:solidFill>
                  <a:srgbClr val="DFDFDF"/>
                </a:solidFill>
                <a:latin typeface="Calibri"/>
                <a:cs typeface="Calibri"/>
              </a:rPr>
              <a:t>”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3927721" y="9496777"/>
            <a:ext cx="67310" cy="173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50" spc="-50">
                <a:solidFill>
                  <a:srgbClr val="DFDFDF"/>
                </a:solidFill>
                <a:latin typeface="Calibri"/>
                <a:cs typeface="Calibri"/>
              </a:rPr>
              <a:t>”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100" y="7924800"/>
            <a:ext cx="647700" cy="584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4900" y="7251700"/>
            <a:ext cx="546100" cy="571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" y="5219700"/>
            <a:ext cx="774700" cy="889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9500" y="3937000"/>
            <a:ext cx="584200" cy="8001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4100" y="2794000"/>
            <a:ext cx="635000" cy="6985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05800" y="3594100"/>
            <a:ext cx="8191500" cy="48260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20300" y="2997200"/>
            <a:ext cx="2222500" cy="3302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73986" y="430388"/>
            <a:ext cx="15258415" cy="1147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350" spc="-240">
                <a:solidFill>
                  <a:srgbClr val="242424"/>
                </a:solidFill>
                <a:latin typeface="Calibri"/>
                <a:cs typeface="Calibri"/>
              </a:rPr>
              <a:t>Delivering</a:t>
            </a:r>
            <a:r>
              <a:rPr dirty="0" sz="7350" spc="-5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7350" spc="-295">
                <a:solidFill>
                  <a:srgbClr val="262626"/>
                </a:solidFill>
                <a:latin typeface="Calibri"/>
                <a:cs typeface="Calibri"/>
              </a:rPr>
              <a:t>Actionable</a:t>
            </a:r>
            <a:r>
              <a:rPr dirty="0" sz="7350" spc="-15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7350" spc="-155">
                <a:solidFill>
                  <a:srgbClr val="242424"/>
                </a:solidFill>
                <a:latin typeface="Calibri"/>
                <a:cs typeface="Calibri"/>
              </a:rPr>
              <a:t>Insights</a:t>
            </a:r>
            <a:r>
              <a:rPr dirty="0" sz="7350" spc="-27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7350" spc="-29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dirty="0" sz="7350" spc="-6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7350" spc="-280">
                <a:solidFill>
                  <a:srgbClr val="262626"/>
                </a:solidFill>
                <a:latin typeface="Calibri"/>
                <a:cs typeface="Calibri"/>
              </a:rPr>
              <a:t>Leadership</a:t>
            </a:r>
            <a:endParaRPr sz="73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974345" y="1761471"/>
            <a:ext cx="6294120" cy="7308850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3800" spc="-65">
                <a:solidFill>
                  <a:srgbClr val="0E3656"/>
                </a:solidFill>
                <a:latin typeface="Calibri"/>
                <a:cs typeface="Calibri"/>
              </a:rPr>
              <a:t>The</a:t>
            </a:r>
            <a:r>
              <a:rPr dirty="0" sz="3800" spc="-125">
                <a:solidFill>
                  <a:srgbClr val="0E3656"/>
                </a:solidFill>
                <a:latin typeface="Calibri"/>
                <a:cs typeface="Calibri"/>
              </a:rPr>
              <a:t> </a:t>
            </a:r>
            <a:r>
              <a:rPr dirty="0" sz="3800" spc="65">
                <a:solidFill>
                  <a:srgbClr val="0C314F"/>
                </a:solidFill>
                <a:latin typeface="Calibri"/>
                <a:cs typeface="Calibri"/>
              </a:rPr>
              <a:t>Final</a:t>
            </a:r>
            <a:r>
              <a:rPr dirty="0" sz="3800" spc="-355">
                <a:solidFill>
                  <a:srgbClr val="0C314F"/>
                </a:solidFill>
                <a:latin typeface="Calibri"/>
                <a:cs typeface="Calibri"/>
              </a:rPr>
              <a:t> </a:t>
            </a:r>
            <a:r>
              <a:rPr dirty="0" sz="3800" spc="-10">
                <a:solidFill>
                  <a:srgbClr val="0F3656"/>
                </a:solidFill>
                <a:latin typeface="Calibri"/>
                <a:cs typeface="Calibri"/>
              </a:rPr>
              <a:t>Package:</a:t>
            </a:r>
            <a:endParaRPr sz="3800">
              <a:latin typeface="Calibri"/>
              <a:cs typeface="Calibri"/>
            </a:endParaRPr>
          </a:p>
          <a:p>
            <a:pPr marL="988060" marR="381000" indent="3175">
              <a:lnSpc>
                <a:spcPts val="3200"/>
              </a:lnSpc>
              <a:spcBef>
                <a:spcPts val="1380"/>
              </a:spcBef>
            </a:pPr>
            <a:r>
              <a:rPr dirty="0" sz="2850" spc="-10">
                <a:latin typeface="Calibri"/>
                <a:cs typeface="Calibri"/>
              </a:rPr>
              <a:t>The</a:t>
            </a:r>
            <a:r>
              <a:rPr dirty="0" sz="2850" spc="-15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Excel</a:t>
            </a:r>
            <a:r>
              <a:rPr dirty="0" sz="2850" spc="-215">
                <a:latin typeface="Calibri"/>
                <a:cs typeface="Calibri"/>
              </a:rPr>
              <a:t> </a:t>
            </a:r>
            <a:r>
              <a:rPr dirty="0" sz="2850" spc="-20">
                <a:latin typeface="Calibri"/>
                <a:cs typeface="Calibri"/>
              </a:rPr>
              <a:t>Dashboard:</a:t>
            </a:r>
            <a:r>
              <a:rPr dirty="0" sz="2850" spc="145">
                <a:latin typeface="Calibri"/>
                <a:cs typeface="Calibri"/>
              </a:rPr>
              <a:t> </a:t>
            </a:r>
            <a:r>
              <a:rPr dirty="0" sz="2850" spc="-45">
                <a:latin typeface="Calibri"/>
                <a:cs typeface="Calibri"/>
              </a:rPr>
              <a:t>The</a:t>
            </a:r>
            <a:r>
              <a:rPr dirty="0" sz="2850" spc="-120">
                <a:latin typeface="Calibri"/>
                <a:cs typeface="Calibri"/>
              </a:rPr>
              <a:t> </a:t>
            </a:r>
            <a:r>
              <a:rPr dirty="0" sz="2850" spc="-25">
                <a:latin typeface="Calibri"/>
                <a:cs typeface="Calibri"/>
              </a:rPr>
              <a:t>primary </a:t>
            </a:r>
            <a:r>
              <a:rPr dirty="0" sz="2850">
                <a:latin typeface="Calibri"/>
                <a:cs typeface="Calibri"/>
              </a:rPr>
              <a:t>visual</a:t>
            </a:r>
            <a:r>
              <a:rPr dirty="0" sz="2850" spc="-120">
                <a:latin typeface="Calibri"/>
                <a:cs typeface="Calibri"/>
              </a:rPr>
              <a:t> </a:t>
            </a:r>
            <a:r>
              <a:rPr dirty="0" sz="2850" spc="-45">
                <a:latin typeface="Calibri"/>
                <a:cs typeface="Calibri"/>
              </a:rPr>
              <a:t>tool</a:t>
            </a:r>
            <a:r>
              <a:rPr dirty="0" sz="2850" spc="-120">
                <a:latin typeface="Calibri"/>
                <a:cs typeface="Calibri"/>
              </a:rPr>
              <a:t> </a:t>
            </a:r>
            <a:r>
              <a:rPr dirty="0" sz="2850" spc="-75">
                <a:latin typeface="Calibri"/>
                <a:cs typeface="Calibri"/>
              </a:rPr>
              <a:t>for</a:t>
            </a:r>
            <a:r>
              <a:rPr dirty="0" sz="2850" spc="-55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exploration.</a:t>
            </a:r>
            <a:endParaRPr sz="2850">
              <a:latin typeface="Calibri"/>
              <a:cs typeface="Calibri"/>
            </a:endParaRPr>
          </a:p>
          <a:p>
            <a:pPr marL="977900" marR="5080" indent="1905">
              <a:lnSpc>
                <a:spcPts val="3200"/>
              </a:lnSpc>
              <a:spcBef>
                <a:spcPts val="1600"/>
              </a:spcBef>
            </a:pPr>
            <a:r>
              <a:rPr dirty="0" sz="2950" spc="-35">
                <a:latin typeface="Calibri"/>
                <a:cs typeface="Calibri"/>
              </a:rPr>
              <a:t>Summary</a:t>
            </a:r>
            <a:r>
              <a:rPr dirty="0" sz="2950" spc="-40">
                <a:latin typeface="Calibri"/>
                <a:cs typeface="Calibri"/>
              </a:rPr>
              <a:t> </a:t>
            </a:r>
            <a:r>
              <a:rPr dirty="0" sz="2950" spc="-25">
                <a:latin typeface="Calibri"/>
                <a:cs typeface="Calibri"/>
              </a:rPr>
              <a:t>Insights:</a:t>
            </a:r>
            <a:r>
              <a:rPr dirty="0" sz="2950" spc="-100">
                <a:latin typeface="Calibri"/>
                <a:cs typeface="Calibri"/>
              </a:rPr>
              <a:t> </a:t>
            </a:r>
            <a:r>
              <a:rPr dirty="0" sz="2950" spc="-180">
                <a:latin typeface="Calibri"/>
                <a:cs typeface="Calibri"/>
              </a:rPr>
              <a:t>A</a:t>
            </a:r>
            <a:r>
              <a:rPr dirty="0" sz="2950" spc="-204">
                <a:latin typeface="Calibri"/>
                <a:cs typeface="Calibri"/>
              </a:rPr>
              <a:t> </a:t>
            </a:r>
            <a:r>
              <a:rPr dirty="0" sz="2950" spc="-80">
                <a:latin typeface="Calibri"/>
                <a:cs typeface="Calibri"/>
              </a:rPr>
              <a:t>concise</a:t>
            </a:r>
            <a:r>
              <a:rPr dirty="0" sz="2950" spc="-60">
                <a:latin typeface="Calibri"/>
                <a:cs typeface="Calibri"/>
              </a:rPr>
              <a:t> </a:t>
            </a:r>
            <a:r>
              <a:rPr dirty="0" sz="2950" spc="-45">
                <a:latin typeface="Calibri"/>
                <a:cs typeface="Calibri"/>
              </a:rPr>
              <a:t>list</a:t>
            </a:r>
            <a:r>
              <a:rPr dirty="0" sz="2950" spc="-125">
                <a:latin typeface="Calibri"/>
                <a:cs typeface="Calibri"/>
              </a:rPr>
              <a:t> </a:t>
            </a:r>
            <a:r>
              <a:rPr dirty="0" sz="2950" spc="-25">
                <a:latin typeface="Calibri"/>
                <a:cs typeface="Calibri"/>
              </a:rPr>
              <a:t>of </a:t>
            </a:r>
            <a:r>
              <a:rPr dirty="0" sz="2950" spc="-100">
                <a:latin typeface="Calibri"/>
                <a:cs typeface="Calibri"/>
              </a:rPr>
              <a:t>key</a:t>
            </a:r>
            <a:r>
              <a:rPr dirty="0" sz="2950" spc="-70">
                <a:latin typeface="Calibri"/>
                <a:cs typeface="Calibri"/>
              </a:rPr>
              <a:t> </a:t>
            </a:r>
            <a:r>
              <a:rPr dirty="0" sz="2950" spc="-60">
                <a:latin typeface="Calibri"/>
                <a:cs typeface="Calibri"/>
              </a:rPr>
              <a:t>findings,</a:t>
            </a:r>
            <a:r>
              <a:rPr dirty="0" sz="2950" spc="-90">
                <a:latin typeface="Calibri"/>
                <a:cs typeface="Calibri"/>
              </a:rPr>
              <a:t> </a:t>
            </a:r>
            <a:r>
              <a:rPr dirty="0" sz="2950" spc="-130">
                <a:latin typeface="Calibri"/>
                <a:cs typeface="Calibri"/>
              </a:rPr>
              <a:t>written</a:t>
            </a:r>
            <a:r>
              <a:rPr dirty="0" sz="2950" spc="-3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in</a:t>
            </a:r>
            <a:r>
              <a:rPr dirty="0" sz="2950" spc="-80">
                <a:latin typeface="Calibri"/>
                <a:cs typeface="Calibri"/>
              </a:rPr>
              <a:t> </a:t>
            </a:r>
            <a:r>
              <a:rPr dirty="0" sz="2950" spc="-90">
                <a:latin typeface="Calibri"/>
                <a:cs typeface="Calibri"/>
              </a:rPr>
              <a:t>clear</a:t>
            </a:r>
            <a:r>
              <a:rPr dirty="0" sz="2950" spc="-85">
                <a:latin typeface="Calibri"/>
                <a:cs typeface="Calibri"/>
              </a:rPr>
              <a:t> </a:t>
            </a:r>
            <a:r>
              <a:rPr dirty="0" sz="2950" spc="-55">
                <a:latin typeface="Calibri"/>
                <a:cs typeface="Calibri"/>
              </a:rPr>
              <a:t>business </a:t>
            </a:r>
            <a:r>
              <a:rPr dirty="0" sz="2950" spc="-75">
                <a:latin typeface="Calibri"/>
                <a:cs typeface="Calibri"/>
              </a:rPr>
              <a:t>language</a:t>
            </a:r>
            <a:r>
              <a:rPr dirty="0" sz="2950" spc="-20">
                <a:latin typeface="Calibri"/>
                <a:cs typeface="Calibri"/>
              </a:rPr>
              <a:t> </a:t>
            </a:r>
            <a:r>
              <a:rPr dirty="0" sz="2950" spc="-85">
                <a:latin typeface="Calibri"/>
                <a:cs typeface="Calibri"/>
              </a:rPr>
              <a:t>(bullet</a:t>
            </a:r>
            <a:r>
              <a:rPr dirty="0" sz="2950" spc="-50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points).</a:t>
            </a:r>
            <a:endParaRPr sz="2950">
              <a:latin typeface="Calibri"/>
              <a:cs typeface="Calibri"/>
            </a:endParaRPr>
          </a:p>
          <a:p>
            <a:pPr marL="974725" marR="105410" indent="6350">
              <a:lnSpc>
                <a:spcPts val="3200"/>
              </a:lnSpc>
              <a:spcBef>
                <a:spcPts val="1600"/>
              </a:spcBef>
            </a:pPr>
            <a:r>
              <a:rPr dirty="0" sz="2900" spc="-20">
                <a:latin typeface="Calibri"/>
                <a:cs typeface="Calibri"/>
              </a:rPr>
              <a:t>Strategic</a:t>
            </a:r>
            <a:r>
              <a:rPr dirty="0" sz="2900" spc="-80">
                <a:latin typeface="Calibri"/>
                <a:cs typeface="Calibri"/>
              </a:rPr>
              <a:t> </a:t>
            </a:r>
            <a:r>
              <a:rPr dirty="0" sz="2900" spc="-10">
                <a:latin typeface="Calibri"/>
                <a:cs typeface="Calibri"/>
              </a:rPr>
              <a:t>Recommendations: </a:t>
            </a:r>
            <a:r>
              <a:rPr dirty="0" sz="2950" spc="-85">
                <a:latin typeface="Calibri"/>
                <a:cs typeface="Calibri"/>
              </a:rPr>
              <a:t>Actionable </a:t>
            </a:r>
            <a:r>
              <a:rPr dirty="0" sz="2950" spc="-70">
                <a:latin typeface="Calibri"/>
                <a:cs typeface="Calibri"/>
              </a:rPr>
              <a:t>suggestions</a:t>
            </a:r>
            <a:r>
              <a:rPr dirty="0" sz="2950" spc="-55">
                <a:latin typeface="Calibri"/>
                <a:cs typeface="Calibri"/>
              </a:rPr>
              <a:t> </a:t>
            </a:r>
            <a:r>
              <a:rPr dirty="0" sz="2950" spc="-95">
                <a:latin typeface="Calibri"/>
                <a:cs typeface="Calibri"/>
              </a:rPr>
              <a:t>based</a:t>
            </a:r>
            <a:r>
              <a:rPr dirty="0" sz="2950" spc="-75">
                <a:latin typeface="Calibri"/>
                <a:cs typeface="Calibri"/>
              </a:rPr>
              <a:t> </a:t>
            </a:r>
            <a:r>
              <a:rPr dirty="0" sz="2950" spc="-70">
                <a:latin typeface="Calibri"/>
                <a:cs typeface="Calibri"/>
              </a:rPr>
              <a:t>on</a:t>
            </a:r>
            <a:r>
              <a:rPr dirty="0" sz="2950" spc="-170">
                <a:latin typeface="Calibri"/>
                <a:cs typeface="Calibri"/>
              </a:rPr>
              <a:t> </a:t>
            </a:r>
            <a:r>
              <a:rPr dirty="0" sz="2950" spc="-50">
                <a:latin typeface="Calibri"/>
                <a:cs typeface="Calibri"/>
              </a:rPr>
              <a:t>the </a:t>
            </a:r>
            <a:r>
              <a:rPr dirty="0" sz="3050" spc="-155">
                <a:latin typeface="Calibri"/>
                <a:cs typeface="Calibri"/>
              </a:rPr>
              <a:t>data-</a:t>
            </a:r>
            <a:r>
              <a:rPr dirty="0" sz="3050" spc="-114">
                <a:latin typeface="Calibri"/>
                <a:cs typeface="Calibri"/>
              </a:rPr>
              <a:t>driven</a:t>
            </a:r>
            <a:r>
              <a:rPr dirty="0" sz="3050" spc="5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insights.</a:t>
            </a:r>
            <a:endParaRPr sz="3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3750" spc="-30">
                <a:solidFill>
                  <a:srgbClr val="0C334F"/>
                </a:solidFill>
                <a:latin typeface="Calibri"/>
                <a:cs typeface="Calibri"/>
              </a:rPr>
              <a:t>The</a:t>
            </a:r>
            <a:r>
              <a:rPr dirty="0" sz="3750" spc="-170">
                <a:solidFill>
                  <a:srgbClr val="0C334F"/>
                </a:solidFill>
                <a:latin typeface="Calibri"/>
                <a:cs typeface="Calibri"/>
              </a:rPr>
              <a:t> </a:t>
            </a:r>
            <a:r>
              <a:rPr dirty="0" sz="3750" spc="-10">
                <a:solidFill>
                  <a:srgbClr val="052F4F"/>
                </a:solidFill>
                <a:latin typeface="Calibri"/>
                <a:cs typeface="Calibri"/>
              </a:rPr>
              <a:t>Audience:</a:t>
            </a:r>
            <a:endParaRPr sz="3750">
              <a:latin typeface="Calibri"/>
              <a:cs typeface="Calibri"/>
            </a:endParaRPr>
          </a:p>
          <a:p>
            <a:pPr marL="976630">
              <a:lnSpc>
                <a:spcPct val="100000"/>
              </a:lnSpc>
              <a:spcBef>
                <a:spcPts val="1700"/>
              </a:spcBef>
            </a:pPr>
            <a:r>
              <a:rPr dirty="0" sz="2850" spc="-25">
                <a:latin typeface="Calibri"/>
                <a:cs typeface="Calibri"/>
              </a:rPr>
              <a:t>CEO</a:t>
            </a:r>
            <a:endParaRPr sz="2850">
              <a:latin typeface="Calibri"/>
              <a:cs typeface="Calibri"/>
            </a:endParaRPr>
          </a:p>
          <a:p>
            <a:pPr marL="981075" marR="3746500" indent="-5715">
              <a:lnSpc>
                <a:spcPts val="5200"/>
              </a:lnSpc>
              <a:spcBef>
                <a:spcPts val="170"/>
              </a:spcBef>
            </a:pPr>
            <a:r>
              <a:rPr dirty="0" sz="2850" spc="-10">
                <a:latin typeface="Calibri"/>
                <a:cs typeface="Calibri"/>
              </a:rPr>
              <a:t>Director </a:t>
            </a:r>
            <a:r>
              <a:rPr dirty="0" sz="2850">
                <a:latin typeface="Calibri"/>
                <a:cs typeface="Calibri"/>
              </a:rPr>
              <a:t>Sales</a:t>
            </a:r>
            <a:r>
              <a:rPr dirty="0" sz="2850" spc="-65">
                <a:latin typeface="Calibri"/>
                <a:cs typeface="Calibri"/>
              </a:rPr>
              <a:t> </a:t>
            </a:r>
            <a:r>
              <a:rPr dirty="0" sz="2850" spc="-70">
                <a:latin typeface="Calibri"/>
                <a:cs typeface="Calibri"/>
              </a:rPr>
              <a:t>Head</a:t>
            </a:r>
            <a:endParaRPr sz="2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00" y="4432300"/>
            <a:ext cx="16078200" cy="5461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550400" y="6955366"/>
            <a:ext cx="360045" cy="55244"/>
            <a:chOff x="9550400" y="6955366"/>
            <a:chExt cx="360045" cy="55244"/>
          </a:xfrm>
        </p:grpSpPr>
        <p:sp>
          <p:nvSpPr>
            <p:cNvPr id="4" name="object 4" descr=""/>
            <p:cNvSpPr/>
            <p:nvPr/>
          </p:nvSpPr>
          <p:spPr>
            <a:xfrm>
              <a:off x="9563100" y="6995583"/>
              <a:ext cx="347345" cy="0"/>
            </a:xfrm>
            <a:custGeom>
              <a:avLst/>
              <a:gdLst/>
              <a:ahLst/>
              <a:cxnLst/>
              <a:rect l="l" t="t" r="r" b="b"/>
              <a:pathLst>
                <a:path w="347345" h="0">
                  <a:moveTo>
                    <a:pt x="0" y="0"/>
                  </a:moveTo>
                  <a:lnTo>
                    <a:pt x="347133" y="0"/>
                  </a:lnTo>
                </a:path>
              </a:pathLst>
            </a:custGeom>
            <a:ln w="29633">
              <a:solidFill>
                <a:srgbClr val="1F1F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550400" y="6970183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 h="0">
                  <a:moveTo>
                    <a:pt x="0" y="0"/>
                  </a:moveTo>
                  <a:lnTo>
                    <a:pt x="359833" y="0"/>
                  </a:lnTo>
                </a:path>
              </a:pathLst>
            </a:custGeom>
            <a:ln w="29633">
              <a:solidFill>
                <a:srgbClr val="1F1F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193800" y="1568450"/>
            <a:ext cx="9423400" cy="0"/>
          </a:xfrm>
          <a:custGeom>
            <a:avLst/>
            <a:gdLst/>
            <a:ahLst/>
            <a:cxnLst/>
            <a:rect l="l" t="t" r="r" b="b"/>
            <a:pathLst>
              <a:path w="9423400" h="0">
                <a:moveTo>
                  <a:pt x="0" y="0"/>
                </a:moveTo>
                <a:lnTo>
                  <a:pt x="9423400" y="0"/>
                </a:lnTo>
              </a:path>
            </a:pathLst>
          </a:custGeom>
          <a:ln w="12700">
            <a:solidFill>
              <a:srgbClr val="8E8E8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05189" y="475191"/>
            <a:ext cx="8806180" cy="10096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450" spc="-10">
                <a:solidFill>
                  <a:srgbClr val="083A5E"/>
                </a:solidFill>
                <a:latin typeface="Calibri"/>
                <a:cs typeface="Calibri"/>
              </a:rPr>
              <a:t>The</a:t>
            </a:r>
            <a:r>
              <a:rPr dirty="0" sz="6450" spc="-360">
                <a:solidFill>
                  <a:srgbClr val="083A5E"/>
                </a:solidFill>
                <a:latin typeface="Calibri"/>
                <a:cs typeface="Calibri"/>
              </a:rPr>
              <a:t> </a:t>
            </a:r>
            <a:r>
              <a:rPr dirty="0" sz="6450" spc="-20">
                <a:solidFill>
                  <a:srgbClr val="05345D"/>
                </a:solidFill>
                <a:latin typeface="Calibri"/>
                <a:cs typeface="Calibri"/>
              </a:rPr>
              <a:t>Analyst's</a:t>
            </a:r>
            <a:r>
              <a:rPr dirty="0" sz="6450" spc="-275">
                <a:solidFill>
                  <a:srgbClr val="05345D"/>
                </a:solidFill>
                <a:latin typeface="Calibri"/>
                <a:cs typeface="Calibri"/>
              </a:rPr>
              <a:t> </a:t>
            </a:r>
            <a:r>
              <a:rPr dirty="0" sz="6450" spc="-80">
                <a:solidFill>
                  <a:srgbClr val="0A3F66"/>
                </a:solidFill>
                <a:latin typeface="Calibri"/>
                <a:cs typeface="Calibri"/>
              </a:rPr>
              <a:t>Contribution:</a:t>
            </a:r>
            <a:endParaRPr sz="64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/>
              <a:t>G</a:t>
            </a:r>
            <a:r>
              <a:rPr dirty="0" spc="100"/>
              <a:t>  </a:t>
            </a:r>
            <a:r>
              <a:rPr dirty="0" spc="-25"/>
              <a:t>NotebookLM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05318" y="1243307"/>
            <a:ext cx="10414635" cy="211328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6300" spc="60">
                <a:solidFill>
                  <a:srgbClr val="0A3D67"/>
                </a:solidFill>
                <a:latin typeface="Calibri"/>
                <a:cs typeface="Calibri"/>
              </a:rPr>
              <a:t>The</a:t>
            </a:r>
            <a:r>
              <a:rPr dirty="0" sz="6300" spc="-90">
                <a:solidFill>
                  <a:srgbClr val="0A3D67"/>
                </a:solidFill>
                <a:latin typeface="Calibri"/>
                <a:cs typeface="Calibri"/>
              </a:rPr>
              <a:t> </a:t>
            </a:r>
            <a:r>
              <a:rPr dirty="0" sz="6300">
                <a:solidFill>
                  <a:srgbClr val="083862"/>
                </a:solidFill>
                <a:latin typeface="Calibri"/>
                <a:cs typeface="Calibri"/>
              </a:rPr>
              <a:t>Complete</a:t>
            </a:r>
            <a:r>
              <a:rPr dirty="0" sz="6300" spc="155">
                <a:solidFill>
                  <a:srgbClr val="083862"/>
                </a:solidFill>
                <a:latin typeface="Calibri"/>
                <a:cs typeface="Calibri"/>
              </a:rPr>
              <a:t> </a:t>
            </a:r>
            <a:r>
              <a:rPr dirty="0" sz="6300">
                <a:solidFill>
                  <a:srgbClr val="053860"/>
                </a:solidFill>
                <a:latin typeface="Calibri"/>
                <a:cs typeface="Calibri"/>
              </a:rPr>
              <a:t>Data</a:t>
            </a:r>
            <a:r>
              <a:rPr dirty="0" sz="6300" spc="-265">
                <a:solidFill>
                  <a:srgbClr val="053860"/>
                </a:solidFill>
                <a:latin typeface="Calibri"/>
                <a:cs typeface="Calibri"/>
              </a:rPr>
              <a:t> </a:t>
            </a:r>
            <a:r>
              <a:rPr dirty="0" sz="6300">
                <a:solidFill>
                  <a:srgbClr val="03345D"/>
                </a:solidFill>
                <a:latin typeface="Calibri"/>
                <a:cs typeface="Calibri"/>
              </a:rPr>
              <a:t>Value</a:t>
            </a:r>
            <a:r>
              <a:rPr dirty="0" sz="6300" spc="-15">
                <a:solidFill>
                  <a:srgbClr val="03345D"/>
                </a:solidFill>
                <a:latin typeface="Calibri"/>
                <a:cs typeface="Calibri"/>
              </a:rPr>
              <a:t> </a:t>
            </a:r>
            <a:r>
              <a:rPr dirty="0" sz="6300" spc="100">
                <a:solidFill>
                  <a:srgbClr val="073F6B"/>
                </a:solidFill>
                <a:latin typeface="Calibri"/>
                <a:cs typeface="Calibri"/>
              </a:rPr>
              <a:t>Chain</a:t>
            </a:r>
            <a:endParaRPr sz="6300">
              <a:latin typeface="Calibri"/>
              <a:cs typeface="Calibri"/>
            </a:endParaRPr>
          </a:p>
          <a:p>
            <a:pPr algn="ctr" marR="15240">
              <a:lnSpc>
                <a:spcPct val="100000"/>
              </a:lnSpc>
              <a:spcBef>
                <a:spcPts val="640"/>
              </a:spcBef>
              <a:tabLst>
                <a:tab pos="2382520" algn="l"/>
                <a:tab pos="7302500" algn="l"/>
              </a:tabLst>
            </a:pPr>
            <a:r>
              <a:rPr dirty="0" sz="6350" spc="55">
                <a:solidFill>
                  <a:srgbClr val="A88957"/>
                </a:solidFill>
                <a:latin typeface="Calibri"/>
                <a:cs typeface="Calibri"/>
              </a:rPr>
              <a:t>„</a:t>
            </a:r>
            <a:r>
              <a:rPr dirty="0" sz="6350">
                <a:solidFill>
                  <a:srgbClr val="A88957"/>
                </a:solidFill>
                <a:latin typeface="Calibri"/>
                <a:cs typeface="Calibri"/>
              </a:rPr>
              <a:t>	</a:t>
            </a:r>
            <a:r>
              <a:rPr dirty="0" sz="6350" spc="-760">
                <a:solidFill>
                  <a:srgbClr val="AA8C59"/>
                </a:solidFill>
                <a:latin typeface="Calibri"/>
                <a:cs typeface="Calibri"/>
              </a:rPr>
              <a:t>..</a:t>
            </a:r>
            <a:r>
              <a:rPr dirty="0" sz="6350">
                <a:solidFill>
                  <a:srgbClr val="AA8C59"/>
                </a:solidFill>
                <a:latin typeface="Calibri"/>
                <a:cs typeface="Calibri"/>
              </a:rPr>
              <a:t>	</a:t>
            </a:r>
            <a:r>
              <a:rPr dirty="0" sz="6350" spc="-750">
                <a:solidFill>
                  <a:srgbClr val="13334F"/>
                </a:solidFill>
                <a:latin typeface="Calibri"/>
                <a:cs typeface="Calibri"/>
              </a:rPr>
              <a:t>,</a:t>
            </a:r>
            <a:endParaRPr sz="63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27909" y="5079294"/>
            <a:ext cx="1207135" cy="89789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 marR="5080" indent="228600">
              <a:lnSpc>
                <a:spcPts val="3200"/>
              </a:lnSpc>
              <a:spcBef>
                <a:spcPts val="595"/>
              </a:spcBef>
            </a:pPr>
            <a:r>
              <a:rPr dirty="0" sz="3050" spc="-20">
                <a:solidFill>
                  <a:srgbClr val="161616"/>
                </a:solidFill>
                <a:latin typeface="Calibri"/>
                <a:cs typeface="Calibri"/>
              </a:rPr>
              <a:t>Data </a:t>
            </a:r>
            <a:r>
              <a:rPr dirty="0" sz="3050" spc="-10">
                <a:solidFill>
                  <a:srgbClr val="161616"/>
                </a:solidFill>
                <a:latin typeface="Calibri"/>
                <a:cs typeface="Calibri"/>
              </a:rPr>
              <a:t>Receipt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42003" y="5070475"/>
            <a:ext cx="1743075" cy="90805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62865" marR="5080" indent="-50800">
              <a:lnSpc>
                <a:spcPts val="3200"/>
              </a:lnSpc>
              <a:spcBef>
                <a:spcPts val="665"/>
              </a:spcBef>
            </a:pPr>
            <a:r>
              <a:rPr dirty="0" sz="3100">
                <a:solidFill>
                  <a:srgbClr val="111111"/>
                </a:solidFill>
                <a:latin typeface="Calibri"/>
                <a:cs typeface="Calibri"/>
              </a:rPr>
              <a:t>Cleaning</a:t>
            </a:r>
            <a:r>
              <a:rPr dirty="0" sz="3100" spc="-4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3100" spc="-90">
                <a:solidFill>
                  <a:srgbClr val="1A1A1A"/>
                </a:solidFill>
                <a:latin typeface="Calibri"/>
                <a:cs typeface="Calibri"/>
              </a:rPr>
              <a:t>&amp; </a:t>
            </a:r>
            <a:r>
              <a:rPr dirty="0" sz="3100" spc="-10">
                <a:solidFill>
                  <a:srgbClr val="131313"/>
                </a:solidFill>
                <a:latin typeface="Calibri"/>
                <a:cs typeface="Calibri"/>
              </a:rPr>
              <a:t>Validation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596068" y="5070475"/>
            <a:ext cx="1581785" cy="908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24130">
              <a:lnSpc>
                <a:spcPts val="3460"/>
              </a:lnSpc>
              <a:spcBef>
                <a:spcPts val="125"/>
              </a:spcBef>
            </a:pPr>
            <a:r>
              <a:rPr dirty="0" sz="3100" spc="80">
                <a:solidFill>
                  <a:srgbClr val="131313"/>
                </a:solidFill>
                <a:latin typeface="Calibri"/>
                <a:cs typeface="Calibri"/>
              </a:rPr>
              <a:t>ETL</a:t>
            </a:r>
            <a:r>
              <a:rPr dirty="0" sz="3100" spc="-12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3100" spc="-50">
                <a:solidFill>
                  <a:srgbClr val="1C1C1C"/>
                </a:solidFill>
                <a:latin typeface="Calibri"/>
                <a:cs typeface="Calibri"/>
              </a:rPr>
              <a:t>&amp;</a:t>
            </a:r>
            <a:endParaRPr sz="3100">
              <a:latin typeface="Calibri"/>
              <a:cs typeface="Calibri"/>
            </a:endParaRPr>
          </a:p>
          <a:p>
            <a:pPr algn="ctr">
              <a:lnSpc>
                <a:spcPts val="3460"/>
              </a:lnSpc>
            </a:pPr>
            <a:r>
              <a:rPr dirty="0" sz="3100" spc="-40">
                <a:solidFill>
                  <a:srgbClr val="0C0C0C"/>
                </a:solidFill>
                <a:latin typeface="Calibri"/>
                <a:cs typeface="Calibri"/>
              </a:rPr>
              <a:t>Modelling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403884" y="5070475"/>
            <a:ext cx="1312545" cy="908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25400">
              <a:lnSpc>
                <a:spcPts val="3460"/>
              </a:lnSpc>
              <a:spcBef>
                <a:spcPts val="125"/>
              </a:spcBef>
            </a:pPr>
            <a:r>
              <a:rPr dirty="0" sz="3100" spc="-25">
                <a:solidFill>
                  <a:srgbClr val="131313"/>
                </a:solidFill>
                <a:latin typeface="Calibri"/>
                <a:cs typeface="Calibri"/>
              </a:rPr>
              <a:t>SQL</a:t>
            </a:r>
            <a:endParaRPr sz="3100">
              <a:latin typeface="Calibri"/>
              <a:cs typeface="Calibri"/>
            </a:endParaRPr>
          </a:p>
          <a:p>
            <a:pPr algn="ctr">
              <a:lnSpc>
                <a:spcPts val="3460"/>
              </a:lnSpc>
            </a:pPr>
            <a:r>
              <a:rPr dirty="0" sz="3100" spc="-10">
                <a:solidFill>
                  <a:srgbClr val="0F0F0F"/>
                </a:solidFill>
                <a:latin typeface="Calibri"/>
                <a:cs typeface="Calibri"/>
              </a:rPr>
              <a:t>Analysis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728177" y="5070475"/>
            <a:ext cx="204279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-10">
                <a:solidFill>
                  <a:srgbClr val="131313"/>
                </a:solidFill>
                <a:latin typeface="Calibri"/>
                <a:cs typeface="Calibri"/>
              </a:rPr>
              <a:t>Visualisation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718245" y="5070475"/>
            <a:ext cx="1414145" cy="90805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70815" marR="5080" indent="-158750">
              <a:lnSpc>
                <a:spcPts val="3200"/>
              </a:lnSpc>
              <a:spcBef>
                <a:spcPts val="665"/>
              </a:spcBef>
            </a:pPr>
            <a:r>
              <a:rPr dirty="0" sz="3100" spc="-30">
                <a:solidFill>
                  <a:srgbClr val="111111"/>
                </a:solidFill>
                <a:latin typeface="Calibri"/>
                <a:cs typeface="Calibri"/>
              </a:rPr>
              <a:t>Strategic </a:t>
            </a:r>
            <a:r>
              <a:rPr dirty="0" sz="3100" spc="-10">
                <a:solidFill>
                  <a:srgbClr val="0A0A0A"/>
                </a:solidFill>
                <a:latin typeface="Calibri"/>
                <a:cs typeface="Calibri"/>
              </a:rPr>
              <a:t>Insight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45968" y="6558844"/>
            <a:ext cx="14748510" cy="244094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 marR="5080" indent="30480">
              <a:lnSpc>
                <a:spcPct val="89500"/>
              </a:lnSpc>
              <a:spcBef>
                <a:spcPts val="645"/>
              </a:spcBef>
              <a:tabLst>
                <a:tab pos="8676640" algn="l"/>
              </a:tabLst>
            </a:pPr>
            <a:r>
              <a:rPr dirty="0" sz="4300" spc="85">
                <a:latin typeface="Calibri"/>
                <a:cs typeface="Calibri"/>
              </a:rPr>
              <a:t>I</a:t>
            </a:r>
            <a:r>
              <a:rPr dirty="0" sz="4300" spc="-315">
                <a:latin typeface="Calibri"/>
                <a:cs typeface="Calibri"/>
              </a:rPr>
              <a:t> </a:t>
            </a:r>
            <a:r>
              <a:rPr dirty="0" sz="4300" spc="-125">
                <a:latin typeface="Calibri"/>
                <a:cs typeface="Calibri"/>
              </a:rPr>
              <a:t>handle</a:t>
            </a:r>
            <a:r>
              <a:rPr dirty="0" sz="4300" spc="-120">
                <a:latin typeface="Calibri"/>
                <a:cs typeface="Calibri"/>
              </a:rPr>
              <a:t> </a:t>
            </a:r>
            <a:r>
              <a:rPr dirty="0" sz="4300" spc="-170">
                <a:latin typeface="Calibri"/>
                <a:cs typeface="Calibri"/>
              </a:rPr>
              <a:t>end-</a:t>
            </a:r>
            <a:r>
              <a:rPr dirty="0" sz="4300" spc="-145">
                <a:latin typeface="Calibri"/>
                <a:cs typeface="Calibri"/>
              </a:rPr>
              <a:t>to-</a:t>
            </a:r>
            <a:r>
              <a:rPr dirty="0" sz="4300" spc="-95">
                <a:latin typeface="Calibri"/>
                <a:cs typeface="Calibri"/>
              </a:rPr>
              <a:t>end</a:t>
            </a:r>
            <a:r>
              <a:rPr dirty="0" sz="4300" spc="-65">
                <a:latin typeface="Calibri"/>
                <a:cs typeface="Calibri"/>
              </a:rPr>
              <a:t> </a:t>
            </a:r>
            <a:r>
              <a:rPr dirty="0" sz="4300" spc="-135">
                <a:latin typeface="Calibri"/>
                <a:cs typeface="Calibri"/>
              </a:rPr>
              <a:t>data</a:t>
            </a:r>
            <a:r>
              <a:rPr dirty="0" sz="4300" spc="-75">
                <a:latin typeface="Calibri"/>
                <a:cs typeface="Calibri"/>
              </a:rPr>
              <a:t> </a:t>
            </a:r>
            <a:r>
              <a:rPr dirty="0" sz="4300" spc="-10">
                <a:latin typeface="Calibri"/>
                <a:cs typeface="Calibri"/>
              </a:rPr>
              <a:t>management</a:t>
            </a:r>
            <a:r>
              <a:rPr dirty="0" sz="4300">
                <a:latin typeface="Calibri"/>
                <a:cs typeface="Calibri"/>
              </a:rPr>
              <a:t>	</a:t>
            </a:r>
            <a:r>
              <a:rPr dirty="0" sz="4300" spc="-225">
                <a:latin typeface="Calibri"/>
                <a:cs typeface="Calibri"/>
              </a:rPr>
              <a:t>from</a:t>
            </a:r>
            <a:r>
              <a:rPr dirty="0" sz="4300" spc="-80">
                <a:latin typeface="Calibri"/>
                <a:cs typeface="Calibri"/>
              </a:rPr>
              <a:t> </a:t>
            </a:r>
            <a:r>
              <a:rPr dirty="0" sz="4300" spc="-114">
                <a:latin typeface="Calibri"/>
                <a:cs typeface="Calibri"/>
              </a:rPr>
              <a:t>receiving</a:t>
            </a:r>
            <a:r>
              <a:rPr dirty="0" sz="4300" spc="10">
                <a:latin typeface="Calibri"/>
                <a:cs typeface="Calibri"/>
              </a:rPr>
              <a:t> </a:t>
            </a:r>
            <a:r>
              <a:rPr dirty="0" sz="4300" spc="-229">
                <a:latin typeface="Calibri"/>
                <a:cs typeface="Calibri"/>
              </a:rPr>
              <a:t>raw</a:t>
            </a:r>
            <a:r>
              <a:rPr dirty="0" sz="4300" spc="-85">
                <a:latin typeface="Calibri"/>
                <a:cs typeface="Calibri"/>
              </a:rPr>
              <a:t> </a:t>
            </a:r>
            <a:r>
              <a:rPr dirty="0" sz="4300" spc="-100">
                <a:latin typeface="Calibri"/>
                <a:cs typeface="Calibri"/>
              </a:rPr>
              <a:t>Excel</a:t>
            </a:r>
            <a:r>
              <a:rPr dirty="0" sz="4300" spc="-155">
                <a:latin typeface="Calibri"/>
                <a:cs typeface="Calibri"/>
              </a:rPr>
              <a:t> </a:t>
            </a:r>
            <a:r>
              <a:rPr dirty="0" sz="4300" spc="-10">
                <a:latin typeface="Calibri"/>
                <a:cs typeface="Calibri"/>
              </a:rPr>
              <a:t>files </a:t>
            </a:r>
            <a:r>
              <a:rPr dirty="0" sz="4300" spc="-75">
                <a:latin typeface="Calibri"/>
                <a:cs typeface="Calibri"/>
              </a:rPr>
              <a:t>via</a:t>
            </a:r>
            <a:r>
              <a:rPr dirty="0" sz="4300" spc="-195">
                <a:latin typeface="Calibri"/>
                <a:cs typeface="Calibri"/>
              </a:rPr>
              <a:t> </a:t>
            </a:r>
            <a:r>
              <a:rPr dirty="0" sz="4300" spc="-110">
                <a:latin typeface="Calibri"/>
                <a:cs typeface="Calibri"/>
              </a:rPr>
              <a:t>email,</a:t>
            </a:r>
            <a:r>
              <a:rPr dirty="0" sz="4300" spc="-135">
                <a:latin typeface="Calibri"/>
                <a:cs typeface="Calibri"/>
              </a:rPr>
              <a:t> </a:t>
            </a:r>
            <a:r>
              <a:rPr dirty="0" sz="4300" spc="-95">
                <a:latin typeface="Calibri"/>
                <a:cs typeface="Calibri"/>
              </a:rPr>
              <a:t>validating</a:t>
            </a:r>
            <a:r>
              <a:rPr dirty="0" sz="4300" spc="-130">
                <a:latin typeface="Calibri"/>
                <a:cs typeface="Calibri"/>
              </a:rPr>
              <a:t> </a:t>
            </a:r>
            <a:r>
              <a:rPr dirty="0" sz="4300" spc="-145">
                <a:latin typeface="Calibri"/>
                <a:cs typeface="Calibri"/>
              </a:rPr>
              <a:t>and</a:t>
            </a:r>
            <a:r>
              <a:rPr dirty="0" sz="4300" spc="-125">
                <a:latin typeface="Calibri"/>
                <a:cs typeface="Calibri"/>
              </a:rPr>
              <a:t> </a:t>
            </a:r>
            <a:r>
              <a:rPr dirty="0" sz="4300" spc="-95">
                <a:latin typeface="Calibri"/>
                <a:cs typeface="Calibri"/>
              </a:rPr>
              <a:t>cleaning</a:t>
            </a:r>
            <a:r>
              <a:rPr dirty="0" sz="4300" spc="10">
                <a:latin typeface="Calibri"/>
                <a:cs typeface="Calibri"/>
              </a:rPr>
              <a:t> </a:t>
            </a:r>
            <a:r>
              <a:rPr dirty="0" sz="4300" spc="-135">
                <a:latin typeface="Calibri"/>
                <a:cs typeface="Calibri"/>
              </a:rPr>
              <a:t>data,</a:t>
            </a:r>
            <a:r>
              <a:rPr dirty="0" sz="4300" spc="-165">
                <a:latin typeface="Calibri"/>
                <a:cs typeface="Calibri"/>
              </a:rPr>
              <a:t> </a:t>
            </a:r>
            <a:r>
              <a:rPr dirty="0" sz="4300" spc="-140">
                <a:latin typeface="Calibri"/>
                <a:cs typeface="Calibri"/>
              </a:rPr>
              <a:t>performing</a:t>
            </a:r>
            <a:r>
              <a:rPr dirty="0" sz="4300" spc="-60">
                <a:latin typeface="Calibri"/>
                <a:cs typeface="Calibri"/>
              </a:rPr>
              <a:t> </a:t>
            </a:r>
            <a:r>
              <a:rPr dirty="0" sz="4300" spc="-10">
                <a:latin typeface="Calibri"/>
                <a:cs typeface="Calibri"/>
              </a:rPr>
              <a:t>ETL,</a:t>
            </a:r>
            <a:r>
              <a:rPr dirty="0" sz="4300" spc="-140">
                <a:latin typeface="Calibri"/>
                <a:cs typeface="Calibri"/>
              </a:rPr>
              <a:t> </a:t>
            </a:r>
            <a:r>
              <a:rPr dirty="0" sz="4300" spc="-45">
                <a:latin typeface="Calibri"/>
                <a:cs typeface="Calibri"/>
              </a:rPr>
              <a:t>integrating </a:t>
            </a:r>
            <a:r>
              <a:rPr dirty="0" sz="4300" spc="-120">
                <a:latin typeface="Calibri"/>
                <a:cs typeface="Calibri"/>
              </a:rPr>
              <a:t>data</a:t>
            </a:r>
            <a:r>
              <a:rPr dirty="0" sz="4300" spc="-125">
                <a:latin typeface="Calibri"/>
                <a:cs typeface="Calibri"/>
              </a:rPr>
              <a:t> </a:t>
            </a:r>
            <a:r>
              <a:rPr dirty="0" sz="4300" spc="-100">
                <a:latin typeface="Calibri"/>
                <a:cs typeface="Calibri"/>
              </a:rPr>
              <a:t>into</a:t>
            </a:r>
            <a:r>
              <a:rPr dirty="0" sz="4300" spc="-145">
                <a:latin typeface="Calibri"/>
                <a:cs typeface="Calibri"/>
              </a:rPr>
              <a:t> </a:t>
            </a:r>
            <a:r>
              <a:rPr dirty="0" sz="4300" spc="-45">
                <a:latin typeface="Calibri"/>
                <a:cs typeface="Calibri"/>
              </a:rPr>
              <a:t>SQL</a:t>
            </a:r>
            <a:r>
              <a:rPr dirty="0" sz="4300" spc="-200">
                <a:latin typeface="Calibri"/>
                <a:cs typeface="Calibri"/>
              </a:rPr>
              <a:t> </a:t>
            </a:r>
            <a:r>
              <a:rPr dirty="0" sz="4300" spc="-100">
                <a:latin typeface="Calibri"/>
                <a:cs typeface="Calibri"/>
              </a:rPr>
              <a:t>databases,</a:t>
            </a:r>
            <a:r>
              <a:rPr dirty="0" sz="4300" spc="-140">
                <a:latin typeface="Calibri"/>
                <a:cs typeface="Calibri"/>
              </a:rPr>
              <a:t> </a:t>
            </a:r>
            <a:r>
              <a:rPr dirty="0" sz="4300" spc="-85">
                <a:latin typeface="Calibri"/>
                <a:cs typeface="Calibri"/>
              </a:rPr>
              <a:t>running</a:t>
            </a:r>
            <a:r>
              <a:rPr dirty="0" sz="4300" spc="-160">
                <a:latin typeface="Calibri"/>
                <a:cs typeface="Calibri"/>
              </a:rPr>
              <a:t> </a:t>
            </a:r>
            <a:r>
              <a:rPr dirty="0" sz="4300" spc="-65">
                <a:latin typeface="Calibri"/>
                <a:cs typeface="Calibri"/>
              </a:rPr>
              <a:t>analysis</a:t>
            </a:r>
            <a:r>
              <a:rPr dirty="0" sz="4300" spc="10">
                <a:latin typeface="Calibri"/>
                <a:cs typeface="Calibri"/>
              </a:rPr>
              <a:t> </a:t>
            </a:r>
            <a:r>
              <a:rPr dirty="0" sz="4300" spc="-105">
                <a:latin typeface="Calibri"/>
                <a:cs typeface="Calibri"/>
              </a:rPr>
              <a:t>queries,</a:t>
            </a:r>
            <a:r>
              <a:rPr dirty="0" sz="4300" spc="5">
                <a:latin typeface="Calibri"/>
                <a:cs typeface="Calibri"/>
              </a:rPr>
              <a:t> </a:t>
            </a:r>
            <a:r>
              <a:rPr dirty="0" sz="4300" spc="-114">
                <a:latin typeface="Calibri"/>
                <a:cs typeface="Calibri"/>
              </a:rPr>
              <a:t>creating</a:t>
            </a:r>
            <a:r>
              <a:rPr dirty="0" sz="4300" spc="-130">
                <a:latin typeface="Calibri"/>
                <a:cs typeface="Calibri"/>
              </a:rPr>
              <a:t> </a:t>
            </a:r>
            <a:r>
              <a:rPr dirty="0" sz="4300" spc="-10">
                <a:latin typeface="Calibri"/>
                <a:cs typeface="Calibri"/>
              </a:rPr>
              <a:t>Excel </a:t>
            </a:r>
            <a:r>
              <a:rPr dirty="0" sz="4300" spc="-120">
                <a:latin typeface="Calibri"/>
                <a:cs typeface="Calibri"/>
              </a:rPr>
              <a:t>dashboards,</a:t>
            </a:r>
            <a:r>
              <a:rPr dirty="0" sz="4300" spc="-55">
                <a:latin typeface="Calibri"/>
                <a:cs typeface="Calibri"/>
              </a:rPr>
              <a:t> </a:t>
            </a:r>
            <a:r>
              <a:rPr dirty="0" sz="4300" spc="-140">
                <a:latin typeface="Calibri"/>
                <a:cs typeface="Calibri"/>
              </a:rPr>
              <a:t>and</a:t>
            </a:r>
            <a:r>
              <a:rPr dirty="0" sz="4300" spc="-105">
                <a:latin typeface="Calibri"/>
                <a:cs typeface="Calibri"/>
              </a:rPr>
              <a:t> </a:t>
            </a:r>
            <a:r>
              <a:rPr dirty="0" sz="4300" spc="-85">
                <a:latin typeface="Calibri"/>
                <a:cs typeface="Calibri"/>
              </a:rPr>
              <a:t>finally</a:t>
            </a:r>
            <a:r>
              <a:rPr dirty="0" sz="4300" spc="-145">
                <a:latin typeface="Calibri"/>
                <a:cs typeface="Calibri"/>
              </a:rPr>
              <a:t> </a:t>
            </a:r>
            <a:r>
              <a:rPr dirty="0" sz="4300" spc="-120">
                <a:latin typeface="Calibri"/>
                <a:cs typeface="Calibri"/>
              </a:rPr>
              <a:t>sharing</a:t>
            </a:r>
            <a:r>
              <a:rPr dirty="0" sz="4300" spc="-85">
                <a:latin typeface="Calibri"/>
                <a:cs typeface="Calibri"/>
              </a:rPr>
              <a:t> </a:t>
            </a:r>
            <a:r>
              <a:rPr dirty="0" sz="4300" spc="-100">
                <a:latin typeface="Calibri"/>
                <a:cs typeface="Calibri"/>
              </a:rPr>
              <a:t>actionable</a:t>
            </a:r>
            <a:r>
              <a:rPr dirty="0" sz="4300" spc="-35">
                <a:latin typeface="Calibri"/>
                <a:cs typeface="Calibri"/>
              </a:rPr>
              <a:t> </a:t>
            </a:r>
            <a:r>
              <a:rPr dirty="0" sz="4300" spc="-100">
                <a:latin typeface="Calibri"/>
                <a:cs typeface="Calibri"/>
              </a:rPr>
              <a:t>insights</a:t>
            </a:r>
            <a:r>
              <a:rPr dirty="0" sz="4300" spc="-145">
                <a:latin typeface="Calibri"/>
                <a:cs typeface="Calibri"/>
              </a:rPr>
              <a:t> </a:t>
            </a:r>
            <a:r>
              <a:rPr dirty="0" sz="4300" spc="-165">
                <a:latin typeface="Calibri"/>
                <a:cs typeface="Calibri"/>
              </a:rPr>
              <a:t>with</a:t>
            </a:r>
            <a:r>
              <a:rPr dirty="0" sz="4300" spc="-75">
                <a:latin typeface="Calibri"/>
                <a:cs typeface="Calibri"/>
              </a:rPr>
              <a:t> </a:t>
            </a:r>
            <a:r>
              <a:rPr dirty="0" sz="4300" spc="-10">
                <a:latin typeface="Calibri"/>
                <a:cs typeface="Calibri"/>
              </a:rPr>
              <a:t>stakeholders.</a:t>
            </a:r>
            <a:r>
              <a:rPr dirty="0" sz="4300" spc="-10">
                <a:solidFill>
                  <a:srgbClr val="AE8A52"/>
                </a:solidFill>
                <a:latin typeface="Calibri"/>
                <a:cs typeface="Calibri"/>
              </a:rPr>
              <a:t>'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2026-01-15T05:50:09Z</dcterms:created>
  <dcterms:modified xsi:type="dcterms:W3CDTF">2026-01-15T05:50:09Z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2026-01-15T00:00:00Z</vt:filetime>
  </property>
  <property fmtid="{D5CDD505-2E9C-101B-9397-08002B2CF9AE}" pid="3" name="LastSaved">
    <vt:filetime>2026-01-15T00:00:00Z</vt:filetime>
  </property>
</Properties>
</file>